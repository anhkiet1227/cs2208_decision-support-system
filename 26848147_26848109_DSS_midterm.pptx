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12192000"/>
  <p:notesSz cx="6858000" cy="9144000"/>
  <p:embeddedFontLst>
    <p:embeddedFont>
      <p:font typeface="Roboto Slab"/>
      <p:bold r:id="rId35"/>
    </p:embeddedFont>
    <p:embeddedFont>
      <p:font typeface="Roboto"/>
      <p:bold r:id="rId36"/>
      <p:boldItalic r:id="rId37"/>
    </p:embeddedFont>
    <p:embeddedFont>
      <p:font typeface="Roboto Slab SemiBold"/>
      <p:regular r:id="rId38"/>
      <p:bold r:id="rId39"/>
    </p:embeddedFont>
    <p:embeddedFont>
      <p:font typeface="Merriweather"/>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hQJJN7JDyIPjrj4ep5YGBTdtAB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005C6F8-0E9F-4D0F-8A03-0A1289535377}">
  <a:tblStyle styleId="{2005C6F8-0E9F-4D0F-8A03-0A128953537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Merriweather-regular.fntdata"/><Relationship Id="rId20" Type="http://schemas.openxmlformats.org/officeDocument/2006/relationships/slide" Target="slides/slide15.xml"/><Relationship Id="rId42" Type="http://schemas.openxmlformats.org/officeDocument/2006/relationships/font" Target="fonts/Merriweather-italic.fntdata"/><Relationship Id="rId41" Type="http://schemas.openxmlformats.org/officeDocument/2006/relationships/font" Target="fonts/Merriweather-bold.fntdata"/><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Merriweather-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Slab-bold.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boldItalic.fntdata"/><Relationship Id="rId14" Type="http://schemas.openxmlformats.org/officeDocument/2006/relationships/slide" Target="slides/slide9.xml"/><Relationship Id="rId36" Type="http://schemas.openxmlformats.org/officeDocument/2006/relationships/font" Target="fonts/Roboto-bold.fntdata"/><Relationship Id="rId17" Type="http://schemas.openxmlformats.org/officeDocument/2006/relationships/slide" Target="slides/slide12.xml"/><Relationship Id="rId39" Type="http://schemas.openxmlformats.org/officeDocument/2006/relationships/font" Target="fonts/RobotoSlabSemiBold-bold.fntdata"/><Relationship Id="rId16" Type="http://schemas.openxmlformats.org/officeDocument/2006/relationships/slide" Target="slides/slide11.xml"/><Relationship Id="rId38" Type="http://schemas.openxmlformats.org/officeDocument/2006/relationships/font" Target="fonts/RobotoSlabSemiBold-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a:p>
            <a:pPr indent="0" lvl="0" marL="0" rtl="0" algn="l">
              <a:spcBef>
                <a:spcPts val="0"/>
              </a:spcBef>
              <a:spcAft>
                <a:spcPts val="0"/>
              </a:spcAft>
              <a:buNone/>
            </a:pPr>
            <a:r>
              <a:rPr lang="en-US" sz="1200"/>
              <a:t>Bố cục bìa sử dụng hình nền và thông tin từ Newtemplate.pptx. Tên học viên và ngày trình bày lấy từ file báo cáo tham chiếu và ngày hiện tại của phiên làm việc.</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34" name="Google Shape;3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83" name="Google Shape;8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bd3ed65c2_0_6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g3fbd3ed65c2_0_6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128" name="Google Shape;128;g3fbd3ed65c2_0_6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bd3ed65c2_0_1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g3fbd3ed65c2_0_1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168" name="Google Shape;168;g3fbd3ed65c2_0_1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bd3ed65c2_0_2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g3fbd3ed65c2_0_2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205" name="Google Shape;205;g3fbd3ed65c2_0_2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bd3ed65c2_0_1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g3fbd3ed65c2_0_1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245" name="Google Shape;245;g3fbd3ed65c2_0_17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284" name="Google Shape;28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fbd3ed65c2_0_6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g3fbd3ed65c2_0_6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340" name="Google Shape;340;g3fbd3ed65c2_0_6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fbd3ed65c2_0_2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g3fbd3ed65c2_0_2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443" name="Google Shape;443;g3fbd3ed65c2_0_26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fbd3ed65c2_0_5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g3fbd3ed65c2_0_5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477" name="Google Shape;477;g3fbd3ed65c2_0_5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fbd3ed65c2_0_5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 name="Google Shape;507;g3fbd3ed65c2_0_5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508" name="Google Shape;508;g3fbd3ed65c2_0_54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fbd3ed65c2_0_59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 name="Google Shape;542;g3fbd3ed65c2_0_59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543" name="Google Shape;543;g3fbd3ed65c2_0_59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8" name="Google Shape;58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589" name="Google Shape;589;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6" name="Google Shape;616;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a:p>
            <a:pPr indent="0" lvl="0" marL="0" rtl="0" algn="l">
              <a:spcBef>
                <a:spcPts val="0"/>
              </a:spcBef>
              <a:spcAft>
                <a:spcPts val="0"/>
              </a:spcAft>
              <a:buNone/>
            </a:pPr>
            <a:r>
              <a:rPr lang="en-US" sz="1200"/>
              <a:t>Các giá trị trong bảng lấy từ phần kết quả theo năm của bài báo và bảng so sánh trong file báo cáo tham chiếu.</a:t>
            </a:r>
            <a:endParaRPr/>
          </a:p>
        </p:txBody>
      </p:sp>
      <p:sp>
        <p:nvSpPr>
          <p:cNvPr id="617" name="Google Shape;617;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6" name="Google Shape;64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647" name="Google Shape;64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h51ca6e53a632996d_0_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3" name="Google Shape;673;h51ca6e53a632996d_0_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674" name="Google Shape;674;h51ca6e53a632996d_0_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h51ca6e53a632996d_0_9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0" name="Google Shape;700;h51ca6e53a632996d_0_9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701" name="Google Shape;701;h51ca6e53a632996d_0_9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h51ca6e53a632996d_0_1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7" name="Google Shape;727;h51ca6e53a632996d_0_1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728" name="Google Shape;728;h51ca6e53a632996d_0_1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ha90ac7004f693ea_0_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6" name="Google Shape;756;ha90ac7004f693ea_0_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757" name="Google Shape;757;ha90ac7004f693ea_0_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5" name="Google Shape;785;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786" name="Google Shape;786;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h51ca6e53a632996d_0_2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9" name="Google Shape;819;h51ca6e53a632996d_0_2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820" name="Google Shape;820;h51ca6e53a632996d_0_2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ha90ac7004f693ea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8" name="Google Shape;848;ha90ac7004f693ea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849" name="Google Shape;849;ha90ac7004f693ea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ha90ac7004f693ea_0_5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7" name="Google Shape;877;ha90ac7004f693ea_0_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878" name="Google Shape;878;ha90ac7004f693ea_0_5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ha90ac7004f693ea_0_9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6" name="Google Shape;906;ha90ac7004f693ea_0_9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907" name="Google Shape;907;ha90ac7004f693ea_0_9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ha90ac7004f693ea_0_1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5" name="Google Shape;935;ha90ac7004f693ea_0_1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936" name="Google Shape;936;ha90ac7004f693ea_0_1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ha90ac7004f693ea_0_1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4" name="Google Shape;964;ha90ac7004f693ea_0_1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p:txBody>
      </p:sp>
      <p:sp>
        <p:nvSpPr>
          <p:cNvPr id="965" name="Google Shape;965;ha90ac7004f693ea_0_15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h51ca6e53a632996d_0_17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3" name="Google Shape;993;h51ca6e53a632996d_0_17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a:p>
            <a:pPr indent="0" lvl="0" marL="0" rtl="0" algn="l">
              <a:spcBef>
                <a:spcPts val="0"/>
              </a:spcBef>
              <a:spcAft>
                <a:spcPts val="0"/>
              </a:spcAft>
              <a:buNone/>
            </a:pPr>
            <a:r>
              <a:rPr lang="en-US" sz="1200"/>
              <a:t>Bố cục bìa sử dụng hình nền và thông tin từ Newtemplate.pptx. Tên học viên và ngày trình bày lấy từ file báo cáo tham chiếu và ngày hiện tại của phiên làm việc.</a:t>
            </a:r>
            <a:endParaRPr/>
          </a:p>
        </p:txBody>
      </p:sp>
      <p:sp>
        <p:nvSpPr>
          <p:cNvPr id="994" name="Google Shape;994;h51ca6e53a632996d_0_17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0" name="Google Shape;1000;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Nguồn: Alugubelly, Polepalli, Gade &amp; Ninomiya (2019), Analysis of similar weather conditions to improve reuse in weather-based decision support systems, Computers and Electronics in Agriculture 157, 154–165. DOI: 10.1016/j.compag.2018.12.010.</a:t>
            </a:r>
            <a:endParaRPr/>
          </a:p>
          <a:p>
            <a:pPr indent="0" lvl="0" marL="0" rtl="0" algn="l">
              <a:spcBef>
                <a:spcPts val="0"/>
              </a:spcBef>
              <a:spcAft>
                <a:spcPts val="0"/>
              </a:spcAft>
              <a:buNone/>
            </a:pPr>
            <a:r>
              <a:rPr lang="en-US" sz="1200"/>
              <a:t>Phân công và tên thành viên lấy từ file báo cáo cao học tham chiếu. Có thể thay các dòng Thành viên 3 và Thành viên 4 bằng tên thật của nhóm.</a:t>
            </a:r>
            <a:endParaRPr/>
          </a:p>
        </p:txBody>
      </p:sp>
      <p:sp>
        <p:nvSpPr>
          <p:cNvPr id="1001" name="Google Shape;1001;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id="16" name="Google Shape;16;p1"/>
          <p:cNvPicPr preferRelativeResize="0"/>
          <p:nvPr/>
        </p:nvPicPr>
        <p:blipFill rotWithShape="1">
          <a:blip r:embed="rId3">
            <a:alphaModFix/>
          </a:blip>
          <a:srcRect b="7805" l="0" r="0" t="7805"/>
          <a:stretch/>
        </p:blipFill>
        <p:spPr>
          <a:xfrm>
            <a:off x="0" y="0"/>
            <a:ext cx="12192000" cy="6858000"/>
          </a:xfrm>
          <a:prstGeom prst="rect">
            <a:avLst/>
          </a:prstGeom>
          <a:noFill/>
          <a:ln>
            <a:noFill/>
          </a:ln>
        </p:spPr>
      </p:pic>
      <p:sp>
        <p:nvSpPr>
          <p:cNvPr id="17" name="Google Shape;17;p1"/>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2381250" y="161925"/>
            <a:ext cx="7429500" cy="3619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2250">
                <a:solidFill>
                  <a:srgbClr val="1478D4"/>
                </a:solidFill>
                <a:latin typeface="Arial"/>
                <a:ea typeface="Arial"/>
                <a:cs typeface="Arial"/>
                <a:sym typeface="Arial"/>
              </a:rPr>
              <a:t>ĐẠI HỌC QUỐC GIA TP. HỒ CHÍ MINH</a:t>
            </a:r>
            <a:endParaRPr/>
          </a:p>
        </p:txBody>
      </p:sp>
      <p:sp>
        <p:nvSpPr>
          <p:cNvPr id="19" name="Google Shape;19;p1"/>
          <p:cNvSpPr/>
          <p:nvPr/>
        </p:nvSpPr>
        <p:spPr>
          <a:xfrm>
            <a:off x="2000250" y="552450"/>
            <a:ext cx="8191500" cy="4000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325">
                <a:solidFill>
                  <a:srgbClr val="1478D4"/>
                </a:solidFill>
                <a:latin typeface="Arial"/>
                <a:ea typeface="Arial"/>
                <a:cs typeface="Arial"/>
                <a:sym typeface="Arial"/>
              </a:rPr>
              <a:t>TRƯỜNG ĐẠI HỌC CÔNG NGHỆ THÔNG TIN</a:t>
            </a:r>
            <a:endParaRPr/>
          </a:p>
        </p:txBody>
      </p:sp>
      <p:sp>
        <p:nvSpPr>
          <p:cNvPr id="20" name="Google Shape;20;p1"/>
          <p:cNvSpPr/>
          <p:nvPr/>
        </p:nvSpPr>
        <p:spPr>
          <a:xfrm>
            <a:off x="2286000" y="990600"/>
            <a:ext cx="7620000" cy="4000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325">
                <a:solidFill>
                  <a:srgbClr val="1478D4"/>
                </a:solidFill>
                <a:latin typeface="Arial"/>
                <a:ea typeface="Arial"/>
                <a:cs typeface="Arial"/>
                <a:sym typeface="Arial"/>
              </a:rPr>
              <a:t>LỚP CAO HỌC KHOA HỌC MÁY TÍNH</a:t>
            </a:r>
            <a:endParaRPr/>
          </a:p>
        </p:txBody>
      </p:sp>
      <p:sp>
        <p:nvSpPr>
          <p:cNvPr id="21" name="Google Shape;21;p1"/>
          <p:cNvSpPr/>
          <p:nvPr/>
        </p:nvSpPr>
        <p:spPr>
          <a:xfrm>
            <a:off x="4114800" y="1657350"/>
            <a:ext cx="3981450" cy="19050"/>
          </a:xfrm>
          <a:prstGeom prst="rect">
            <a:avLst/>
          </a:prstGeom>
          <a:solidFill>
            <a:srgbClr val="C4DC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3048000" y="2047875"/>
            <a:ext cx="60960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475">
                <a:solidFill>
                  <a:srgbClr val="292929"/>
                </a:solidFill>
                <a:latin typeface="Arial"/>
                <a:ea typeface="Arial"/>
                <a:cs typeface="Arial"/>
                <a:sym typeface="Arial"/>
              </a:rPr>
              <a:t>Môn học: HỆ HỖ TRỢ QUYẾT ĐỊNH</a:t>
            </a:r>
            <a:endParaRPr sz="1700"/>
          </a:p>
        </p:txBody>
      </p:sp>
      <p:sp>
        <p:nvSpPr>
          <p:cNvPr id="23" name="Google Shape;23;p1"/>
          <p:cNvSpPr/>
          <p:nvPr/>
        </p:nvSpPr>
        <p:spPr>
          <a:xfrm>
            <a:off x="400050" y="2724150"/>
            <a:ext cx="11334750" cy="6286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875">
                <a:solidFill>
                  <a:srgbClr val="0B2A47"/>
                </a:solidFill>
                <a:latin typeface="Arial"/>
                <a:ea typeface="Arial"/>
                <a:cs typeface="Arial"/>
                <a:sym typeface="Arial"/>
              </a:rPr>
              <a:t>Đề tài: Analysis of similar weather conditions to improve reuse in weather-based decision support systems</a:t>
            </a:r>
            <a:endParaRPr sz="2100"/>
          </a:p>
        </p:txBody>
      </p:sp>
      <p:sp>
        <p:nvSpPr>
          <p:cNvPr id="24" name="Google Shape;24;p1"/>
          <p:cNvSpPr/>
          <p:nvPr/>
        </p:nvSpPr>
        <p:spPr>
          <a:xfrm>
            <a:off x="390525" y="3829050"/>
            <a:ext cx="11430000" cy="552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2400">
                <a:solidFill>
                  <a:srgbClr val="1F603A"/>
                </a:solidFill>
                <a:latin typeface="Arial"/>
                <a:ea typeface="Arial"/>
                <a:cs typeface="Arial"/>
                <a:sym typeface="Arial"/>
              </a:rPr>
              <a:t>Phân tích điều kiện thời tiết tương đồng nhằm nâng cao khả năng tái sử dụng trong hệ hỗ trợ ra quyết định nông nghiệp</a:t>
            </a:r>
            <a:endParaRPr sz="2000"/>
          </a:p>
        </p:txBody>
      </p:sp>
      <p:sp>
        <p:nvSpPr>
          <p:cNvPr id="25" name="Google Shape;25;p1"/>
          <p:cNvSpPr/>
          <p:nvPr/>
        </p:nvSpPr>
        <p:spPr>
          <a:xfrm>
            <a:off x="2524125" y="4767289"/>
            <a:ext cx="7177200" cy="75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200">
                <a:solidFill>
                  <a:srgbClr val="D9282F"/>
                </a:solidFill>
                <a:latin typeface="Arial"/>
                <a:ea typeface="Arial"/>
                <a:cs typeface="Arial"/>
                <a:sym typeface="Arial"/>
              </a:rPr>
              <a:t>Học viên: </a:t>
            </a:r>
            <a:r>
              <a:rPr b="1" lang="en-US" sz="2200">
                <a:solidFill>
                  <a:srgbClr val="D9282F"/>
                </a:solidFill>
              </a:rPr>
              <a:t>Nguyễn Phan Thảo Nguyên - 26848147 </a:t>
            </a:r>
            <a:endParaRPr b="1" sz="2200">
              <a:solidFill>
                <a:srgbClr val="D9282F"/>
              </a:solidFill>
            </a:endParaRPr>
          </a:p>
          <a:p>
            <a:pPr indent="457200" lvl="0" marL="1828800" marR="0" rtl="0" algn="l">
              <a:spcBef>
                <a:spcPts val="0"/>
              </a:spcBef>
              <a:spcAft>
                <a:spcPts val="0"/>
              </a:spcAft>
              <a:buNone/>
            </a:pPr>
            <a:r>
              <a:rPr b="1" i="0" lang="en-US" sz="2200">
                <a:solidFill>
                  <a:srgbClr val="D9282F"/>
                </a:solidFill>
                <a:latin typeface="Arial"/>
                <a:ea typeface="Arial"/>
                <a:cs typeface="Arial"/>
                <a:sym typeface="Arial"/>
              </a:rPr>
              <a:t>Võ Anh Kiệt - </a:t>
            </a:r>
            <a:r>
              <a:rPr b="1" lang="en-US" sz="2200">
                <a:solidFill>
                  <a:srgbClr val="D9282F"/>
                </a:solidFill>
              </a:rPr>
              <a:t>26848109</a:t>
            </a:r>
            <a:endParaRPr sz="1500"/>
          </a:p>
        </p:txBody>
      </p:sp>
      <p:sp>
        <p:nvSpPr>
          <p:cNvPr id="26" name="Google Shape;26;p1"/>
          <p:cNvSpPr/>
          <p:nvPr/>
        </p:nvSpPr>
        <p:spPr>
          <a:xfrm>
            <a:off x="4162425" y="5696238"/>
            <a:ext cx="38100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875">
                <a:solidFill>
                  <a:srgbClr val="D9282F"/>
                </a:solidFill>
                <a:latin typeface="Arial"/>
                <a:ea typeface="Arial"/>
                <a:cs typeface="Arial"/>
                <a:sym typeface="Arial"/>
              </a:rPr>
              <a:t>Ngày trình bày: 13/09/2026</a:t>
            </a:r>
            <a:endParaRPr/>
          </a:p>
        </p:txBody>
      </p:sp>
      <p:sp>
        <p:nvSpPr>
          <p:cNvPr id="27" name="Google Shape;27;p1"/>
          <p:cNvSpPr/>
          <p:nvPr/>
        </p:nvSpPr>
        <p:spPr>
          <a:xfrm>
            <a:off x="0" y="6210300"/>
            <a:ext cx="12192000" cy="647700"/>
          </a:xfrm>
          <a:prstGeom prst="rect">
            <a:avLst/>
          </a:prstGeom>
          <a:solidFill>
            <a:srgbClr val="087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1571625" y="6276975"/>
            <a:ext cx="9048750"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275">
                <a:solidFill>
                  <a:srgbClr val="FFFFFF"/>
                </a:solidFill>
                <a:latin typeface="Arial"/>
                <a:ea typeface="Arial"/>
                <a:cs typeface="Arial"/>
                <a:sym typeface="Arial"/>
              </a:rPr>
              <a:t>KHU PHỐ 6, PHƯỜNG LINH TRUNG, TP. THỦ ĐỨC, TP. HỒ CHÍ MINH, VIỆT NAM</a:t>
            </a:r>
            <a:endParaRPr/>
          </a:p>
        </p:txBody>
      </p:sp>
      <p:sp>
        <p:nvSpPr>
          <p:cNvPr id="29" name="Google Shape;29;p1"/>
          <p:cNvSpPr/>
          <p:nvPr/>
        </p:nvSpPr>
        <p:spPr>
          <a:xfrm>
            <a:off x="2095500" y="6543675"/>
            <a:ext cx="8001000" cy="190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125">
                <a:solidFill>
                  <a:srgbClr val="FFFFFF"/>
                </a:solidFill>
                <a:latin typeface="Arial"/>
                <a:ea typeface="Arial"/>
                <a:cs typeface="Arial"/>
                <a:sym typeface="Arial"/>
              </a:rPr>
              <a:t>+84-8 3725 2001   |   +84-8 3725 2148   |   www.uit.edu.vn   |   info@uit.edu.vn</a:t>
            </a:r>
            <a:endParaRPr/>
          </a:p>
        </p:txBody>
      </p:sp>
      <p:sp>
        <p:nvSpPr>
          <p:cNvPr id="30" name="Google Shape;30;p1"/>
          <p:cNvSpPr/>
          <p:nvPr/>
        </p:nvSpPr>
        <p:spPr>
          <a:xfrm>
            <a:off x="11572875" y="6534150"/>
            <a:ext cx="28575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125">
                <a:solidFill>
                  <a:srgbClr val="FFFFFF"/>
                </a:solidFill>
                <a:latin typeface="Arial"/>
                <a:ea typeface="Arial"/>
                <a:cs typeface="Arial"/>
                <a:sym typeface="Arial"/>
              </a:rPr>
              <a:t>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35" name="Shape 35"/>
        <p:cNvGrpSpPr/>
        <p:nvPr/>
      </p:nvGrpSpPr>
      <p:grpSpPr>
        <a:xfrm>
          <a:off x="0" y="0"/>
          <a:ext cx="0" cy="0"/>
          <a:chOff x="0" y="0"/>
          <a:chExt cx="0" cy="0"/>
        </a:xfrm>
      </p:grpSpPr>
      <p:sp>
        <p:nvSpPr>
          <p:cNvPr id="36" name="Google Shape;36;p2"/>
          <p:cNvSpPr/>
          <p:nvPr/>
        </p:nvSpPr>
        <p:spPr>
          <a:xfrm>
            <a:off x="0" y="0"/>
            <a:ext cx="12192000" cy="66675"/>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0" y="66675"/>
            <a:ext cx="12192000" cy="47625"/>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0" y="0"/>
            <a:ext cx="85725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 name="Google Shape;39;p2"/>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40" name="Google Shape;40;p2"/>
          <p:cNvSpPr/>
          <p:nvPr/>
        </p:nvSpPr>
        <p:spPr>
          <a:xfrm>
            <a:off x="409575" y="952500"/>
            <a:ext cx="19050" cy="59055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6675" y="1962150"/>
            <a:ext cx="714375" cy="2476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42" name="Google Shape;42;p2"/>
          <p:cNvSpPr/>
          <p:nvPr/>
        </p:nvSpPr>
        <p:spPr>
          <a:xfrm>
            <a:off x="114300" y="3476625"/>
            <a:ext cx="628650" cy="295275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171450" y="35909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44" name="Google Shape;44;p2"/>
          <p:cNvSpPr/>
          <p:nvPr/>
        </p:nvSpPr>
        <p:spPr>
          <a:xfrm>
            <a:off x="171450" y="40576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45" name="Google Shape;45;p2"/>
          <p:cNvSpPr/>
          <p:nvPr/>
        </p:nvSpPr>
        <p:spPr>
          <a:xfrm>
            <a:off x="171450" y="452437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46" name="Google Shape;46;p2"/>
          <p:cNvSpPr/>
          <p:nvPr/>
        </p:nvSpPr>
        <p:spPr>
          <a:xfrm>
            <a:off x="171450" y="499110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47" name="Google Shape;47;p2"/>
          <p:cNvSpPr/>
          <p:nvPr/>
        </p:nvSpPr>
        <p:spPr>
          <a:xfrm>
            <a:off x="171450" y="54578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48" name="Google Shape;48;p2"/>
          <p:cNvSpPr/>
          <p:nvPr/>
        </p:nvSpPr>
        <p:spPr>
          <a:xfrm>
            <a:off x="171450" y="59245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49" name="Google Shape;49;p2"/>
          <p:cNvSpPr/>
          <p:nvPr/>
        </p:nvSpPr>
        <p:spPr>
          <a:xfrm>
            <a:off x="1123950" y="6467475"/>
            <a:ext cx="10648950"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1143000" y="6553200"/>
            <a:ext cx="609600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51" name="Google Shape;51;p2"/>
          <p:cNvSpPr/>
          <p:nvPr/>
        </p:nvSpPr>
        <p:spPr>
          <a:xfrm>
            <a:off x="7810500" y="6553200"/>
            <a:ext cx="285750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52" name="Google Shape;52;p2"/>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2</a:t>
            </a:r>
            <a:endParaRPr/>
          </a:p>
        </p:txBody>
      </p:sp>
      <p:sp>
        <p:nvSpPr>
          <p:cNvPr id="53" name="Google Shape;53;p2"/>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550">
                <a:solidFill>
                  <a:srgbClr val="1F603A"/>
                </a:solidFill>
                <a:latin typeface="Arial"/>
                <a:ea typeface="Arial"/>
                <a:cs typeface="Arial"/>
                <a:sym typeface="Arial"/>
              </a:rPr>
              <a:t>MỤC LỤC BÁO CÁO</a:t>
            </a:r>
            <a:endParaRPr/>
          </a:p>
        </p:txBody>
      </p:sp>
      <p:sp>
        <p:nvSpPr>
          <p:cNvPr id="54" name="Google Shape;54;p2"/>
          <p:cNvSpPr/>
          <p:nvPr/>
        </p:nvSpPr>
        <p:spPr>
          <a:xfrm>
            <a:off x="9620250" y="371475"/>
            <a:ext cx="200025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6 PHẦN KHOA HỌC</a:t>
            </a:r>
            <a:endParaRPr/>
          </a:p>
        </p:txBody>
      </p:sp>
      <p:sp>
        <p:nvSpPr>
          <p:cNvPr id="55" name="Google Shape;55;p2"/>
          <p:cNvSpPr/>
          <p:nvPr/>
        </p:nvSpPr>
        <p:spPr>
          <a:xfrm>
            <a:off x="1143000" y="847725"/>
            <a:ext cx="10620375"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1143000" y="1238250"/>
            <a:ext cx="5170800" cy="1488600"/>
          </a:xfrm>
          <a:prstGeom prst="roundRect">
            <a:avLst>
              <a:gd fmla="val 6667" name="adj"/>
            </a:avLst>
          </a:prstGeom>
          <a:solidFill>
            <a:srgbClr val="FFFFFF"/>
          </a:solidFill>
          <a:ln cap="flat" cmpd="sng" w="15175">
            <a:solidFill>
              <a:srgbClr val="D9E1E6"/>
            </a:solidFill>
            <a:prstDash val="solid"/>
            <a:round/>
            <a:headEnd len="sm" w="sm" type="none"/>
            <a:tailEnd len="sm" w="sm" type="none"/>
          </a:ln>
        </p:spPr>
        <p:txBody>
          <a:bodyPr anchorCtr="0" anchor="ctr" bIns="97250" lIns="97250" spcFirstLastPara="1" rIns="97250" wrap="square" tIns="97250">
            <a:noAutofit/>
          </a:bodyPr>
          <a:lstStyle/>
          <a:p>
            <a:pPr indent="0" lvl="0" marL="0" rtl="0" algn="l">
              <a:spcBef>
                <a:spcPts val="0"/>
              </a:spcBef>
              <a:spcAft>
                <a:spcPts val="0"/>
              </a:spcAft>
              <a:buNone/>
            </a:pPr>
            <a:r>
              <a:t/>
            </a:r>
            <a:endParaRPr sz="1915"/>
          </a:p>
        </p:txBody>
      </p:sp>
      <p:sp>
        <p:nvSpPr>
          <p:cNvPr id="57" name="Google Shape;57;p2"/>
          <p:cNvSpPr/>
          <p:nvPr/>
        </p:nvSpPr>
        <p:spPr>
          <a:xfrm>
            <a:off x="1143000" y="1238250"/>
            <a:ext cx="60900" cy="1488600"/>
          </a:xfrm>
          <a:prstGeom prst="rect">
            <a:avLst/>
          </a:prstGeom>
          <a:solidFill>
            <a:srgbClr val="1F603A"/>
          </a:solidFill>
          <a:ln>
            <a:noFill/>
          </a:ln>
        </p:spPr>
        <p:txBody>
          <a:bodyPr anchorCtr="0" anchor="ctr" bIns="97250" lIns="97250" spcFirstLastPara="1" rIns="97250" wrap="square" tIns="97250">
            <a:noAutofit/>
          </a:bodyPr>
          <a:lstStyle/>
          <a:p>
            <a:pPr indent="0" lvl="0" marL="0" rtl="0" algn="l">
              <a:spcBef>
                <a:spcPts val="0"/>
              </a:spcBef>
              <a:spcAft>
                <a:spcPts val="0"/>
              </a:spcAft>
              <a:buNone/>
            </a:pPr>
            <a:r>
              <a:t/>
            </a:r>
            <a:endParaRPr sz="1915"/>
          </a:p>
        </p:txBody>
      </p:sp>
      <p:sp>
        <p:nvSpPr>
          <p:cNvPr id="58" name="Google Shape;58;p2"/>
          <p:cNvSpPr/>
          <p:nvPr/>
        </p:nvSpPr>
        <p:spPr>
          <a:xfrm>
            <a:off x="1317672" y="1345398"/>
            <a:ext cx="4731300" cy="344400"/>
          </a:xfrm>
          <a:prstGeom prst="rect">
            <a:avLst/>
          </a:prstGeom>
          <a:noFill/>
          <a:ln>
            <a:noFill/>
          </a:ln>
        </p:spPr>
        <p:txBody>
          <a:bodyPr anchorCtr="0" anchor="t" bIns="48600" lIns="97250" spcFirstLastPara="1" rIns="97250" wrap="square" tIns="48600">
            <a:noAutofit/>
          </a:bodyPr>
          <a:lstStyle/>
          <a:p>
            <a:pPr indent="0" lvl="0" marL="0" marR="0" rtl="0" algn="l">
              <a:spcBef>
                <a:spcPts val="0"/>
              </a:spcBef>
              <a:spcAft>
                <a:spcPts val="0"/>
              </a:spcAft>
              <a:buNone/>
            </a:pPr>
            <a:r>
              <a:rPr b="1" i="0" lang="en-US" sz="2215">
                <a:solidFill>
                  <a:srgbClr val="1F603A"/>
                </a:solidFill>
                <a:latin typeface="Arial"/>
                <a:ea typeface="Arial"/>
                <a:cs typeface="Arial"/>
                <a:sym typeface="Arial"/>
              </a:rPr>
              <a:t>PHẦN 1: GIỚI THIỆU</a:t>
            </a:r>
            <a:endParaRPr sz="2215"/>
          </a:p>
        </p:txBody>
      </p:sp>
      <p:sp>
        <p:nvSpPr>
          <p:cNvPr id="59" name="Google Shape;59;p2"/>
          <p:cNvSpPr/>
          <p:nvPr/>
        </p:nvSpPr>
        <p:spPr>
          <a:xfrm>
            <a:off x="1365875" y="1795104"/>
            <a:ext cx="4731300" cy="938400"/>
          </a:xfrm>
          <a:prstGeom prst="rect">
            <a:avLst/>
          </a:prstGeom>
          <a:noFill/>
          <a:ln>
            <a:noFill/>
          </a:ln>
        </p:spPr>
        <p:txBody>
          <a:bodyPr anchorCtr="0" anchor="t" bIns="48600" lIns="97250" spcFirstLastPara="1" rIns="97250" wrap="square" tIns="48600">
            <a:noAutofit/>
          </a:bodyPr>
          <a:lstStyle/>
          <a:p>
            <a:pPr indent="0" lvl="0" marL="0" marR="0" rtl="0" algn="l">
              <a:spcBef>
                <a:spcPts val="0"/>
              </a:spcBef>
              <a:spcAft>
                <a:spcPts val="0"/>
              </a:spcAft>
              <a:buNone/>
            </a:pPr>
            <a:r>
              <a:rPr lang="en-US" sz="2215">
                <a:solidFill>
                  <a:srgbClr val="292929"/>
                </a:solidFill>
              </a:rPr>
              <a:t>Vai trò của Hệ hỗ trợ ra quyết định trong Nông nghiệp</a:t>
            </a:r>
            <a:endParaRPr sz="2215"/>
          </a:p>
        </p:txBody>
      </p:sp>
      <p:sp>
        <p:nvSpPr>
          <p:cNvPr id="60" name="Google Shape;60;p2"/>
          <p:cNvSpPr/>
          <p:nvPr/>
        </p:nvSpPr>
        <p:spPr>
          <a:xfrm>
            <a:off x="1115100" y="2968500"/>
            <a:ext cx="5170800" cy="1488600"/>
          </a:xfrm>
          <a:prstGeom prst="roundRect">
            <a:avLst>
              <a:gd fmla="val 6667" name="adj"/>
            </a:avLst>
          </a:prstGeom>
          <a:solidFill>
            <a:srgbClr val="FFFFFF"/>
          </a:solidFill>
          <a:ln cap="flat" cmpd="sng" w="15175">
            <a:solidFill>
              <a:srgbClr val="D9E1E6"/>
            </a:solidFill>
            <a:prstDash val="solid"/>
            <a:round/>
            <a:headEnd len="sm" w="sm" type="none"/>
            <a:tailEnd len="sm" w="sm" type="none"/>
          </a:ln>
        </p:spPr>
        <p:txBody>
          <a:bodyPr anchorCtr="0" anchor="ctr" bIns="97250" lIns="97250" spcFirstLastPara="1" rIns="97250" wrap="square" tIns="97250">
            <a:noAutofit/>
          </a:bodyPr>
          <a:lstStyle/>
          <a:p>
            <a:pPr indent="0" lvl="0" marL="0" rtl="0" algn="l">
              <a:spcBef>
                <a:spcPts val="0"/>
              </a:spcBef>
              <a:spcAft>
                <a:spcPts val="0"/>
              </a:spcAft>
              <a:buNone/>
            </a:pPr>
            <a:r>
              <a:t/>
            </a:r>
            <a:endParaRPr sz="1915"/>
          </a:p>
        </p:txBody>
      </p:sp>
      <p:sp>
        <p:nvSpPr>
          <p:cNvPr id="61" name="Google Shape;61;p2"/>
          <p:cNvSpPr/>
          <p:nvPr/>
        </p:nvSpPr>
        <p:spPr>
          <a:xfrm>
            <a:off x="1115104" y="2968500"/>
            <a:ext cx="60900" cy="1488600"/>
          </a:xfrm>
          <a:prstGeom prst="rect">
            <a:avLst/>
          </a:prstGeom>
          <a:solidFill>
            <a:srgbClr val="1F603A"/>
          </a:solidFill>
          <a:ln>
            <a:noFill/>
          </a:ln>
        </p:spPr>
        <p:txBody>
          <a:bodyPr anchorCtr="0" anchor="ctr" bIns="97250" lIns="97250" spcFirstLastPara="1" rIns="97250" wrap="square" tIns="97250">
            <a:noAutofit/>
          </a:bodyPr>
          <a:lstStyle/>
          <a:p>
            <a:pPr indent="0" lvl="0" marL="0" rtl="0" algn="l">
              <a:spcBef>
                <a:spcPts val="0"/>
              </a:spcBef>
              <a:spcAft>
                <a:spcPts val="0"/>
              </a:spcAft>
              <a:buNone/>
            </a:pPr>
            <a:r>
              <a:t/>
            </a:r>
            <a:endParaRPr sz="1915"/>
          </a:p>
        </p:txBody>
      </p:sp>
      <p:sp>
        <p:nvSpPr>
          <p:cNvPr id="62" name="Google Shape;62;p2"/>
          <p:cNvSpPr/>
          <p:nvPr/>
        </p:nvSpPr>
        <p:spPr>
          <a:xfrm>
            <a:off x="1362746" y="3042317"/>
            <a:ext cx="4731300" cy="344400"/>
          </a:xfrm>
          <a:prstGeom prst="rect">
            <a:avLst/>
          </a:prstGeom>
          <a:noFill/>
          <a:ln>
            <a:noFill/>
          </a:ln>
        </p:spPr>
        <p:txBody>
          <a:bodyPr anchorCtr="0" anchor="t" bIns="48600" lIns="97250" spcFirstLastPara="1" rIns="97250" wrap="square" tIns="48600">
            <a:noAutofit/>
          </a:bodyPr>
          <a:lstStyle/>
          <a:p>
            <a:pPr indent="0" lvl="0" marL="0" marR="0" rtl="0" algn="l">
              <a:spcBef>
                <a:spcPts val="0"/>
              </a:spcBef>
              <a:spcAft>
                <a:spcPts val="0"/>
              </a:spcAft>
              <a:buNone/>
            </a:pPr>
            <a:r>
              <a:rPr b="1" i="0" lang="en-US" sz="2215">
                <a:solidFill>
                  <a:srgbClr val="1F603A"/>
                </a:solidFill>
                <a:latin typeface="Arial"/>
                <a:ea typeface="Arial"/>
                <a:cs typeface="Arial"/>
                <a:sym typeface="Arial"/>
              </a:rPr>
              <a:t>PHẦN 2: ĐẶT VẤN ĐỀ</a:t>
            </a:r>
            <a:endParaRPr sz="2215"/>
          </a:p>
        </p:txBody>
      </p:sp>
      <p:sp>
        <p:nvSpPr>
          <p:cNvPr id="63" name="Google Shape;63;p2"/>
          <p:cNvSpPr/>
          <p:nvPr/>
        </p:nvSpPr>
        <p:spPr>
          <a:xfrm>
            <a:off x="1337950" y="3502212"/>
            <a:ext cx="4731300" cy="938400"/>
          </a:xfrm>
          <a:prstGeom prst="rect">
            <a:avLst/>
          </a:prstGeom>
          <a:noFill/>
          <a:ln>
            <a:noFill/>
          </a:ln>
        </p:spPr>
        <p:txBody>
          <a:bodyPr anchorCtr="0" anchor="t" bIns="48600" lIns="97250" spcFirstLastPara="1" rIns="97250" wrap="square" tIns="48600">
            <a:noAutofit/>
          </a:bodyPr>
          <a:lstStyle/>
          <a:p>
            <a:pPr indent="0" lvl="0" marL="0" marR="0" rtl="0" algn="l">
              <a:spcBef>
                <a:spcPts val="0"/>
              </a:spcBef>
              <a:spcAft>
                <a:spcPts val="0"/>
              </a:spcAft>
              <a:buNone/>
            </a:pPr>
            <a:r>
              <a:rPr lang="en-US" sz="2215">
                <a:solidFill>
                  <a:srgbClr val="292929"/>
                </a:solidFill>
              </a:rPr>
              <a:t>Hạn chế cốt lõi của mô hình truyền thống</a:t>
            </a:r>
            <a:endParaRPr sz="2215"/>
          </a:p>
        </p:txBody>
      </p:sp>
      <p:sp>
        <p:nvSpPr>
          <p:cNvPr id="64" name="Google Shape;64;p2"/>
          <p:cNvSpPr/>
          <p:nvPr/>
        </p:nvSpPr>
        <p:spPr>
          <a:xfrm>
            <a:off x="1115075" y="4698750"/>
            <a:ext cx="5170800" cy="1488600"/>
          </a:xfrm>
          <a:prstGeom prst="roundRect">
            <a:avLst>
              <a:gd fmla="val 6667" name="adj"/>
            </a:avLst>
          </a:prstGeom>
          <a:solidFill>
            <a:srgbClr val="FFFFFF"/>
          </a:solidFill>
          <a:ln cap="flat" cmpd="sng" w="15175">
            <a:solidFill>
              <a:srgbClr val="D9E1E6"/>
            </a:solidFill>
            <a:prstDash val="solid"/>
            <a:round/>
            <a:headEnd len="sm" w="sm" type="none"/>
            <a:tailEnd len="sm" w="sm" type="none"/>
          </a:ln>
        </p:spPr>
        <p:txBody>
          <a:bodyPr anchorCtr="0" anchor="ctr" bIns="97250" lIns="97250" spcFirstLastPara="1" rIns="97250" wrap="square" tIns="97250">
            <a:noAutofit/>
          </a:bodyPr>
          <a:lstStyle/>
          <a:p>
            <a:pPr indent="0" lvl="0" marL="0" rtl="0" algn="l">
              <a:spcBef>
                <a:spcPts val="0"/>
              </a:spcBef>
              <a:spcAft>
                <a:spcPts val="0"/>
              </a:spcAft>
              <a:buNone/>
            </a:pPr>
            <a:r>
              <a:t/>
            </a:r>
            <a:endParaRPr sz="1915"/>
          </a:p>
        </p:txBody>
      </p:sp>
      <p:sp>
        <p:nvSpPr>
          <p:cNvPr id="65" name="Google Shape;65;p2"/>
          <p:cNvSpPr/>
          <p:nvPr/>
        </p:nvSpPr>
        <p:spPr>
          <a:xfrm>
            <a:off x="1115071" y="4698750"/>
            <a:ext cx="60900" cy="1488600"/>
          </a:xfrm>
          <a:prstGeom prst="rect">
            <a:avLst/>
          </a:prstGeom>
          <a:solidFill>
            <a:srgbClr val="1F603A"/>
          </a:solidFill>
          <a:ln>
            <a:noFill/>
          </a:ln>
        </p:spPr>
        <p:txBody>
          <a:bodyPr anchorCtr="0" anchor="ctr" bIns="97250" lIns="97250" spcFirstLastPara="1" rIns="97250" wrap="square" tIns="97250">
            <a:noAutofit/>
          </a:bodyPr>
          <a:lstStyle/>
          <a:p>
            <a:pPr indent="0" lvl="0" marL="0" rtl="0" algn="l">
              <a:spcBef>
                <a:spcPts val="0"/>
              </a:spcBef>
              <a:spcAft>
                <a:spcPts val="0"/>
              </a:spcAft>
              <a:buNone/>
            </a:pPr>
            <a:r>
              <a:t/>
            </a:r>
            <a:endParaRPr sz="1915"/>
          </a:p>
        </p:txBody>
      </p:sp>
      <p:sp>
        <p:nvSpPr>
          <p:cNvPr id="66" name="Google Shape;66;p2"/>
          <p:cNvSpPr/>
          <p:nvPr/>
        </p:nvSpPr>
        <p:spPr>
          <a:xfrm>
            <a:off x="1363325" y="4772575"/>
            <a:ext cx="4947900" cy="344400"/>
          </a:xfrm>
          <a:prstGeom prst="rect">
            <a:avLst/>
          </a:prstGeom>
          <a:noFill/>
          <a:ln>
            <a:noFill/>
          </a:ln>
        </p:spPr>
        <p:txBody>
          <a:bodyPr anchorCtr="0" anchor="t" bIns="48600" lIns="97250" spcFirstLastPara="1" rIns="97250" wrap="square" tIns="48600">
            <a:noAutofit/>
          </a:bodyPr>
          <a:lstStyle/>
          <a:p>
            <a:pPr indent="0" lvl="0" marL="0" marR="0" rtl="0" algn="l">
              <a:spcBef>
                <a:spcPts val="0"/>
              </a:spcBef>
              <a:spcAft>
                <a:spcPts val="0"/>
              </a:spcAft>
              <a:buNone/>
            </a:pPr>
            <a:r>
              <a:rPr b="1" i="0" lang="en-US" sz="2215">
                <a:solidFill>
                  <a:srgbClr val="1F603A"/>
                </a:solidFill>
                <a:latin typeface="Arial"/>
                <a:ea typeface="Arial"/>
                <a:cs typeface="Arial"/>
                <a:sym typeface="Arial"/>
              </a:rPr>
              <a:t>PHẦN 3: PHƯƠNG PHÁP ĐỀ XUẤT</a:t>
            </a:r>
            <a:endParaRPr sz="2215"/>
          </a:p>
        </p:txBody>
      </p:sp>
      <p:sp>
        <p:nvSpPr>
          <p:cNvPr id="67" name="Google Shape;67;p2"/>
          <p:cNvSpPr/>
          <p:nvPr/>
        </p:nvSpPr>
        <p:spPr>
          <a:xfrm>
            <a:off x="1337950" y="5286199"/>
            <a:ext cx="4731300" cy="938400"/>
          </a:xfrm>
          <a:prstGeom prst="rect">
            <a:avLst/>
          </a:prstGeom>
          <a:noFill/>
          <a:ln>
            <a:noFill/>
          </a:ln>
        </p:spPr>
        <p:txBody>
          <a:bodyPr anchorCtr="0" anchor="t" bIns="48600" lIns="97250" spcFirstLastPara="1" rIns="97250" wrap="square" tIns="48600">
            <a:noAutofit/>
          </a:bodyPr>
          <a:lstStyle/>
          <a:p>
            <a:pPr indent="0" lvl="0" marL="0" marR="0" rtl="0" algn="l">
              <a:spcBef>
                <a:spcPts val="0"/>
              </a:spcBef>
              <a:spcAft>
                <a:spcPts val="0"/>
              </a:spcAft>
              <a:buNone/>
            </a:pPr>
            <a:r>
              <a:rPr lang="en-US" sz="2215">
                <a:solidFill>
                  <a:srgbClr val="292929"/>
                </a:solidFill>
              </a:rPr>
              <a:t>Category-based Weather Condition (CWC)</a:t>
            </a:r>
            <a:endParaRPr sz="2215"/>
          </a:p>
        </p:txBody>
      </p:sp>
      <p:sp>
        <p:nvSpPr>
          <p:cNvPr id="68" name="Google Shape;68;p2"/>
          <p:cNvSpPr/>
          <p:nvPr/>
        </p:nvSpPr>
        <p:spPr>
          <a:xfrm>
            <a:off x="6715125" y="1238250"/>
            <a:ext cx="5265600" cy="1488600"/>
          </a:xfrm>
          <a:prstGeom prst="roundRect">
            <a:avLst>
              <a:gd fmla="val 6667" name="adj"/>
            </a:avLst>
          </a:prstGeom>
          <a:solidFill>
            <a:srgbClr val="FFFFFF"/>
          </a:solidFill>
          <a:ln cap="flat" cmpd="sng" w="15175">
            <a:solidFill>
              <a:srgbClr val="D9E1E6"/>
            </a:solidFill>
            <a:prstDash val="solid"/>
            <a:round/>
            <a:headEnd len="sm" w="sm" type="none"/>
            <a:tailEnd len="sm" w="sm" type="none"/>
          </a:ln>
        </p:spPr>
        <p:txBody>
          <a:bodyPr anchorCtr="0" anchor="ctr" bIns="97250" lIns="97250" spcFirstLastPara="1" rIns="97250" wrap="square" tIns="97250">
            <a:noAutofit/>
          </a:bodyPr>
          <a:lstStyle/>
          <a:p>
            <a:pPr indent="0" lvl="0" marL="0" rtl="0" algn="l">
              <a:spcBef>
                <a:spcPts val="0"/>
              </a:spcBef>
              <a:spcAft>
                <a:spcPts val="0"/>
              </a:spcAft>
              <a:buNone/>
            </a:pPr>
            <a:r>
              <a:t/>
            </a:r>
            <a:endParaRPr sz="1915"/>
          </a:p>
        </p:txBody>
      </p:sp>
      <p:sp>
        <p:nvSpPr>
          <p:cNvPr id="69" name="Google Shape;69;p2"/>
          <p:cNvSpPr/>
          <p:nvPr/>
        </p:nvSpPr>
        <p:spPr>
          <a:xfrm>
            <a:off x="6715125" y="1238250"/>
            <a:ext cx="60900" cy="1488600"/>
          </a:xfrm>
          <a:prstGeom prst="rect">
            <a:avLst/>
          </a:prstGeom>
          <a:solidFill>
            <a:srgbClr val="0B2A47"/>
          </a:solidFill>
          <a:ln>
            <a:noFill/>
          </a:ln>
        </p:spPr>
        <p:txBody>
          <a:bodyPr anchorCtr="0" anchor="ctr" bIns="97250" lIns="97250" spcFirstLastPara="1" rIns="97250" wrap="square" tIns="97250">
            <a:noAutofit/>
          </a:bodyPr>
          <a:lstStyle/>
          <a:p>
            <a:pPr indent="0" lvl="0" marL="0" rtl="0" algn="l">
              <a:spcBef>
                <a:spcPts val="0"/>
              </a:spcBef>
              <a:spcAft>
                <a:spcPts val="0"/>
              </a:spcAft>
              <a:buNone/>
            </a:pPr>
            <a:r>
              <a:t/>
            </a:r>
            <a:endParaRPr sz="1915"/>
          </a:p>
        </p:txBody>
      </p:sp>
      <p:sp>
        <p:nvSpPr>
          <p:cNvPr id="70" name="Google Shape;70;p2"/>
          <p:cNvSpPr/>
          <p:nvPr/>
        </p:nvSpPr>
        <p:spPr>
          <a:xfrm>
            <a:off x="6864546" y="1340100"/>
            <a:ext cx="5116200" cy="344400"/>
          </a:xfrm>
          <a:prstGeom prst="rect">
            <a:avLst/>
          </a:prstGeom>
          <a:noFill/>
          <a:ln>
            <a:noFill/>
          </a:ln>
        </p:spPr>
        <p:txBody>
          <a:bodyPr anchorCtr="0" anchor="t" bIns="48600" lIns="97250" spcFirstLastPara="1" rIns="97250" wrap="square" tIns="48600">
            <a:noAutofit/>
          </a:bodyPr>
          <a:lstStyle/>
          <a:p>
            <a:pPr indent="0" lvl="0" marL="0" marR="0" rtl="0" algn="l">
              <a:spcBef>
                <a:spcPts val="0"/>
              </a:spcBef>
              <a:spcAft>
                <a:spcPts val="0"/>
              </a:spcAft>
              <a:buNone/>
            </a:pPr>
            <a:r>
              <a:rPr b="1" i="0" lang="en-US" sz="2215">
                <a:solidFill>
                  <a:srgbClr val="0B2A47"/>
                </a:solidFill>
                <a:latin typeface="Arial"/>
                <a:ea typeface="Arial"/>
                <a:cs typeface="Arial"/>
                <a:sym typeface="Arial"/>
              </a:rPr>
              <a:t>PHẦN 4: THỰC NGHIỆM &amp; KẾT QUẢ</a:t>
            </a:r>
            <a:endParaRPr sz="2215"/>
          </a:p>
        </p:txBody>
      </p:sp>
      <p:sp>
        <p:nvSpPr>
          <p:cNvPr id="71" name="Google Shape;71;p2"/>
          <p:cNvSpPr/>
          <p:nvPr/>
        </p:nvSpPr>
        <p:spPr>
          <a:xfrm>
            <a:off x="6938000" y="1807351"/>
            <a:ext cx="4731300" cy="938400"/>
          </a:xfrm>
          <a:prstGeom prst="rect">
            <a:avLst/>
          </a:prstGeom>
          <a:noFill/>
          <a:ln>
            <a:noFill/>
          </a:ln>
        </p:spPr>
        <p:txBody>
          <a:bodyPr anchorCtr="0" anchor="t" bIns="48600" lIns="97250" spcFirstLastPara="1" rIns="97250" wrap="square" tIns="48600">
            <a:noAutofit/>
          </a:bodyPr>
          <a:lstStyle/>
          <a:p>
            <a:pPr indent="0" lvl="0" marL="0" marR="0" rtl="0" algn="l">
              <a:spcBef>
                <a:spcPts val="0"/>
              </a:spcBef>
              <a:spcAft>
                <a:spcPts val="0"/>
              </a:spcAft>
              <a:buNone/>
            </a:pPr>
            <a:r>
              <a:rPr b="0" i="0" lang="en-US" sz="2215">
                <a:solidFill>
                  <a:srgbClr val="292929"/>
                </a:solidFill>
                <a:latin typeface="Arial"/>
                <a:ea typeface="Arial"/>
                <a:cs typeface="Arial"/>
                <a:sym typeface="Arial"/>
              </a:rPr>
              <a:t>Thiết lập 30 năm dữ liệu</a:t>
            </a:r>
            <a:endParaRPr sz="2215"/>
          </a:p>
          <a:p>
            <a:pPr indent="0" lvl="0" marL="0" marR="0" rtl="0" algn="l">
              <a:spcBef>
                <a:spcPts val="0"/>
              </a:spcBef>
              <a:spcAft>
                <a:spcPts val="0"/>
              </a:spcAft>
              <a:buNone/>
            </a:pPr>
            <a:r>
              <a:rPr b="0" i="0" lang="en-US" sz="2215">
                <a:solidFill>
                  <a:srgbClr val="292929"/>
                </a:solidFill>
                <a:latin typeface="Arial"/>
                <a:ea typeface="Arial"/>
                <a:cs typeface="Arial"/>
                <a:sym typeface="Arial"/>
              </a:rPr>
              <a:t>So sánh trước và sau</a:t>
            </a:r>
            <a:endParaRPr sz="2215"/>
          </a:p>
        </p:txBody>
      </p:sp>
      <p:sp>
        <p:nvSpPr>
          <p:cNvPr id="72" name="Google Shape;72;p2"/>
          <p:cNvSpPr/>
          <p:nvPr/>
        </p:nvSpPr>
        <p:spPr>
          <a:xfrm>
            <a:off x="6735225" y="2965850"/>
            <a:ext cx="5170800" cy="1488600"/>
          </a:xfrm>
          <a:prstGeom prst="roundRect">
            <a:avLst>
              <a:gd fmla="val 6667" name="adj"/>
            </a:avLst>
          </a:prstGeom>
          <a:solidFill>
            <a:srgbClr val="FFFFFF"/>
          </a:solidFill>
          <a:ln cap="flat" cmpd="sng" w="15175">
            <a:solidFill>
              <a:srgbClr val="D9E1E6"/>
            </a:solidFill>
            <a:prstDash val="solid"/>
            <a:round/>
            <a:headEnd len="sm" w="sm" type="none"/>
            <a:tailEnd len="sm" w="sm" type="none"/>
          </a:ln>
        </p:spPr>
        <p:txBody>
          <a:bodyPr anchorCtr="0" anchor="ctr" bIns="97250" lIns="97250" spcFirstLastPara="1" rIns="97250" wrap="square" tIns="97250">
            <a:noAutofit/>
          </a:bodyPr>
          <a:lstStyle/>
          <a:p>
            <a:pPr indent="0" lvl="0" marL="0" rtl="0" algn="l">
              <a:spcBef>
                <a:spcPts val="0"/>
              </a:spcBef>
              <a:spcAft>
                <a:spcPts val="0"/>
              </a:spcAft>
              <a:buNone/>
            </a:pPr>
            <a:r>
              <a:t/>
            </a:r>
            <a:endParaRPr sz="1915"/>
          </a:p>
        </p:txBody>
      </p:sp>
      <p:sp>
        <p:nvSpPr>
          <p:cNvPr id="73" name="Google Shape;73;p2"/>
          <p:cNvSpPr/>
          <p:nvPr/>
        </p:nvSpPr>
        <p:spPr>
          <a:xfrm>
            <a:off x="6715150" y="2957789"/>
            <a:ext cx="60900" cy="1488600"/>
          </a:xfrm>
          <a:prstGeom prst="rect">
            <a:avLst/>
          </a:prstGeom>
          <a:solidFill>
            <a:srgbClr val="0B2A47"/>
          </a:solidFill>
          <a:ln>
            <a:noFill/>
          </a:ln>
        </p:spPr>
        <p:txBody>
          <a:bodyPr anchorCtr="0" anchor="ctr" bIns="97250" lIns="97250" spcFirstLastPara="1" rIns="97250" wrap="square" tIns="97250">
            <a:noAutofit/>
          </a:bodyPr>
          <a:lstStyle/>
          <a:p>
            <a:pPr indent="0" lvl="0" marL="0" rtl="0" algn="l">
              <a:spcBef>
                <a:spcPts val="0"/>
              </a:spcBef>
              <a:spcAft>
                <a:spcPts val="0"/>
              </a:spcAft>
              <a:buNone/>
            </a:pPr>
            <a:r>
              <a:t/>
            </a:r>
            <a:endParaRPr sz="1915"/>
          </a:p>
        </p:txBody>
      </p:sp>
      <p:sp>
        <p:nvSpPr>
          <p:cNvPr id="74" name="Google Shape;74;p2"/>
          <p:cNvSpPr/>
          <p:nvPr/>
        </p:nvSpPr>
        <p:spPr>
          <a:xfrm>
            <a:off x="6938025" y="3063889"/>
            <a:ext cx="4947900" cy="391800"/>
          </a:xfrm>
          <a:prstGeom prst="rect">
            <a:avLst/>
          </a:prstGeom>
          <a:noFill/>
          <a:ln>
            <a:noFill/>
          </a:ln>
        </p:spPr>
        <p:txBody>
          <a:bodyPr anchorCtr="0" anchor="t" bIns="48600" lIns="97250" spcFirstLastPara="1" rIns="97250" wrap="square" tIns="48600">
            <a:noAutofit/>
          </a:bodyPr>
          <a:lstStyle/>
          <a:p>
            <a:pPr indent="0" lvl="0" marL="0" marR="0" rtl="0" algn="l">
              <a:spcBef>
                <a:spcPts val="0"/>
              </a:spcBef>
              <a:spcAft>
                <a:spcPts val="0"/>
              </a:spcAft>
              <a:buNone/>
            </a:pPr>
            <a:r>
              <a:rPr b="1" i="0" lang="en-US" sz="2215">
                <a:solidFill>
                  <a:srgbClr val="0B2A47"/>
                </a:solidFill>
                <a:latin typeface="Arial"/>
                <a:ea typeface="Arial"/>
                <a:cs typeface="Arial"/>
                <a:sym typeface="Arial"/>
              </a:rPr>
              <a:t>PHẦN 5: ĐÁNH GIÁ &amp; </a:t>
            </a:r>
            <a:r>
              <a:rPr b="1" lang="en-US" sz="2215">
                <a:solidFill>
                  <a:srgbClr val="0B2A47"/>
                </a:solidFill>
              </a:rPr>
              <a:t>KẾT LUẬN</a:t>
            </a:r>
            <a:endParaRPr sz="2215"/>
          </a:p>
        </p:txBody>
      </p:sp>
      <p:sp>
        <p:nvSpPr>
          <p:cNvPr id="75" name="Google Shape;75;p2"/>
          <p:cNvSpPr/>
          <p:nvPr/>
        </p:nvSpPr>
        <p:spPr>
          <a:xfrm>
            <a:off x="6938025" y="3492793"/>
            <a:ext cx="4731300" cy="829500"/>
          </a:xfrm>
          <a:prstGeom prst="rect">
            <a:avLst/>
          </a:prstGeom>
          <a:noFill/>
          <a:ln>
            <a:noFill/>
          </a:ln>
        </p:spPr>
        <p:txBody>
          <a:bodyPr anchorCtr="0" anchor="t" bIns="48600" lIns="97250" spcFirstLastPara="1" rIns="97250" wrap="square" tIns="48600">
            <a:noAutofit/>
          </a:bodyPr>
          <a:lstStyle/>
          <a:p>
            <a:pPr indent="0" lvl="0" marL="0" marR="0" rtl="0" algn="l">
              <a:spcBef>
                <a:spcPts val="0"/>
              </a:spcBef>
              <a:spcAft>
                <a:spcPts val="0"/>
              </a:spcAft>
              <a:buNone/>
            </a:pPr>
            <a:r>
              <a:rPr lang="en-US" sz="2215">
                <a:solidFill>
                  <a:srgbClr val="292929"/>
                </a:solidFill>
              </a:rPr>
              <a:t>Ưu điểm và hạn </a:t>
            </a:r>
            <a:r>
              <a:rPr lang="en-US" sz="2215">
                <a:solidFill>
                  <a:srgbClr val="292929"/>
                </a:solidFill>
              </a:rPr>
              <a:t>chế</a:t>
            </a:r>
            <a:endParaRPr sz="2215">
              <a:solidFill>
                <a:srgbClr val="292929"/>
              </a:solidFill>
            </a:endParaRPr>
          </a:p>
          <a:p>
            <a:pPr indent="0" lvl="0" marL="0" marR="0" rtl="0" algn="l">
              <a:spcBef>
                <a:spcPts val="0"/>
              </a:spcBef>
              <a:spcAft>
                <a:spcPts val="0"/>
              </a:spcAft>
              <a:buNone/>
            </a:pPr>
            <a:r>
              <a:rPr lang="en-US" sz="2215">
                <a:solidFill>
                  <a:srgbClr val="292929"/>
                </a:solidFill>
              </a:rPr>
              <a:t>Kết luận bài báo</a:t>
            </a:r>
            <a:endParaRPr sz="2215">
              <a:solidFill>
                <a:srgbClr val="292929"/>
              </a:solidFill>
            </a:endParaRPr>
          </a:p>
        </p:txBody>
      </p:sp>
      <p:sp>
        <p:nvSpPr>
          <p:cNvPr id="76" name="Google Shape;76;p2"/>
          <p:cNvSpPr/>
          <p:nvPr/>
        </p:nvSpPr>
        <p:spPr>
          <a:xfrm>
            <a:off x="6715150" y="4693450"/>
            <a:ext cx="5170800" cy="1488600"/>
          </a:xfrm>
          <a:prstGeom prst="roundRect">
            <a:avLst>
              <a:gd fmla="val 6667" name="adj"/>
            </a:avLst>
          </a:prstGeom>
          <a:solidFill>
            <a:srgbClr val="FFFFFF"/>
          </a:solidFill>
          <a:ln cap="flat" cmpd="sng" w="15175">
            <a:solidFill>
              <a:srgbClr val="D9E1E6"/>
            </a:solidFill>
            <a:prstDash val="solid"/>
            <a:round/>
            <a:headEnd len="sm" w="sm" type="none"/>
            <a:tailEnd len="sm" w="sm" type="none"/>
          </a:ln>
        </p:spPr>
        <p:txBody>
          <a:bodyPr anchorCtr="0" anchor="ctr" bIns="97250" lIns="97250" spcFirstLastPara="1" rIns="97250" wrap="square" tIns="97250">
            <a:noAutofit/>
          </a:bodyPr>
          <a:lstStyle/>
          <a:p>
            <a:pPr indent="0" lvl="0" marL="0" rtl="0" algn="l">
              <a:spcBef>
                <a:spcPts val="0"/>
              </a:spcBef>
              <a:spcAft>
                <a:spcPts val="0"/>
              </a:spcAft>
              <a:buNone/>
            </a:pPr>
            <a:r>
              <a:t/>
            </a:r>
            <a:endParaRPr sz="1915"/>
          </a:p>
        </p:txBody>
      </p:sp>
      <p:sp>
        <p:nvSpPr>
          <p:cNvPr id="77" name="Google Shape;77;p2"/>
          <p:cNvSpPr/>
          <p:nvPr/>
        </p:nvSpPr>
        <p:spPr>
          <a:xfrm>
            <a:off x="6715000" y="4693450"/>
            <a:ext cx="60900" cy="1488600"/>
          </a:xfrm>
          <a:prstGeom prst="rect">
            <a:avLst/>
          </a:prstGeom>
          <a:solidFill>
            <a:srgbClr val="0B2A47"/>
          </a:solidFill>
          <a:ln>
            <a:noFill/>
          </a:ln>
        </p:spPr>
        <p:txBody>
          <a:bodyPr anchorCtr="0" anchor="ctr" bIns="97250" lIns="97250" spcFirstLastPara="1" rIns="97250" wrap="square" tIns="97250">
            <a:noAutofit/>
          </a:bodyPr>
          <a:lstStyle/>
          <a:p>
            <a:pPr indent="0" lvl="0" marL="0" rtl="0" algn="l">
              <a:spcBef>
                <a:spcPts val="0"/>
              </a:spcBef>
              <a:spcAft>
                <a:spcPts val="0"/>
              </a:spcAft>
              <a:buNone/>
            </a:pPr>
            <a:r>
              <a:t/>
            </a:r>
            <a:endParaRPr sz="1915"/>
          </a:p>
        </p:txBody>
      </p:sp>
      <p:sp>
        <p:nvSpPr>
          <p:cNvPr id="78" name="Google Shape;78;p2"/>
          <p:cNvSpPr/>
          <p:nvPr/>
        </p:nvSpPr>
        <p:spPr>
          <a:xfrm>
            <a:off x="6934885" y="4808675"/>
            <a:ext cx="4731300" cy="391800"/>
          </a:xfrm>
          <a:prstGeom prst="rect">
            <a:avLst/>
          </a:prstGeom>
          <a:noFill/>
          <a:ln>
            <a:noFill/>
          </a:ln>
        </p:spPr>
        <p:txBody>
          <a:bodyPr anchorCtr="0" anchor="t" bIns="48600" lIns="97250" spcFirstLastPara="1" rIns="97250" wrap="square" tIns="48600">
            <a:noAutofit/>
          </a:bodyPr>
          <a:lstStyle/>
          <a:p>
            <a:pPr indent="0" lvl="0" marL="0" marR="0" rtl="0" algn="l">
              <a:spcBef>
                <a:spcPts val="0"/>
              </a:spcBef>
              <a:spcAft>
                <a:spcPts val="0"/>
              </a:spcAft>
              <a:buNone/>
            </a:pPr>
            <a:r>
              <a:rPr b="1" i="0" lang="en-US" sz="2215">
                <a:solidFill>
                  <a:srgbClr val="0B2A47"/>
                </a:solidFill>
                <a:latin typeface="Arial"/>
                <a:ea typeface="Arial"/>
                <a:cs typeface="Arial"/>
                <a:sym typeface="Arial"/>
              </a:rPr>
              <a:t>PHẦN 6: </a:t>
            </a:r>
            <a:r>
              <a:rPr b="1" lang="en-US" sz="2215">
                <a:solidFill>
                  <a:srgbClr val="0B2A47"/>
                </a:solidFill>
              </a:rPr>
              <a:t>MỞ RỘNG &amp; ỨNG DỤNG</a:t>
            </a:r>
            <a:endParaRPr sz="2215"/>
          </a:p>
        </p:txBody>
      </p:sp>
      <p:sp>
        <p:nvSpPr>
          <p:cNvPr id="79" name="Google Shape;79;p2"/>
          <p:cNvSpPr/>
          <p:nvPr/>
        </p:nvSpPr>
        <p:spPr>
          <a:xfrm>
            <a:off x="6938025" y="5347433"/>
            <a:ext cx="4731300" cy="829500"/>
          </a:xfrm>
          <a:prstGeom prst="rect">
            <a:avLst/>
          </a:prstGeom>
          <a:noFill/>
          <a:ln>
            <a:noFill/>
          </a:ln>
        </p:spPr>
        <p:txBody>
          <a:bodyPr anchorCtr="0" anchor="t" bIns="48600" lIns="97250" spcFirstLastPara="1" rIns="97250" wrap="square" tIns="48600">
            <a:noAutofit/>
          </a:bodyPr>
          <a:lstStyle/>
          <a:p>
            <a:pPr indent="0" lvl="0" marL="0" marR="0" rtl="0" algn="l">
              <a:spcBef>
                <a:spcPts val="0"/>
              </a:spcBef>
              <a:spcAft>
                <a:spcPts val="0"/>
              </a:spcAft>
              <a:buNone/>
            </a:pPr>
            <a:r>
              <a:rPr lang="en-US" sz="2215">
                <a:solidFill>
                  <a:srgbClr val="292929"/>
                </a:solidFill>
              </a:rPr>
              <a:t>Hướng phát triển</a:t>
            </a:r>
            <a:endParaRPr sz="2215">
              <a:solidFill>
                <a:srgbClr val="292929"/>
              </a:solidFill>
            </a:endParaRPr>
          </a:p>
          <a:p>
            <a:pPr indent="0" lvl="0" marL="0" marR="0" rtl="0" algn="l">
              <a:spcBef>
                <a:spcPts val="0"/>
              </a:spcBef>
              <a:spcAft>
                <a:spcPts val="0"/>
              </a:spcAft>
              <a:buNone/>
            </a:pPr>
            <a:r>
              <a:rPr lang="en-US" sz="2215">
                <a:solidFill>
                  <a:srgbClr val="292929"/>
                </a:solidFill>
              </a:rPr>
              <a:t>Phát triển và ứng dụng thực tiễn</a:t>
            </a:r>
            <a:endParaRPr sz="2215">
              <a:solidFill>
                <a:srgbClr val="29292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84" name="Shape 84"/>
        <p:cNvGrpSpPr/>
        <p:nvPr/>
      </p:nvGrpSpPr>
      <p:grpSpPr>
        <a:xfrm>
          <a:off x="0" y="0"/>
          <a:ext cx="0" cy="0"/>
          <a:chOff x="0" y="0"/>
          <a:chExt cx="0" cy="0"/>
        </a:xfrm>
      </p:grpSpPr>
      <p:sp>
        <p:nvSpPr>
          <p:cNvPr id="85" name="Google Shape;85;p3"/>
          <p:cNvSpPr/>
          <p:nvPr/>
        </p:nvSpPr>
        <p:spPr>
          <a:xfrm>
            <a:off x="0" y="0"/>
            <a:ext cx="12192000" cy="66675"/>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0" y="66675"/>
            <a:ext cx="12192000" cy="47625"/>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0" y="0"/>
            <a:ext cx="85725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8" name="Google Shape;88;p3"/>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89" name="Google Shape;89;p3"/>
          <p:cNvSpPr/>
          <p:nvPr/>
        </p:nvSpPr>
        <p:spPr>
          <a:xfrm>
            <a:off x="409575" y="952500"/>
            <a:ext cx="19050" cy="59055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91" name="Google Shape;91;p3"/>
          <p:cNvSpPr/>
          <p:nvPr/>
        </p:nvSpPr>
        <p:spPr>
          <a:xfrm>
            <a:off x="114300" y="3476625"/>
            <a:ext cx="628650" cy="295275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114300" y="3552825"/>
            <a:ext cx="628650" cy="40005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171450" y="35909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01</a:t>
            </a:r>
            <a:endParaRPr/>
          </a:p>
        </p:txBody>
      </p:sp>
      <p:sp>
        <p:nvSpPr>
          <p:cNvPr id="94" name="Google Shape;94;p3"/>
          <p:cNvSpPr/>
          <p:nvPr/>
        </p:nvSpPr>
        <p:spPr>
          <a:xfrm>
            <a:off x="171450" y="40576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95" name="Google Shape;95;p3"/>
          <p:cNvSpPr/>
          <p:nvPr/>
        </p:nvSpPr>
        <p:spPr>
          <a:xfrm>
            <a:off x="171450" y="452437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96" name="Google Shape;96;p3"/>
          <p:cNvSpPr/>
          <p:nvPr/>
        </p:nvSpPr>
        <p:spPr>
          <a:xfrm>
            <a:off x="171450" y="499110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97" name="Google Shape;97;p3"/>
          <p:cNvSpPr/>
          <p:nvPr/>
        </p:nvSpPr>
        <p:spPr>
          <a:xfrm>
            <a:off x="171450" y="54578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98" name="Google Shape;98;p3"/>
          <p:cNvSpPr/>
          <p:nvPr/>
        </p:nvSpPr>
        <p:spPr>
          <a:xfrm>
            <a:off x="171450" y="59245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99" name="Google Shape;99;p3"/>
          <p:cNvSpPr/>
          <p:nvPr/>
        </p:nvSpPr>
        <p:spPr>
          <a:xfrm>
            <a:off x="1123950" y="6467475"/>
            <a:ext cx="10648950"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1143000" y="6553200"/>
            <a:ext cx="609600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101" name="Google Shape;101;p3"/>
          <p:cNvSpPr/>
          <p:nvPr/>
        </p:nvSpPr>
        <p:spPr>
          <a:xfrm>
            <a:off x="7810500" y="6553200"/>
            <a:ext cx="285750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102" name="Google Shape;102;p3"/>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3</a:t>
            </a:r>
            <a:endParaRPr/>
          </a:p>
        </p:txBody>
      </p:sp>
      <p:sp>
        <p:nvSpPr>
          <p:cNvPr id="103" name="Google Shape;103;p3"/>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1F603A"/>
                </a:solidFill>
              </a:rPr>
              <a:t>Giới thiệu</a:t>
            </a:r>
            <a:endParaRPr b="1"/>
          </a:p>
        </p:txBody>
      </p:sp>
      <p:sp>
        <p:nvSpPr>
          <p:cNvPr id="104" name="Google Shape;104;p3"/>
          <p:cNvSpPr/>
          <p:nvPr/>
        </p:nvSpPr>
        <p:spPr>
          <a:xfrm>
            <a:off x="9620250" y="371475"/>
            <a:ext cx="200025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1</a:t>
            </a:r>
            <a:endParaRPr/>
          </a:p>
        </p:txBody>
      </p:sp>
      <p:sp>
        <p:nvSpPr>
          <p:cNvPr id="105" name="Google Shape;105;p3"/>
          <p:cNvSpPr/>
          <p:nvPr/>
        </p:nvSpPr>
        <p:spPr>
          <a:xfrm>
            <a:off x="1143000" y="847725"/>
            <a:ext cx="10620375"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1408725" y="952500"/>
            <a:ext cx="10620300" cy="438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25">
                <a:solidFill>
                  <a:srgbClr val="0B2A47"/>
                </a:solidFill>
              </a:rPr>
              <a:t>Hệ hỗ trợ ra quyết định đóng vai trò quan trọng trong nhiều lĩnh vực, trong đó có nông nghiệp </a:t>
            </a:r>
            <a:endParaRPr sz="1200"/>
          </a:p>
        </p:txBody>
      </p:sp>
      <p:sp>
        <p:nvSpPr>
          <p:cNvPr id="107" name="Google Shape;107;p3"/>
          <p:cNvSpPr/>
          <p:nvPr/>
        </p:nvSpPr>
        <p:spPr>
          <a:xfrm>
            <a:off x="-3170075" y="3738600"/>
            <a:ext cx="57300" cy="16668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1253425" y="3314988"/>
            <a:ext cx="10159500" cy="1611000"/>
          </a:xfrm>
          <a:prstGeom prst="roundRect">
            <a:avLst>
              <a:gd fmla="val 5333" name="adj"/>
            </a:avLst>
          </a:prstGeom>
          <a:solidFill>
            <a:srgbClr val="FFF8DE"/>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1253350" y="3315138"/>
            <a:ext cx="57300" cy="1611000"/>
          </a:xfrm>
          <a:prstGeom prst="rect">
            <a:avLst/>
          </a:prstGeom>
          <a:solidFill>
            <a:srgbClr val="D8B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1276375" y="3349475"/>
            <a:ext cx="10113600" cy="590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00">
                <a:solidFill>
                  <a:srgbClr val="A61C00"/>
                </a:solidFill>
              </a:rPr>
              <a:t>Thực trạng hiện nay:</a:t>
            </a:r>
            <a:r>
              <a:rPr b="1" lang="en-US" sz="1800">
                <a:solidFill>
                  <a:srgbClr val="0B2A47"/>
                </a:solidFill>
              </a:rPr>
              <a:t> </a:t>
            </a:r>
            <a:r>
              <a:rPr lang="en-US" sz="1800">
                <a:solidFill>
                  <a:srgbClr val="292929"/>
                </a:solidFill>
              </a:rPr>
              <a:t>Mỗi khi có dự báo thời tiết mới, các chuyên gia phải liên tục soạn lại các bản khuyến nghị kỹ thuật.</a:t>
            </a:r>
            <a:endParaRPr/>
          </a:p>
        </p:txBody>
      </p:sp>
      <p:sp>
        <p:nvSpPr>
          <p:cNvPr id="111" name="Google Shape;111;p3"/>
          <p:cNvSpPr/>
          <p:nvPr/>
        </p:nvSpPr>
        <p:spPr>
          <a:xfrm>
            <a:off x="1332475" y="3963913"/>
            <a:ext cx="10001400" cy="888600"/>
          </a:xfrm>
          <a:prstGeom prst="rect">
            <a:avLst/>
          </a:prstGeom>
          <a:noFill/>
          <a:ln>
            <a:noFill/>
          </a:ln>
        </p:spPr>
        <p:txBody>
          <a:bodyPr anchorCtr="0" anchor="t" bIns="45700" lIns="91425" spcFirstLastPara="1" rIns="91425" wrap="square" tIns="45700">
            <a:noAutofit/>
          </a:bodyPr>
          <a:lstStyle/>
          <a:p>
            <a:pPr indent="-342900" lvl="0" marL="457200" marR="0" rtl="0" algn="l">
              <a:spcBef>
                <a:spcPts val="0"/>
              </a:spcBef>
              <a:spcAft>
                <a:spcPts val="0"/>
              </a:spcAft>
              <a:buClr>
                <a:srgbClr val="292929"/>
              </a:buClr>
              <a:buSzPts val="1800"/>
              <a:buChar char="●"/>
            </a:pPr>
            <a:r>
              <a:rPr b="1" lang="en-US" sz="1800">
                <a:solidFill>
                  <a:srgbClr val="292929"/>
                </a:solidFill>
              </a:rPr>
              <a:t>Lặp lại công việc:</a:t>
            </a:r>
            <a:r>
              <a:rPr lang="en-US" sz="1800">
                <a:solidFill>
                  <a:srgbClr val="292929"/>
                </a:solidFill>
              </a:rPr>
              <a:t> Các chuyên gia phải liên tục viết lại cùng một lời khuyên cho các điều kiện thời tiết gần giống hệt nhau.</a:t>
            </a:r>
            <a:endParaRPr sz="1800">
              <a:solidFill>
                <a:srgbClr val="292929"/>
              </a:solidFill>
            </a:endParaRPr>
          </a:p>
          <a:p>
            <a:pPr indent="-342900" lvl="0" marL="457200" marR="0" rtl="0" algn="l">
              <a:spcBef>
                <a:spcPts val="0"/>
              </a:spcBef>
              <a:spcAft>
                <a:spcPts val="0"/>
              </a:spcAft>
              <a:buClr>
                <a:srgbClr val="292929"/>
              </a:buClr>
              <a:buSzPts val="1800"/>
              <a:buChar char="●"/>
            </a:pPr>
            <a:r>
              <a:rPr b="1" lang="en-US" sz="1800">
                <a:solidFill>
                  <a:srgbClr val="292929"/>
                </a:solidFill>
              </a:rPr>
              <a:t>Chi phí vận hành cao:</a:t>
            </a:r>
            <a:r>
              <a:rPr lang="en-US" sz="1800">
                <a:solidFill>
                  <a:srgbClr val="292929"/>
                </a:solidFill>
              </a:rPr>
              <a:t> Đòi hỏi lượng lớn nhân lực chuyên môn cao xử lý thủ công</a:t>
            </a:r>
            <a:endParaRPr sz="1800">
              <a:solidFill>
                <a:srgbClr val="292929"/>
              </a:solidFill>
            </a:endParaRPr>
          </a:p>
        </p:txBody>
      </p:sp>
      <p:grpSp>
        <p:nvGrpSpPr>
          <p:cNvPr id="112" name="Google Shape;112;p3"/>
          <p:cNvGrpSpPr/>
          <p:nvPr/>
        </p:nvGrpSpPr>
        <p:grpSpPr>
          <a:xfrm>
            <a:off x="1253425" y="1504328"/>
            <a:ext cx="10159441" cy="1528805"/>
            <a:chOff x="0" y="0"/>
            <a:chExt cx="8229600" cy="1238400"/>
          </a:xfrm>
        </p:grpSpPr>
        <p:sp>
          <p:nvSpPr>
            <p:cNvPr id="113" name="Google Shape;113;p3"/>
            <p:cNvSpPr/>
            <p:nvPr/>
          </p:nvSpPr>
          <p:spPr>
            <a:xfrm>
              <a:off x="0" y="0"/>
              <a:ext cx="8229600" cy="1238400"/>
            </a:xfrm>
            <a:prstGeom prst="roundRect">
              <a:avLst>
                <a:gd fmla="val 3076" name="adj"/>
              </a:avLst>
            </a:prstGeom>
            <a:solidFill>
              <a:srgbClr val="FFFFFF"/>
            </a:solidFill>
            <a:ln cap="flat" cmpd="sng" w="117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728"/>
            </a:p>
          </p:txBody>
        </p:sp>
        <p:sp>
          <p:nvSpPr>
            <p:cNvPr id="114" name="Google Shape;114;p3"/>
            <p:cNvSpPr txBox="1"/>
            <p:nvPr/>
          </p:nvSpPr>
          <p:spPr>
            <a:xfrm>
              <a:off x="125725" y="76163"/>
              <a:ext cx="79248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1111"/>
                </a:spcAft>
                <a:buNone/>
              </a:pPr>
              <a:r>
                <a:rPr b="1" lang="en-US" sz="1728">
                  <a:solidFill>
                    <a:srgbClr val="1E5631"/>
                  </a:solidFill>
                  <a:latin typeface="Roboto"/>
                  <a:ea typeface="Roboto"/>
                  <a:cs typeface="Roboto"/>
                  <a:sym typeface="Roboto"/>
                </a:rPr>
                <a:t>Dịch vụ IAAS của IMD (Ấn Độ): </a:t>
              </a:r>
              <a:endParaRPr b="1" sz="1728">
                <a:solidFill>
                  <a:srgbClr val="1E5631"/>
                </a:solidFill>
                <a:latin typeface="Roboto"/>
                <a:ea typeface="Roboto"/>
                <a:cs typeface="Roboto"/>
                <a:sym typeface="Roboto"/>
              </a:endParaRPr>
            </a:p>
          </p:txBody>
        </p:sp>
        <p:grpSp>
          <p:nvGrpSpPr>
            <p:cNvPr id="115" name="Google Shape;115;p3"/>
            <p:cNvGrpSpPr/>
            <p:nvPr/>
          </p:nvGrpSpPr>
          <p:grpSpPr>
            <a:xfrm>
              <a:off x="381000" y="476250"/>
              <a:ext cx="3619500" cy="619200"/>
              <a:chOff x="0" y="0"/>
              <a:chExt cx="3619500" cy="619200"/>
            </a:xfrm>
          </p:grpSpPr>
          <p:sp>
            <p:nvSpPr>
              <p:cNvPr id="116" name="Google Shape;116;p3"/>
              <p:cNvSpPr/>
              <p:nvPr/>
            </p:nvSpPr>
            <p:spPr>
              <a:xfrm>
                <a:off x="0" y="0"/>
                <a:ext cx="3619500" cy="619200"/>
              </a:xfrm>
              <a:prstGeom prst="roundRect">
                <a:avLst>
                  <a:gd fmla="val 6153" name="adj"/>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3"/>
              <p:cNvSpPr txBox="1"/>
              <p:nvPr/>
            </p:nvSpPr>
            <p:spPr>
              <a:xfrm>
                <a:off x="142875" y="0"/>
                <a:ext cx="3333900" cy="619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457">
                    <a:solidFill>
                      <a:srgbClr val="1E5631"/>
                    </a:solidFill>
                    <a:latin typeface="Roboto Slab"/>
                    <a:ea typeface="Roboto Slab"/>
                    <a:cs typeface="Roboto Slab"/>
                    <a:sym typeface="Roboto Slab"/>
                  </a:rPr>
                  <a:t>+10-15%</a:t>
                </a:r>
                <a:endParaRPr b="1" sz="3457">
                  <a:solidFill>
                    <a:srgbClr val="1E5631"/>
                  </a:solidFill>
                  <a:latin typeface="Roboto Slab"/>
                  <a:ea typeface="Roboto Slab"/>
                  <a:cs typeface="Roboto Slab"/>
                  <a:sym typeface="Roboto Slab"/>
                </a:endParaRPr>
              </a:p>
              <a:p>
                <a:pPr indent="0" lvl="0" marL="0" rtl="0" algn="ctr">
                  <a:spcBef>
                    <a:spcPts val="0"/>
                  </a:spcBef>
                  <a:spcAft>
                    <a:spcPts val="0"/>
                  </a:spcAft>
                  <a:buNone/>
                </a:pPr>
                <a:r>
                  <a:rPr b="1" lang="en-US" sz="1481">
                    <a:solidFill>
                      <a:srgbClr val="666666"/>
                    </a:solidFill>
                    <a:latin typeface="Roboto"/>
                    <a:ea typeface="Roboto"/>
                    <a:cs typeface="Roboto"/>
                    <a:sym typeface="Roboto"/>
                  </a:rPr>
                  <a:t>Tăng năng suất cây trồng</a:t>
                </a:r>
                <a:endParaRPr b="1" sz="1481">
                  <a:solidFill>
                    <a:srgbClr val="666666"/>
                  </a:solidFill>
                  <a:latin typeface="Roboto"/>
                  <a:ea typeface="Roboto"/>
                  <a:cs typeface="Roboto"/>
                  <a:sym typeface="Roboto"/>
                </a:endParaRPr>
              </a:p>
            </p:txBody>
          </p:sp>
        </p:grpSp>
        <p:grpSp>
          <p:nvGrpSpPr>
            <p:cNvPr id="118" name="Google Shape;118;p3"/>
            <p:cNvGrpSpPr/>
            <p:nvPr/>
          </p:nvGrpSpPr>
          <p:grpSpPr>
            <a:xfrm>
              <a:off x="4229100" y="476250"/>
              <a:ext cx="3619500" cy="619200"/>
              <a:chOff x="0" y="0"/>
              <a:chExt cx="3619500" cy="619200"/>
            </a:xfrm>
          </p:grpSpPr>
          <p:sp>
            <p:nvSpPr>
              <p:cNvPr id="119" name="Google Shape;119;p3"/>
              <p:cNvSpPr/>
              <p:nvPr/>
            </p:nvSpPr>
            <p:spPr>
              <a:xfrm>
                <a:off x="0" y="0"/>
                <a:ext cx="3619500" cy="619200"/>
              </a:xfrm>
              <a:prstGeom prst="roundRect">
                <a:avLst>
                  <a:gd fmla="val 6153"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3"/>
              <p:cNvSpPr txBox="1"/>
              <p:nvPr/>
            </p:nvSpPr>
            <p:spPr>
              <a:xfrm>
                <a:off x="142875" y="0"/>
                <a:ext cx="3333900" cy="619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457">
                    <a:solidFill>
                      <a:srgbClr val="0A2540"/>
                    </a:solidFill>
                    <a:latin typeface="Roboto Slab"/>
                    <a:ea typeface="Roboto Slab"/>
                    <a:cs typeface="Roboto Slab"/>
                    <a:sym typeface="Roboto Slab"/>
                  </a:rPr>
                  <a:t>-2-5%</a:t>
                </a:r>
                <a:endParaRPr b="1" sz="3457">
                  <a:solidFill>
                    <a:srgbClr val="0A2540"/>
                  </a:solidFill>
                  <a:latin typeface="Roboto Slab"/>
                  <a:ea typeface="Roboto Slab"/>
                  <a:cs typeface="Roboto Slab"/>
                  <a:sym typeface="Roboto Slab"/>
                </a:endParaRPr>
              </a:p>
              <a:p>
                <a:pPr indent="0" lvl="0" marL="0" rtl="0" algn="ctr">
                  <a:spcBef>
                    <a:spcPts val="0"/>
                  </a:spcBef>
                  <a:spcAft>
                    <a:spcPts val="0"/>
                  </a:spcAft>
                  <a:buNone/>
                </a:pPr>
                <a:r>
                  <a:rPr b="1" lang="en-US" sz="1481">
                    <a:solidFill>
                      <a:srgbClr val="666666"/>
                    </a:solidFill>
                    <a:latin typeface="Roboto"/>
                    <a:ea typeface="Roboto"/>
                    <a:cs typeface="Roboto"/>
                    <a:sym typeface="Roboto"/>
                  </a:rPr>
                  <a:t>Giảm chi phí vận hành</a:t>
                </a:r>
                <a:endParaRPr b="1" sz="1481">
                  <a:solidFill>
                    <a:srgbClr val="666666"/>
                  </a:solidFill>
                  <a:latin typeface="Roboto"/>
                  <a:ea typeface="Roboto"/>
                  <a:cs typeface="Roboto"/>
                  <a:sym typeface="Roboto"/>
                </a:endParaRPr>
              </a:p>
            </p:txBody>
          </p:sp>
        </p:grpSp>
      </p:grpSp>
      <p:sp>
        <p:nvSpPr>
          <p:cNvPr id="121" name="Google Shape;121;p3"/>
          <p:cNvSpPr/>
          <p:nvPr/>
        </p:nvSpPr>
        <p:spPr>
          <a:xfrm>
            <a:off x="2967063" y="5242413"/>
            <a:ext cx="6991200" cy="994500"/>
          </a:xfrm>
          <a:prstGeom prst="roundRect">
            <a:avLst>
              <a:gd fmla="val 4571" name="adj"/>
            </a:avLst>
          </a:prstGeom>
          <a:solidFill>
            <a:srgbClr val="EAF5EC"/>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2938713" y="5242413"/>
            <a:ext cx="57300" cy="9945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5195413" y="5242413"/>
            <a:ext cx="2265900" cy="329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00">
                <a:solidFill>
                  <a:srgbClr val="1F603A"/>
                </a:solidFill>
              </a:rPr>
              <a:t>Động lực chính:</a:t>
            </a:r>
            <a:endParaRPr sz="1600"/>
          </a:p>
        </p:txBody>
      </p:sp>
      <p:sp>
        <p:nvSpPr>
          <p:cNvPr id="124" name="Google Shape;124;p3"/>
          <p:cNvSpPr/>
          <p:nvPr/>
        </p:nvSpPr>
        <p:spPr>
          <a:xfrm>
            <a:off x="2938563" y="5571263"/>
            <a:ext cx="6958500" cy="525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725">
                <a:solidFill>
                  <a:srgbClr val="292929"/>
                </a:solidFill>
              </a:rPr>
              <a:t>Tìm ra giải pháp </a:t>
            </a:r>
            <a:r>
              <a:rPr b="1" lang="en-US" sz="1725">
                <a:solidFill>
                  <a:srgbClr val="292929"/>
                </a:solidFill>
              </a:rPr>
              <a:t>tái sử dụng (reuse)</a:t>
            </a:r>
            <a:r>
              <a:rPr lang="en-US" sz="1725">
                <a:solidFill>
                  <a:srgbClr val="292929"/>
                </a:solidFill>
              </a:rPr>
              <a:t> các tư vấn đã biên soạn trong quá khứ cho các tình huống thời tiết tương đồng trong tương lai.</a:t>
            </a:r>
            <a:endParaRPr sz="1725">
              <a:solidFill>
                <a:srgbClr val="29292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29" name="Shape 129"/>
        <p:cNvGrpSpPr/>
        <p:nvPr/>
      </p:nvGrpSpPr>
      <p:grpSpPr>
        <a:xfrm>
          <a:off x="0" y="0"/>
          <a:ext cx="0" cy="0"/>
          <a:chOff x="0" y="0"/>
          <a:chExt cx="0" cy="0"/>
        </a:xfrm>
      </p:grpSpPr>
      <p:sp>
        <p:nvSpPr>
          <p:cNvPr id="130" name="Google Shape;130;g3fbd3ed65c2_0_61"/>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3fbd3ed65c2_0_61"/>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fbd3ed65c2_0_61"/>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3" name="Google Shape;133;g3fbd3ed65c2_0_61"/>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134" name="Google Shape;134;g3fbd3ed65c2_0_61"/>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3fbd3ed65c2_0_61"/>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136" name="Google Shape;136;g3fbd3ed65c2_0_61"/>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fbd3ed65c2_0_61"/>
          <p:cNvSpPr/>
          <p:nvPr/>
        </p:nvSpPr>
        <p:spPr>
          <a:xfrm>
            <a:off x="114300" y="3552825"/>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fbd3ed65c2_0_61"/>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01</a:t>
            </a:r>
            <a:endParaRPr/>
          </a:p>
        </p:txBody>
      </p:sp>
      <p:sp>
        <p:nvSpPr>
          <p:cNvPr id="139" name="Google Shape;139;g3fbd3ed65c2_0_61"/>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140" name="Google Shape;140;g3fbd3ed65c2_0_61"/>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141" name="Google Shape;141;g3fbd3ed65c2_0_61"/>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142" name="Google Shape;142;g3fbd3ed65c2_0_61"/>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143" name="Google Shape;143;g3fbd3ed65c2_0_61"/>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144" name="Google Shape;144;g3fbd3ed65c2_0_61"/>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3fbd3ed65c2_0_61"/>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146" name="Google Shape;146;g3fbd3ed65c2_0_61"/>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147" name="Google Shape;147;g3fbd3ed65c2_0_61"/>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4</a:t>
            </a:r>
            <a:endParaRPr/>
          </a:p>
        </p:txBody>
      </p:sp>
      <p:sp>
        <p:nvSpPr>
          <p:cNvPr id="148" name="Google Shape;148;g3fbd3ed65c2_0_61"/>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1F603A"/>
                </a:solidFill>
              </a:rPr>
              <a:t>Giới thiệu</a:t>
            </a:r>
            <a:endParaRPr b="1"/>
          </a:p>
        </p:txBody>
      </p:sp>
      <p:sp>
        <p:nvSpPr>
          <p:cNvPr id="149" name="Google Shape;149;g3fbd3ed65c2_0_61"/>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1</a:t>
            </a:r>
            <a:endParaRPr/>
          </a:p>
        </p:txBody>
      </p:sp>
      <p:sp>
        <p:nvSpPr>
          <p:cNvPr id="150" name="Google Shape;150;g3fbd3ed65c2_0_61"/>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fbd3ed65c2_0_61"/>
          <p:cNvSpPr/>
          <p:nvPr/>
        </p:nvSpPr>
        <p:spPr>
          <a:xfrm>
            <a:off x="1408725" y="1109575"/>
            <a:ext cx="10620300" cy="438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500">
                <a:solidFill>
                  <a:srgbClr val="0B2A47"/>
                </a:solidFill>
              </a:rPr>
              <a:t>3 Lợi ích lớn của việc tái sử dụng tư vấn:</a:t>
            </a:r>
            <a:endParaRPr sz="2500"/>
          </a:p>
        </p:txBody>
      </p:sp>
      <p:sp>
        <p:nvSpPr>
          <p:cNvPr id="152" name="Google Shape;152;g3fbd3ed65c2_0_61"/>
          <p:cNvSpPr/>
          <p:nvPr/>
        </p:nvSpPr>
        <p:spPr>
          <a:xfrm>
            <a:off x="-3170075" y="3738600"/>
            <a:ext cx="57300" cy="16668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fbd3ed65c2_0_61"/>
          <p:cNvSpPr/>
          <p:nvPr/>
        </p:nvSpPr>
        <p:spPr>
          <a:xfrm>
            <a:off x="1424100" y="2028525"/>
            <a:ext cx="2764500" cy="3696000"/>
          </a:xfrm>
          <a:prstGeom prst="roundRect">
            <a:avLst>
              <a:gd fmla="val 4571" name="adj"/>
            </a:avLst>
          </a:prstGeom>
          <a:solidFill>
            <a:srgbClr val="EAF5EC"/>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fbd3ed65c2_0_61"/>
          <p:cNvSpPr/>
          <p:nvPr/>
        </p:nvSpPr>
        <p:spPr>
          <a:xfrm flipH="1">
            <a:off x="1408736" y="2028525"/>
            <a:ext cx="149400" cy="36960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3fbd3ed65c2_0_61"/>
          <p:cNvSpPr/>
          <p:nvPr/>
        </p:nvSpPr>
        <p:spPr>
          <a:xfrm>
            <a:off x="1775600" y="2249600"/>
            <a:ext cx="2265900" cy="714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100">
                <a:solidFill>
                  <a:srgbClr val="1F603A"/>
                </a:solidFill>
              </a:rPr>
              <a:t>Giảm trùng lặp công việc</a:t>
            </a:r>
            <a:endParaRPr sz="1700"/>
          </a:p>
        </p:txBody>
      </p:sp>
      <p:sp>
        <p:nvSpPr>
          <p:cNvPr id="156" name="Google Shape;156;g3fbd3ed65c2_0_61"/>
          <p:cNvSpPr/>
          <p:nvPr/>
        </p:nvSpPr>
        <p:spPr>
          <a:xfrm>
            <a:off x="1724500" y="3090250"/>
            <a:ext cx="2265900" cy="23316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lang="en-US" sz="2025">
                <a:solidFill>
                  <a:srgbClr val="292929"/>
                </a:solidFill>
              </a:rPr>
              <a:t>Tái sử dụng ngay nội dung tư vấn đã có khi gặp lại điều kiện thời tiết tương tự.</a:t>
            </a:r>
            <a:endParaRPr sz="2025">
              <a:solidFill>
                <a:srgbClr val="292929"/>
              </a:solidFill>
            </a:endParaRPr>
          </a:p>
        </p:txBody>
      </p:sp>
      <p:sp>
        <p:nvSpPr>
          <p:cNvPr id="157" name="Google Shape;157;g3fbd3ed65c2_0_61"/>
          <p:cNvSpPr/>
          <p:nvPr/>
        </p:nvSpPr>
        <p:spPr>
          <a:xfrm>
            <a:off x="5189463" y="2028525"/>
            <a:ext cx="2764500" cy="3696000"/>
          </a:xfrm>
          <a:prstGeom prst="roundRect">
            <a:avLst>
              <a:gd fmla="val 4571" name="adj"/>
            </a:avLst>
          </a:prstGeom>
          <a:solidFill>
            <a:srgbClr val="EAF5EC"/>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3fbd3ed65c2_0_61"/>
          <p:cNvSpPr/>
          <p:nvPr/>
        </p:nvSpPr>
        <p:spPr>
          <a:xfrm flipH="1">
            <a:off x="5174099" y="2028525"/>
            <a:ext cx="149400" cy="36960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3fbd3ed65c2_0_61"/>
          <p:cNvSpPr/>
          <p:nvPr/>
        </p:nvSpPr>
        <p:spPr>
          <a:xfrm>
            <a:off x="5540963" y="2249600"/>
            <a:ext cx="2265900" cy="714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100">
                <a:solidFill>
                  <a:srgbClr val="1F603A"/>
                </a:solidFill>
              </a:rPr>
              <a:t>Tối ưu chi phí vận hành</a:t>
            </a:r>
            <a:endParaRPr sz="1700"/>
          </a:p>
        </p:txBody>
      </p:sp>
      <p:sp>
        <p:nvSpPr>
          <p:cNvPr id="160" name="Google Shape;160;g3fbd3ed65c2_0_61"/>
          <p:cNvSpPr/>
          <p:nvPr/>
        </p:nvSpPr>
        <p:spPr>
          <a:xfrm>
            <a:off x="5489863" y="3090250"/>
            <a:ext cx="2265900" cy="23316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lang="en-US" sz="2025">
                <a:solidFill>
                  <a:srgbClr val="292929"/>
                </a:solidFill>
              </a:rPr>
              <a:t>Vận hành hệ thống DSS hiệu quả với số lượng chuyên gia ít hơn trước.</a:t>
            </a:r>
            <a:endParaRPr sz="2025">
              <a:solidFill>
                <a:srgbClr val="292929"/>
              </a:solidFill>
            </a:endParaRPr>
          </a:p>
        </p:txBody>
      </p:sp>
      <p:sp>
        <p:nvSpPr>
          <p:cNvPr id="161" name="Google Shape;161;g3fbd3ed65c2_0_61"/>
          <p:cNvSpPr/>
          <p:nvPr/>
        </p:nvSpPr>
        <p:spPr>
          <a:xfrm>
            <a:off x="8970225" y="2028525"/>
            <a:ext cx="2764500" cy="3696000"/>
          </a:xfrm>
          <a:prstGeom prst="roundRect">
            <a:avLst>
              <a:gd fmla="val 4571" name="adj"/>
            </a:avLst>
          </a:prstGeom>
          <a:solidFill>
            <a:srgbClr val="EAF5EC"/>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fbd3ed65c2_0_61"/>
          <p:cNvSpPr/>
          <p:nvPr/>
        </p:nvSpPr>
        <p:spPr>
          <a:xfrm flipH="1">
            <a:off x="8954861" y="2028525"/>
            <a:ext cx="149400" cy="36960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g3fbd3ed65c2_0_61"/>
          <p:cNvSpPr/>
          <p:nvPr/>
        </p:nvSpPr>
        <p:spPr>
          <a:xfrm>
            <a:off x="9321725" y="2249600"/>
            <a:ext cx="2265900" cy="714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100">
                <a:solidFill>
                  <a:srgbClr val="1F603A"/>
                </a:solidFill>
              </a:rPr>
              <a:t>Nâng cao chất lượng tư vấn</a:t>
            </a:r>
            <a:endParaRPr sz="1700"/>
          </a:p>
        </p:txBody>
      </p:sp>
      <p:sp>
        <p:nvSpPr>
          <p:cNvPr id="164" name="Google Shape;164;g3fbd3ed65c2_0_61"/>
          <p:cNvSpPr/>
          <p:nvPr/>
        </p:nvSpPr>
        <p:spPr>
          <a:xfrm>
            <a:off x="9101950" y="2964200"/>
            <a:ext cx="2564100" cy="27825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lang="en-US" sz="2025">
                <a:solidFill>
                  <a:srgbClr val="292929"/>
                </a:solidFill>
              </a:rPr>
              <a:t>Huy động các chuyên gia hàng đầu xây dựng các bản tư vấn chuẩn hoá, chất lượng cao để sử dụng lâu dài.</a:t>
            </a:r>
            <a:endParaRPr sz="2025">
              <a:solidFill>
                <a:srgbClr val="29292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69" name="Shape 169"/>
        <p:cNvGrpSpPr/>
        <p:nvPr/>
      </p:nvGrpSpPr>
      <p:grpSpPr>
        <a:xfrm>
          <a:off x="0" y="0"/>
          <a:ext cx="0" cy="0"/>
          <a:chOff x="0" y="0"/>
          <a:chExt cx="0" cy="0"/>
        </a:xfrm>
      </p:grpSpPr>
      <p:sp>
        <p:nvSpPr>
          <p:cNvPr id="170" name="Google Shape;170;g3fbd3ed65c2_0_118"/>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3fbd3ed65c2_0_118"/>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fbd3ed65c2_0_118"/>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3" name="Google Shape;173;g3fbd3ed65c2_0_118"/>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174" name="Google Shape;174;g3fbd3ed65c2_0_118"/>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fbd3ed65c2_0_118"/>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176" name="Google Shape;176;g3fbd3ed65c2_0_118"/>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fbd3ed65c2_0_118"/>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178" name="Google Shape;178;g3fbd3ed65c2_0_118"/>
          <p:cNvSpPr/>
          <p:nvPr/>
        </p:nvSpPr>
        <p:spPr>
          <a:xfrm>
            <a:off x="114300" y="4019550"/>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fbd3ed65c2_0_118"/>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02</a:t>
            </a:r>
            <a:endParaRPr/>
          </a:p>
        </p:txBody>
      </p:sp>
      <p:sp>
        <p:nvSpPr>
          <p:cNvPr id="180" name="Google Shape;180;g3fbd3ed65c2_0_118"/>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181" name="Google Shape;181;g3fbd3ed65c2_0_118"/>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182" name="Google Shape;182;g3fbd3ed65c2_0_118"/>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183" name="Google Shape;183;g3fbd3ed65c2_0_118"/>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184" name="Google Shape;184;g3fbd3ed65c2_0_118"/>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fbd3ed65c2_0_118"/>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186" name="Google Shape;186;g3fbd3ed65c2_0_118"/>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187" name="Google Shape;187;g3fbd3ed65c2_0_118"/>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5</a:t>
            </a:r>
            <a:endParaRPr/>
          </a:p>
        </p:txBody>
      </p:sp>
      <p:sp>
        <p:nvSpPr>
          <p:cNvPr id="188" name="Google Shape;188;g3fbd3ed65c2_0_118"/>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1F603A"/>
                </a:solidFill>
              </a:rPr>
              <a:t>Đặt vấn đề</a:t>
            </a:r>
            <a:endParaRPr b="1"/>
          </a:p>
        </p:txBody>
      </p:sp>
      <p:sp>
        <p:nvSpPr>
          <p:cNvPr id="189" name="Google Shape;189;g3fbd3ed65c2_0_118"/>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2</a:t>
            </a:r>
            <a:endParaRPr/>
          </a:p>
        </p:txBody>
      </p:sp>
      <p:sp>
        <p:nvSpPr>
          <p:cNvPr id="190" name="Google Shape;190;g3fbd3ed65c2_0_118"/>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fbd3ed65c2_0_118"/>
          <p:cNvSpPr/>
          <p:nvPr/>
        </p:nvSpPr>
        <p:spPr>
          <a:xfrm>
            <a:off x="1448788" y="1080800"/>
            <a:ext cx="49530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a:solidFill>
                  <a:srgbClr val="292929"/>
                </a:solidFill>
                <a:latin typeface="Arial"/>
                <a:ea typeface="Arial"/>
                <a:cs typeface="Arial"/>
                <a:sym typeface="Arial"/>
              </a:rPr>
              <a:t>WC₁ = [33.0°C, 17.0°C, 85%, 58%, 0.0 mm]</a:t>
            </a:r>
            <a:endParaRPr/>
          </a:p>
        </p:txBody>
      </p:sp>
      <p:sp>
        <p:nvSpPr>
          <p:cNvPr id="192" name="Google Shape;192;g3fbd3ed65c2_0_118"/>
          <p:cNvSpPr/>
          <p:nvPr/>
        </p:nvSpPr>
        <p:spPr>
          <a:xfrm>
            <a:off x="1448788" y="1557050"/>
            <a:ext cx="49530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a:solidFill>
                  <a:srgbClr val="292929"/>
                </a:solidFill>
                <a:latin typeface="Arial"/>
                <a:ea typeface="Arial"/>
                <a:cs typeface="Arial"/>
                <a:sym typeface="Arial"/>
              </a:rPr>
              <a:t>WC₂ = [33.2°C, 17.0°C, 84%, 60%, 0.1 mm]</a:t>
            </a:r>
            <a:endParaRPr/>
          </a:p>
        </p:txBody>
      </p:sp>
      <p:sp>
        <p:nvSpPr>
          <p:cNvPr id="193" name="Google Shape;193;g3fbd3ed65c2_0_118"/>
          <p:cNvSpPr/>
          <p:nvPr/>
        </p:nvSpPr>
        <p:spPr>
          <a:xfrm>
            <a:off x="7068538" y="1176050"/>
            <a:ext cx="4095900" cy="362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100">
                <a:solidFill>
                  <a:srgbClr val="D9282F"/>
                </a:solidFill>
                <a:latin typeface="Arial"/>
                <a:ea typeface="Arial"/>
                <a:cs typeface="Arial"/>
                <a:sym typeface="Arial"/>
              </a:rPr>
              <a:t>Exact match: khác</a:t>
            </a:r>
            <a:endParaRPr/>
          </a:p>
        </p:txBody>
      </p:sp>
      <p:sp>
        <p:nvSpPr>
          <p:cNvPr id="194" name="Google Shape;194;g3fbd3ed65c2_0_118"/>
          <p:cNvSpPr/>
          <p:nvPr/>
        </p:nvSpPr>
        <p:spPr>
          <a:xfrm>
            <a:off x="7068538" y="1652300"/>
            <a:ext cx="4095900" cy="362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950">
                <a:solidFill>
                  <a:srgbClr val="1F603A"/>
                </a:solidFill>
                <a:latin typeface="Arial"/>
                <a:ea typeface="Arial"/>
                <a:cs typeface="Arial"/>
                <a:sym typeface="Arial"/>
              </a:rPr>
              <a:t>Khuyến nghị có thể giống nhau</a:t>
            </a:r>
            <a:endParaRPr/>
          </a:p>
        </p:txBody>
      </p:sp>
      <p:sp>
        <p:nvSpPr>
          <p:cNvPr id="195" name="Google Shape;195;g3fbd3ed65c2_0_118"/>
          <p:cNvSpPr/>
          <p:nvPr/>
        </p:nvSpPr>
        <p:spPr>
          <a:xfrm>
            <a:off x="1368725" y="1014450"/>
            <a:ext cx="10159500" cy="5289000"/>
          </a:xfrm>
          <a:prstGeom prst="roundRect">
            <a:avLst>
              <a:gd fmla="val 5333" name="adj"/>
            </a:avLst>
          </a:prstGeom>
          <a:solidFill>
            <a:srgbClr val="FFF8DE"/>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fbd3ed65c2_0_118"/>
          <p:cNvSpPr/>
          <p:nvPr/>
        </p:nvSpPr>
        <p:spPr>
          <a:xfrm>
            <a:off x="1368699" y="1014600"/>
            <a:ext cx="183900" cy="5289000"/>
          </a:xfrm>
          <a:prstGeom prst="rect">
            <a:avLst/>
          </a:prstGeom>
          <a:solidFill>
            <a:srgbClr val="D8B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fbd3ed65c2_0_118"/>
          <p:cNvSpPr/>
          <p:nvPr/>
        </p:nvSpPr>
        <p:spPr>
          <a:xfrm>
            <a:off x="1391663" y="1048900"/>
            <a:ext cx="10113600" cy="399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300">
                <a:solidFill>
                  <a:srgbClr val="A61C00"/>
                </a:solidFill>
              </a:rPr>
              <a:t>Hạn chế cốt lõi của mô hình số thực truyền thống</a:t>
            </a:r>
            <a:endParaRPr sz="1700"/>
          </a:p>
        </p:txBody>
      </p:sp>
      <p:sp>
        <p:nvSpPr>
          <p:cNvPr id="198" name="Google Shape;198;g3fbd3ed65c2_0_118"/>
          <p:cNvSpPr/>
          <p:nvPr/>
        </p:nvSpPr>
        <p:spPr>
          <a:xfrm>
            <a:off x="1855475" y="1448800"/>
            <a:ext cx="91860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292929"/>
                </a:solidFill>
              </a:rPr>
              <a:t>Weather Condition (WC): </a:t>
            </a:r>
            <a:r>
              <a:rPr lang="en-US" sz="1800">
                <a:solidFill>
                  <a:srgbClr val="292929"/>
                </a:solidFill>
              </a:rPr>
              <a:t>Biểu diễn trạng thái thời tiết bằng các giá trị đo lường liên tục</a:t>
            </a:r>
            <a:endParaRPr sz="1800">
              <a:solidFill>
                <a:srgbClr val="292929"/>
              </a:solidFill>
            </a:endParaRPr>
          </a:p>
        </p:txBody>
      </p:sp>
      <p:pic>
        <p:nvPicPr>
          <p:cNvPr id="199" name="Google Shape;199;g3fbd3ed65c2_0_118"/>
          <p:cNvPicPr preferRelativeResize="0"/>
          <p:nvPr/>
        </p:nvPicPr>
        <p:blipFill>
          <a:blip r:embed="rId4">
            <a:alphaModFix/>
          </a:blip>
          <a:stretch>
            <a:fillRect/>
          </a:stretch>
        </p:blipFill>
        <p:spPr>
          <a:xfrm>
            <a:off x="1855475" y="1813375"/>
            <a:ext cx="9186000" cy="3788564"/>
          </a:xfrm>
          <a:prstGeom prst="rect">
            <a:avLst/>
          </a:prstGeom>
          <a:noFill/>
          <a:ln>
            <a:noFill/>
          </a:ln>
        </p:spPr>
      </p:pic>
      <p:sp>
        <p:nvSpPr>
          <p:cNvPr id="200" name="Google Shape;200;g3fbd3ed65c2_0_118"/>
          <p:cNvSpPr/>
          <p:nvPr/>
        </p:nvSpPr>
        <p:spPr>
          <a:xfrm>
            <a:off x="1962275" y="5653722"/>
            <a:ext cx="9079200" cy="5907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g3fbd3ed65c2_0_118"/>
          <p:cNvSpPr txBox="1"/>
          <p:nvPr/>
        </p:nvSpPr>
        <p:spPr>
          <a:xfrm>
            <a:off x="1962275" y="5634150"/>
            <a:ext cx="9079200" cy="66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US" sz="1600">
                <a:solidFill>
                  <a:srgbClr val="0A2540"/>
                </a:solidFill>
                <a:latin typeface="Merriweather"/>
                <a:ea typeface="Merriweather"/>
                <a:cs typeface="Merriweather"/>
                <a:sym typeface="Merriweather"/>
              </a:rPr>
              <a:t>WC₁</a:t>
            </a:r>
            <a:r>
              <a:rPr b="0" i="1" lang="en-US" sz="1600">
                <a:solidFill>
                  <a:srgbClr val="0A2540"/>
                </a:solidFill>
                <a:latin typeface="Merriweather"/>
                <a:ea typeface="Merriweather"/>
                <a:cs typeface="Merriweather"/>
                <a:sym typeface="Merriweather"/>
              </a:rPr>
              <a:t>(</a:t>
            </a:r>
            <a:r>
              <a:rPr i="1" lang="en-US" sz="1600">
                <a:solidFill>
                  <a:srgbClr val="0A2540"/>
                </a:solidFill>
                <a:latin typeface="Merriweather"/>
                <a:ea typeface="Merriweather"/>
                <a:cs typeface="Merriweather"/>
                <a:sym typeface="Merriweather"/>
              </a:rPr>
              <a:t>5,</a:t>
            </a:r>
            <a:r>
              <a:rPr b="0" i="1" lang="en-US" sz="1600">
                <a:solidFill>
                  <a:srgbClr val="0A2540"/>
                </a:solidFill>
                <a:latin typeface="Merriweather"/>
                <a:ea typeface="Merriweather"/>
                <a:cs typeface="Merriweather"/>
                <a:sym typeface="Merriweather"/>
              </a:rPr>
              <a:t> </a:t>
            </a:r>
            <a:r>
              <a:rPr i="1" lang="en-US" sz="1600">
                <a:solidFill>
                  <a:srgbClr val="0A2540"/>
                </a:solidFill>
                <a:latin typeface="Merriweather"/>
                <a:ea typeface="Merriweather"/>
                <a:cs typeface="Merriweather"/>
                <a:sym typeface="Merriweather"/>
              </a:rPr>
              <a:t>1</a:t>
            </a:r>
            <a:r>
              <a:rPr b="0" i="1" lang="en-US" sz="1600">
                <a:solidFill>
                  <a:srgbClr val="0A2540"/>
                </a:solidFill>
                <a:latin typeface="Merriweather"/>
                <a:ea typeface="Merriweather"/>
                <a:cs typeface="Merriweather"/>
                <a:sym typeface="Merriweather"/>
              </a:rPr>
              <a:t>) = &lt; </a:t>
            </a:r>
            <a:r>
              <a:rPr i="1" lang="en-US" sz="1600">
                <a:solidFill>
                  <a:srgbClr val="0A2540"/>
                </a:solidFill>
                <a:latin typeface="Merriweather"/>
                <a:ea typeface="Merriweather"/>
                <a:cs typeface="Merriweather"/>
                <a:sym typeface="Merriweather"/>
              </a:rPr>
              <a:t>1</a:t>
            </a:r>
            <a:r>
              <a:rPr b="0" i="1" lang="en-US" sz="1600">
                <a:solidFill>
                  <a:srgbClr val="0A2540"/>
                </a:solidFill>
                <a:latin typeface="Merriweather"/>
                <a:ea typeface="Merriweather"/>
                <a:cs typeface="Merriweather"/>
                <a:sym typeface="Merriweather"/>
              </a:rPr>
              <a:t>, </a:t>
            </a:r>
            <a:r>
              <a:rPr i="1" lang="en-US" sz="1600">
                <a:solidFill>
                  <a:srgbClr val="0A2540"/>
                </a:solidFill>
                <a:latin typeface="Merriweather"/>
                <a:ea typeface="Merriweather"/>
                <a:cs typeface="Merriweather"/>
                <a:sym typeface="Merriweather"/>
              </a:rPr>
              <a:t>5</a:t>
            </a:r>
            <a:r>
              <a:rPr b="0" i="1" lang="en-US" sz="1600">
                <a:solidFill>
                  <a:srgbClr val="0A2540"/>
                </a:solidFill>
                <a:latin typeface="Merriweather"/>
                <a:ea typeface="Merriweather"/>
                <a:cs typeface="Merriweather"/>
                <a:sym typeface="Merriweather"/>
              </a:rPr>
              <a:t>, </a:t>
            </a:r>
            <a:r>
              <a:rPr i="1" lang="en-US" sz="1600">
                <a:solidFill>
                  <a:srgbClr val="0A2540"/>
                </a:solidFill>
                <a:latin typeface="Merriweather"/>
                <a:ea typeface="Merriweather"/>
                <a:cs typeface="Merriweather"/>
                <a:sym typeface="Merriweather"/>
              </a:rPr>
              <a:t>March 1st 2025</a:t>
            </a:r>
            <a:r>
              <a:rPr b="0" i="1" lang="en-US" sz="1600">
                <a:solidFill>
                  <a:srgbClr val="0A2540"/>
                </a:solidFill>
                <a:latin typeface="Merriweather"/>
                <a:ea typeface="Merriweather"/>
                <a:cs typeface="Merriweather"/>
                <a:sym typeface="Merriweather"/>
              </a:rPr>
              <a:t>, </a:t>
            </a:r>
            <a:r>
              <a:rPr i="1" lang="en-US" sz="1600">
                <a:solidFill>
                  <a:srgbClr val="0A2540"/>
                </a:solidFill>
                <a:latin typeface="Merriweather"/>
                <a:ea typeface="Merriweather"/>
                <a:cs typeface="Merriweather"/>
                <a:sym typeface="Merriweather"/>
              </a:rPr>
              <a:t>1</a:t>
            </a:r>
            <a:r>
              <a:rPr b="0" i="1" lang="en-US" sz="1600">
                <a:solidFill>
                  <a:srgbClr val="0A2540"/>
                </a:solidFill>
                <a:latin typeface="Merriweather"/>
                <a:ea typeface="Merriweather"/>
                <a:cs typeface="Merriweather"/>
                <a:sym typeface="Merriweather"/>
              </a:rPr>
              <a:t>, </a:t>
            </a:r>
            <a:r>
              <a:rPr i="1" lang="en-US" sz="1600">
                <a:solidFill>
                  <a:srgbClr val="0A2540"/>
                </a:solidFill>
                <a:latin typeface="Merriweather"/>
                <a:ea typeface="Merriweather"/>
                <a:cs typeface="Merriweather"/>
                <a:sym typeface="Merriweather"/>
              </a:rPr>
              <a:t>{Tmax, Tmin, RHmax, RHmin, RF}</a:t>
            </a:r>
            <a:r>
              <a:rPr b="0" i="1" lang="en-US" sz="1600">
                <a:solidFill>
                  <a:srgbClr val="0A2540"/>
                </a:solidFill>
                <a:latin typeface="Merriweather"/>
                <a:ea typeface="Merriweather"/>
                <a:cs typeface="Merriweather"/>
                <a:sym typeface="Merriweather"/>
              </a:rPr>
              <a:t>, </a:t>
            </a:r>
            <a:r>
              <a:rPr i="1" lang="en-US" sz="1600">
                <a:solidFill>
                  <a:srgbClr val="0A2540"/>
                </a:solidFill>
                <a:latin typeface="Merriweather"/>
                <a:ea typeface="Merriweather"/>
                <a:cs typeface="Merriweather"/>
                <a:sym typeface="Merriweather"/>
              </a:rPr>
              <a:t>{33.0, 17.0, 85.0, 58.0, 0.0}</a:t>
            </a:r>
            <a:r>
              <a:rPr b="0" i="1" lang="en-US" sz="1600">
                <a:solidFill>
                  <a:srgbClr val="0A2540"/>
                </a:solidFill>
                <a:latin typeface="Merriweather"/>
                <a:ea typeface="Merriweather"/>
                <a:cs typeface="Merriweather"/>
                <a:sym typeface="Merriweather"/>
              </a:rPr>
              <a:t> &gt;</a:t>
            </a:r>
            <a:endParaRPr b="0" i="1" sz="1600">
              <a:solidFill>
                <a:srgbClr val="0A2540"/>
              </a:solidFill>
              <a:latin typeface="Merriweather"/>
              <a:ea typeface="Merriweather"/>
              <a:cs typeface="Merriweather"/>
              <a:sym typeface="Merriweath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206" name="Shape 206"/>
        <p:cNvGrpSpPr/>
        <p:nvPr/>
      </p:nvGrpSpPr>
      <p:grpSpPr>
        <a:xfrm>
          <a:off x="0" y="0"/>
          <a:ext cx="0" cy="0"/>
          <a:chOff x="0" y="0"/>
          <a:chExt cx="0" cy="0"/>
        </a:xfrm>
      </p:grpSpPr>
      <p:sp>
        <p:nvSpPr>
          <p:cNvPr id="207" name="Google Shape;207;g3fbd3ed65c2_0_211"/>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3fbd3ed65c2_0_211"/>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3fbd3ed65c2_0_211"/>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0" name="Google Shape;210;g3fbd3ed65c2_0_211"/>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211" name="Google Shape;211;g3fbd3ed65c2_0_211"/>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fbd3ed65c2_0_211"/>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213" name="Google Shape;213;g3fbd3ed65c2_0_211"/>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fbd3ed65c2_0_211"/>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215" name="Google Shape;215;g3fbd3ed65c2_0_211"/>
          <p:cNvSpPr/>
          <p:nvPr/>
        </p:nvSpPr>
        <p:spPr>
          <a:xfrm>
            <a:off x="114300" y="4019550"/>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3fbd3ed65c2_0_211"/>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02</a:t>
            </a:r>
            <a:endParaRPr/>
          </a:p>
        </p:txBody>
      </p:sp>
      <p:sp>
        <p:nvSpPr>
          <p:cNvPr id="217" name="Google Shape;217;g3fbd3ed65c2_0_211"/>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218" name="Google Shape;218;g3fbd3ed65c2_0_211"/>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219" name="Google Shape;219;g3fbd3ed65c2_0_211"/>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220" name="Google Shape;220;g3fbd3ed65c2_0_211"/>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221" name="Google Shape;221;g3fbd3ed65c2_0_211"/>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fbd3ed65c2_0_211"/>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223" name="Google Shape;223;g3fbd3ed65c2_0_211"/>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224" name="Google Shape;224;g3fbd3ed65c2_0_211"/>
          <p:cNvSpPr/>
          <p:nvPr/>
        </p:nvSpPr>
        <p:spPr>
          <a:xfrm>
            <a:off x="11112761"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6</a:t>
            </a:r>
            <a:endParaRPr/>
          </a:p>
        </p:txBody>
      </p:sp>
      <p:sp>
        <p:nvSpPr>
          <p:cNvPr id="225" name="Google Shape;225;g3fbd3ed65c2_0_211"/>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1F603A"/>
                </a:solidFill>
              </a:rPr>
              <a:t>Đặt vấn đề</a:t>
            </a:r>
            <a:endParaRPr b="1"/>
          </a:p>
        </p:txBody>
      </p:sp>
      <p:sp>
        <p:nvSpPr>
          <p:cNvPr id="226" name="Google Shape;226;g3fbd3ed65c2_0_211"/>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2</a:t>
            </a:r>
            <a:endParaRPr/>
          </a:p>
        </p:txBody>
      </p:sp>
      <p:sp>
        <p:nvSpPr>
          <p:cNvPr id="227" name="Google Shape;227;g3fbd3ed65c2_0_211"/>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3fbd3ed65c2_0_211"/>
          <p:cNvSpPr/>
          <p:nvPr/>
        </p:nvSpPr>
        <p:spPr>
          <a:xfrm>
            <a:off x="1448788" y="1080800"/>
            <a:ext cx="49530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a:solidFill>
                  <a:srgbClr val="292929"/>
                </a:solidFill>
                <a:latin typeface="Arial"/>
                <a:ea typeface="Arial"/>
                <a:cs typeface="Arial"/>
                <a:sym typeface="Arial"/>
              </a:rPr>
              <a:t>WC₁ = [33.0°C, 17.0°C, 85%, 58%, 0.0 mm]</a:t>
            </a:r>
            <a:endParaRPr/>
          </a:p>
        </p:txBody>
      </p:sp>
      <p:sp>
        <p:nvSpPr>
          <p:cNvPr id="229" name="Google Shape;229;g3fbd3ed65c2_0_211"/>
          <p:cNvSpPr/>
          <p:nvPr/>
        </p:nvSpPr>
        <p:spPr>
          <a:xfrm>
            <a:off x="1448788" y="1557050"/>
            <a:ext cx="49530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a:solidFill>
                  <a:srgbClr val="292929"/>
                </a:solidFill>
                <a:latin typeface="Arial"/>
                <a:ea typeface="Arial"/>
                <a:cs typeface="Arial"/>
                <a:sym typeface="Arial"/>
              </a:rPr>
              <a:t>WC₂ = [33.2°C, 17.0°C, 84%, 60%, 0.1 mm]</a:t>
            </a:r>
            <a:endParaRPr/>
          </a:p>
        </p:txBody>
      </p:sp>
      <p:sp>
        <p:nvSpPr>
          <p:cNvPr id="230" name="Google Shape;230;g3fbd3ed65c2_0_211"/>
          <p:cNvSpPr/>
          <p:nvPr/>
        </p:nvSpPr>
        <p:spPr>
          <a:xfrm>
            <a:off x="7068538" y="1176050"/>
            <a:ext cx="4095900" cy="362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100">
                <a:solidFill>
                  <a:srgbClr val="D9282F"/>
                </a:solidFill>
                <a:latin typeface="Arial"/>
                <a:ea typeface="Arial"/>
                <a:cs typeface="Arial"/>
                <a:sym typeface="Arial"/>
              </a:rPr>
              <a:t>Exact match: khác</a:t>
            </a:r>
            <a:endParaRPr/>
          </a:p>
        </p:txBody>
      </p:sp>
      <p:sp>
        <p:nvSpPr>
          <p:cNvPr id="231" name="Google Shape;231;g3fbd3ed65c2_0_211"/>
          <p:cNvSpPr/>
          <p:nvPr/>
        </p:nvSpPr>
        <p:spPr>
          <a:xfrm>
            <a:off x="7068538" y="1652300"/>
            <a:ext cx="4095900" cy="362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950">
                <a:solidFill>
                  <a:srgbClr val="1F603A"/>
                </a:solidFill>
                <a:latin typeface="Arial"/>
                <a:ea typeface="Arial"/>
                <a:cs typeface="Arial"/>
                <a:sym typeface="Arial"/>
              </a:rPr>
              <a:t>Khuyến nghị có thể giống nhau</a:t>
            </a:r>
            <a:endParaRPr/>
          </a:p>
        </p:txBody>
      </p:sp>
      <p:sp>
        <p:nvSpPr>
          <p:cNvPr id="232" name="Google Shape;232;g3fbd3ed65c2_0_211"/>
          <p:cNvSpPr/>
          <p:nvPr/>
        </p:nvSpPr>
        <p:spPr>
          <a:xfrm>
            <a:off x="1368725" y="1014450"/>
            <a:ext cx="10159500" cy="5289000"/>
          </a:xfrm>
          <a:prstGeom prst="roundRect">
            <a:avLst>
              <a:gd fmla="val 5333" name="adj"/>
            </a:avLst>
          </a:prstGeom>
          <a:solidFill>
            <a:srgbClr val="FFF8DE"/>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fbd3ed65c2_0_211"/>
          <p:cNvSpPr/>
          <p:nvPr/>
        </p:nvSpPr>
        <p:spPr>
          <a:xfrm>
            <a:off x="1368699" y="1014600"/>
            <a:ext cx="183900" cy="5289000"/>
          </a:xfrm>
          <a:prstGeom prst="rect">
            <a:avLst/>
          </a:prstGeom>
          <a:solidFill>
            <a:srgbClr val="D8B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fbd3ed65c2_0_211"/>
          <p:cNvSpPr/>
          <p:nvPr/>
        </p:nvSpPr>
        <p:spPr>
          <a:xfrm>
            <a:off x="1391663" y="1048900"/>
            <a:ext cx="10113600" cy="399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300">
                <a:solidFill>
                  <a:srgbClr val="A61C00"/>
                </a:solidFill>
              </a:rPr>
              <a:t>Hạn chế cốt lõi của mô hình số thực truyền thống</a:t>
            </a:r>
            <a:endParaRPr sz="1700"/>
          </a:p>
        </p:txBody>
      </p:sp>
      <p:sp>
        <p:nvSpPr>
          <p:cNvPr id="235" name="Google Shape;235;g3fbd3ed65c2_0_211"/>
          <p:cNvSpPr/>
          <p:nvPr/>
        </p:nvSpPr>
        <p:spPr>
          <a:xfrm>
            <a:off x="1855475" y="1448800"/>
            <a:ext cx="91860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292929"/>
                </a:solidFill>
              </a:rPr>
              <a:t>Weather Condition (WC): </a:t>
            </a:r>
            <a:r>
              <a:rPr lang="en-US" sz="1800">
                <a:solidFill>
                  <a:srgbClr val="292929"/>
                </a:solidFill>
              </a:rPr>
              <a:t>Biểu diễn trạng thái thời tiết bằng các giá trị đo lường liên tục</a:t>
            </a:r>
            <a:endParaRPr sz="1800">
              <a:solidFill>
                <a:srgbClr val="292929"/>
              </a:solidFill>
            </a:endParaRPr>
          </a:p>
        </p:txBody>
      </p:sp>
      <p:sp>
        <p:nvSpPr>
          <p:cNvPr id="236" name="Google Shape;236;g3fbd3ed65c2_0_211"/>
          <p:cNvSpPr/>
          <p:nvPr/>
        </p:nvSpPr>
        <p:spPr>
          <a:xfrm>
            <a:off x="2002500" y="2047375"/>
            <a:ext cx="8901300" cy="2701200"/>
          </a:xfrm>
          <a:prstGeom prst="roundRect">
            <a:avLst>
              <a:gd fmla="val 4706" name="adj"/>
            </a:avLst>
          </a:prstGeom>
          <a:solidFill>
            <a:srgbClr val="FFFFFF"/>
          </a:solidFill>
          <a:ln cap="flat" cmpd="sng" w="14275">
            <a:solidFill>
              <a:srgbClr val="D8B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fbd3ed65c2_0_211"/>
          <p:cNvSpPr txBox="1"/>
          <p:nvPr/>
        </p:nvSpPr>
        <p:spPr>
          <a:xfrm>
            <a:off x="3912000" y="2033303"/>
            <a:ext cx="5082300" cy="1445700"/>
          </a:xfrm>
          <a:prstGeom prst="rect">
            <a:avLst/>
          </a:prstGeom>
          <a:noFill/>
          <a:ln>
            <a:noFill/>
          </a:ln>
        </p:spPr>
        <p:txBody>
          <a:bodyPr anchorCtr="0" anchor="ctr" bIns="0" lIns="0" spcFirstLastPara="1" rIns="0" wrap="square" tIns="0">
            <a:noAutofit/>
          </a:bodyPr>
          <a:lstStyle/>
          <a:p>
            <a:pPr indent="0" lvl="0" marL="0" rtl="0" algn="ctr">
              <a:lnSpc>
                <a:spcPct val="150000"/>
              </a:lnSpc>
              <a:spcBef>
                <a:spcPts val="0"/>
              </a:spcBef>
              <a:spcAft>
                <a:spcPts val="0"/>
              </a:spcAft>
              <a:buNone/>
            </a:pPr>
            <a:r>
              <a:rPr b="1" lang="en-US" sz="2000">
                <a:solidFill>
                  <a:srgbClr val="0A2540"/>
                </a:solidFill>
              </a:rPr>
              <a:t>Ta có 2 điều kiện thời tiết:</a:t>
            </a:r>
            <a:endParaRPr b="1" sz="2000">
              <a:solidFill>
                <a:srgbClr val="0A2540"/>
              </a:solidFill>
            </a:endParaRPr>
          </a:p>
          <a:p>
            <a:pPr indent="-355600" lvl="0" marL="457200" rtl="0" algn="ctr">
              <a:lnSpc>
                <a:spcPct val="150000"/>
              </a:lnSpc>
              <a:spcBef>
                <a:spcPts val="0"/>
              </a:spcBef>
              <a:spcAft>
                <a:spcPts val="0"/>
              </a:spcAft>
              <a:buClr>
                <a:srgbClr val="0A2540"/>
              </a:buClr>
              <a:buSzPts val="2000"/>
              <a:buFont typeface="Merriweather"/>
              <a:buChar char="●"/>
            </a:pPr>
            <a:r>
              <a:rPr b="0" i="1" lang="en-US" sz="2000">
                <a:solidFill>
                  <a:srgbClr val="0A2540"/>
                </a:solidFill>
                <a:latin typeface="Merriweather"/>
                <a:ea typeface="Merriweather"/>
                <a:cs typeface="Merriweather"/>
                <a:sym typeface="Merriweather"/>
              </a:rPr>
              <a:t>WCi(n, d) = &lt; i, n, s, d, V, ψ(V) &gt;</a:t>
            </a:r>
            <a:endParaRPr b="0" i="1" sz="2000">
              <a:solidFill>
                <a:srgbClr val="0A2540"/>
              </a:solidFill>
              <a:latin typeface="Merriweather"/>
              <a:ea typeface="Merriweather"/>
              <a:cs typeface="Merriweather"/>
              <a:sym typeface="Merriweather"/>
            </a:endParaRPr>
          </a:p>
          <a:p>
            <a:pPr indent="-355600" lvl="0" marL="457200" rtl="0" algn="ctr">
              <a:lnSpc>
                <a:spcPct val="150000"/>
              </a:lnSpc>
              <a:spcBef>
                <a:spcPts val="0"/>
              </a:spcBef>
              <a:spcAft>
                <a:spcPts val="0"/>
              </a:spcAft>
              <a:buClr>
                <a:srgbClr val="0A2540"/>
              </a:buClr>
              <a:buSzPts val="2000"/>
              <a:buFont typeface="Merriweather"/>
              <a:buChar char="●"/>
            </a:pPr>
            <a:r>
              <a:rPr i="1" lang="en-US" sz="2000">
                <a:solidFill>
                  <a:srgbClr val="0A2540"/>
                </a:solidFill>
                <a:latin typeface="Merriweather"/>
                <a:ea typeface="Merriweather"/>
                <a:cs typeface="Merriweather"/>
                <a:sym typeface="Merriweather"/>
              </a:rPr>
              <a:t>WCj(n, d) = &lt; j, n, s, d, V, ψ(V) &gt;</a:t>
            </a:r>
            <a:endParaRPr i="1" sz="2000">
              <a:solidFill>
                <a:srgbClr val="0A2540"/>
              </a:solidFill>
              <a:latin typeface="Merriweather"/>
              <a:ea typeface="Merriweather"/>
              <a:cs typeface="Merriweather"/>
              <a:sym typeface="Merriweather"/>
            </a:endParaRPr>
          </a:p>
        </p:txBody>
      </p:sp>
      <p:sp>
        <p:nvSpPr>
          <p:cNvPr id="238" name="Google Shape;238;g3fbd3ed65c2_0_211"/>
          <p:cNvSpPr/>
          <p:nvPr/>
        </p:nvSpPr>
        <p:spPr>
          <a:xfrm>
            <a:off x="2786850" y="3552325"/>
            <a:ext cx="7332600" cy="1026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00">
                <a:solidFill>
                  <a:srgbClr val="292929"/>
                </a:solidFill>
              </a:rPr>
              <a:t>Similar Weather Condition</a:t>
            </a:r>
            <a:r>
              <a:rPr b="1" lang="en-US" sz="2000">
                <a:solidFill>
                  <a:srgbClr val="292929"/>
                </a:solidFill>
              </a:rPr>
              <a:t>: </a:t>
            </a:r>
            <a:endParaRPr b="1" sz="2000">
              <a:solidFill>
                <a:srgbClr val="292929"/>
              </a:solidFill>
            </a:endParaRPr>
          </a:p>
          <a:p>
            <a:pPr indent="0" lvl="0" marL="0" marR="0" rtl="0" algn="ctr">
              <a:spcBef>
                <a:spcPts val="0"/>
              </a:spcBef>
              <a:spcAft>
                <a:spcPts val="0"/>
              </a:spcAft>
              <a:buNone/>
            </a:pPr>
            <a:r>
              <a:rPr lang="en-US" sz="1800">
                <a:solidFill>
                  <a:srgbClr val="292929"/>
                </a:solidFill>
              </a:rPr>
              <a:t>Điều kiện thời tiết được cho là tương đồng khi giá trị </a:t>
            </a:r>
            <a:r>
              <a:rPr b="1" i="1" lang="en-US" sz="2000">
                <a:solidFill>
                  <a:srgbClr val="0A2540"/>
                </a:solidFill>
                <a:latin typeface="Merriweather"/>
                <a:ea typeface="Merriweather"/>
                <a:cs typeface="Merriweather"/>
                <a:sym typeface="Merriweather"/>
              </a:rPr>
              <a:t>n</a:t>
            </a:r>
            <a:r>
              <a:rPr i="1" lang="en-US" sz="2000">
                <a:solidFill>
                  <a:srgbClr val="0A2540"/>
                </a:solidFill>
                <a:latin typeface="Merriweather"/>
                <a:ea typeface="Merriweather"/>
                <a:cs typeface="Merriweather"/>
                <a:sym typeface="Merriweather"/>
              </a:rPr>
              <a:t>, </a:t>
            </a:r>
            <a:r>
              <a:rPr b="1" i="1" lang="en-US" sz="2000">
                <a:solidFill>
                  <a:srgbClr val="0A2540"/>
                </a:solidFill>
                <a:latin typeface="Merriweather"/>
                <a:ea typeface="Merriweather"/>
                <a:cs typeface="Merriweather"/>
                <a:sym typeface="Merriweather"/>
              </a:rPr>
              <a:t>d</a:t>
            </a:r>
            <a:r>
              <a:rPr i="1" lang="en-US" sz="2000">
                <a:solidFill>
                  <a:srgbClr val="0A2540"/>
                </a:solidFill>
                <a:latin typeface="Merriweather"/>
                <a:ea typeface="Merriweather"/>
                <a:cs typeface="Merriweather"/>
                <a:sym typeface="Merriweather"/>
              </a:rPr>
              <a:t>, </a:t>
            </a:r>
            <a:r>
              <a:rPr b="1" i="1" lang="en-US" sz="2000">
                <a:solidFill>
                  <a:srgbClr val="0A2540"/>
                </a:solidFill>
                <a:latin typeface="Merriweather"/>
                <a:ea typeface="Merriweather"/>
                <a:cs typeface="Merriweather"/>
                <a:sym typeface="Merriweather"/>
              </a:rPr>
              <a:t>V</a:t>
            </a:r>
            <a:r>
              <a:rPr i="1" lang="en-US" sz="2000">
                <a:solidFill>
                  <a:srgbClr val="0A2540"/>
                </a:solidFill>
                <a:latin typeface="Merriweather"/>
                <a:ea typeface="Merriweather"/>
                <a:cs typeface="Merriweather"/>
                <a:sym typeface="Merriweather"/>
              </a:rPr>
              <a:t>, </a:t>
            </a:r>
            <a:r>
              <a:rPr b="1" i="1" lang="en-US" sz="2000">
                <a:solidFill>
                  <a:srgbClr val="0A2540"/>
                </a:solidFill>
                <a:latin typeface="Merriweather"/>
                <a:ea typeface="Merriweather"/>
                <a:cs typeface="Merriweather"/>
                <a:sym typeface="Merriweather"/>
              </a:rPr>
              <a:t>ψ(V)</a:t>
            </a:r>
            <a:r>
              <a:rPr lang="en-US" sz="1800">
                <a:solidFill>
                  <a:srgbClr val="292929"/>
                </a:solidFill>
              </a:rPr>
              <a:t> của cả hai WC là bằng nhau</a:t>
            </a:r>
            <a:endParaRPr sz="1800">
              <a:solidFill>
                <a:srgbClr val="292929"/>
              </a:solidFill>
            </a:endParaRPr>
          </a:p>
        </p:txBody>
      </p:sp>
      <p:sp>
        <p:nvSpPr>
          <p:cNvPr id="239" name="Google Shape;239;g3fbd3ed65c2_0_211"/>
          <p:cNvSpPr/>
          <p:nvPr/>
        </p:nvSpPr>
        <p:spPr>
          <a:xfrm>
            <a:off x="3195800" y="4928050"/>
            <a:ext cx="6800100" cy="873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200">
                <a:solidFill>
                  <a:srgbClr val="292929"/>
                </a:solidFill>
              </a:rPr>
              <a:t>Dữ liệu hoàn toàn là các</a:t>
            </a:r>
            <a:r>
              <a:rPr b="1" lang="en-US" sz="2200">
                <a:solidFill>
                  <a:srgbClr val="292929"/>
                </a:solidFill>
              </a:rPr>
              <a:t> số thực (Real Number), </a:t>
            </a:r>
            <a:r>
              <a:rPr lang="en-US" sz="2200">
                <a:solidFill>
                  <a:srgbClr val="292929"/>
                </a:solidFill>
              </a:rPr>
              <a:t>tạo ra sự cứng nhắc tuyệt đối.</a:t>
            </a:r>
            <a:endParaRPr sz="2200">
              <a:solidFill>
                <a:srgbClr val="292929"/>
              </a:solidFill>
            </a:endParaRPr>
          </a:p>
          <a:p>
            <a:pPr indent="0" lvl="0" marL="0" marR="0" rtl="0" algn="l">
              <a:spcBef>
                <a:spcPts val="0"/>
              </a:spcBef>
              <a:spcAft>
                <a:spcPts val="0"/>
              </a:spcAft>
              <a:buNone/>
            </a:pPr>
            <a:r>
              <a:t/>
            </a:r>
            <a:endParaRPr b="1" sz="1800">
              <a:solidFill>
                <a:srgbClr val="292929"/>
              </a:solidFill>
            </a:endParaRPr>
          </a:p>
        </p:txBody>
      </p:sp>
      <p:sp>
        <p:nvSpPr>
          <p:cNvPr id="240" name="Google Shape;240;g3fbd3ed65c2_0_211"/>
          <p:cNvSpPr/>
          <p:nvPr/>
        </p:nvSpPr>
        <p:spPr>
          <a:xfrm>
            <a:off x="2112700" y="5157800"/>
            <a:ext cx="867000" cy="730500"/>
          </a:xfrm>
          <a:prstGeom prst="rightArrow">
            <a:avLst>
              <a:gd fmla="val 50000" name="adj1"/>
              <a:gd fmla="val 50000" name="adj2"/>
            </a:avLst>
          </a:prstGeom>
          <a:solidFill>
            <a:srgbClr val="D9282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g3fbd3ed65c2_0_211"/>
          <p:cNvSpPr txBox="1"/>
          <p:nvPr/>
        </p:nvSpPr>
        <p:spPr>
          <a:xfrm>
            <a:off x="3539802" y="5801350"/>
            <a:ext cx="5817000" cy="35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600"/>
              </a:spcAft>
              <a:buNone/>
            </a:pPr>
            <a:r>
              <a:rPr i="1" lang="en-US" sz="2150">
                <a:solidFill>
                  <a:srgbClr val="0A2540"/>
                </a:solidFill>
                <a:latin typeface="Merriweather"/>
                <a:ea typeface="Merriweather"/>
                <a:cs typeface="Merriweather"/>
                <a:sym typeface="Merriweather"/>
              </a:rPr>
              <a:t>P(WC₁ ≡ WC₂) ≈ 0 (với n ≥ 3)</a:t>
            </a:r>
            <a:endParaRPr i="1" sz="1750">
              <a:solidFill>
                <a:srgbClr val="555555"/>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246" name="Shape 246"/>
        <p:cNvGrpSpPr/>
        <p:nvPr/>
      </p:nvGrpSpPr>
      <p:grpSpPr>
        <a:xfrm>
          <a:off x="0" y="0"/>
          <a:ext cx="0" cy="0"/>
          <a:chOff x="0" y="0"/>
          <a:chExt cx="0" cy="0"/>
        </a:xfrm>
      </p:grpSpPr>
      <p:sp>
        <p:nvSpPr>
          <p:cNvPr id="247" name="Google Shape;247;g3fbd3ed65c2_0_173"/>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fbd3ed65c2_0_173"/>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9" name="Google Shape;249;g3fbd3ed65c2_0_173"/>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250" name="Google Shape;250;g3fbd3ed65c2_0_173"/>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fbd3ed65c2_0_173"/>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252" name="Google Shape;252;g3fbd3ed65c2_0_173"/>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3fbd3ed65c2_0_173"/>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254" name="Google Shape;254;g3fbd3ed65c2_0_173"/>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255" name="Google Shape;255;g3fbd3ed65c2_0_173"/>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7</a:t>
            </a:r>
            <a:endParaRPr/>
          </a:p>
        </p:txBody>
      </p:sp>
      <p:sp>
        <p:nvSpPr>
          <p:cNvPr id="256" name="Google Shape;256;g3fbd3ed65c2_0_173"/>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1F603A"/>
                </a:solidFill>
              </a:rPr>
              <a:t>Đặt vấn đề</a:t>
            </a:r>
            <a:endParaRPr b="1"/>
          </a:p>
        </p:txBody>
      </p:sp>
      <p:sp>
        <p:nvSpPr>
          <p:cNvPr id="257" name="Google Shape;257;g3fbd3ed65c2_0_173"/>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2</a:t>
            </a:r>
            <a:endParaRPr/>
          </a:p>
        </p:txBody>
      </p:sp>
      <p:sp>
        <p:nvSpPr>
          <p:cNvPr id="258" name="Google Shape;258;g3fbd3ed65c2_0_173"/>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3fbd3ed65c2_0_173"/>
          <p:cNvSpPr/>
          <p:nvPr/>
        </p:nvSpPr>
        <p:spPr>
          <a:xfrm>
            <a:off x="1448788" y="1080800"/>
            <a:ext cx="49530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a:solidFill>
                  <a:srgbClr val="292929"/>
                </a:solidFill>
                <a:latin typeface="Arial"/>
                <a:ea typeface="Arial"/>
                <a:cs typeface="Arial"/>
                <a:sym typeface="Arial"/>
              </a:rPr>
              <a:t>WC₁ = [33.0°C, 17.0°C, 85%, 58%, 0.0 mm]</a:t>
            </a:r>
            <a:endParaRPr/>
          </a:p>
        </p:txBody>
      </p:sp>
      <p:sp>
        <p:nvSpPr>
          <p:cNvPr id="260" name="Google Shape;260;g3fbd3ed65c2_0_173"/>
          <p:cNvSpPr/>
          <p:nvPr/>
        </p:nvSpPr>
        <p:spPr>
          <a:xfrm>
            <a:off x="1448788" y="1557050"/>
            <a:ext cx="49530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a:solidFill>
                  <a:srgbClr val="292929"/>
                </a:solidFill>
                <a:latin typeface="Arial"/>
                <a:ea typeface="Arial"/>
                <a:cs typeface="Arial"/>
                <a:sym typeface="Arial"/>
              </a:rPr>
              <a:t>WC₂ = [33.2°C, 17.0°C, 84%, 60%, 0.1 mm]</a:t>
            </a:r>
            <a:endParaRPr/>
          </a:p>
        </p:txBody>
      </p:sp>
      <p:sp>
        <p:nvSpPr>
          <p:cNvPr id="261" name="Google Shape;261;g3fbd3ed65c2_0_173"/>
          <p:cNvSpPr/>
          <p:nvPr/>
        </p:nvSpPr>
        <p:spPr>
          <a:xfrm>
            <a:off x="7068538" y="1176050"/>
            <a:ext cx="4095900" cy="362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100">
                <a:solidFill>
                  <a:srgbClr val="D9282F"/>
                </a:solidFill>
                <a:latin typeface="Arial"/>
                <a:ea typeface="Arial"/>
                <a:cs typeface="Arial"/>
                <a:sym typeface="Arial"/>
              </a:rPr>
              <a:t>Exact match: khác</a:t>
            </a:r>
            <a:endParaRPr/>
          </a:p>
        </p:txBody>
      </p:sp>
      <p:sp>
        <p:nvSpPr>
          <p:cNvPr id="262" name="Google Shape;262;g3fbd3ed65c2_0_173"/>
          <p:cNvSpPr/>
          <p:nvPr/>
        </p:nvSpPr>
        <p:spPr>
          <a:xfrm>
            <a:off x="7068538" y="1652300"/>
            <a:ext cx="4095900" cy="362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950">
                <a:solidFill>
                  <a:srgbClr val="1F603A"/>
                </a:solidFill>
                <a:latin typeface="Arial"/>
                <a:ea typeface="Arial"/>
                <a:cs typeface="Arial"/>
                <a:sym typeface="Arial"/>
              </a:rPr>
              <a:t>Khuyến nghị có thể giống nhau</a:t>
            </a:r>
            <a:endParaRPr/>
          </a:p>
        </p:txBody>
      </p:sp>
      <p:sp>
        <p:nvSpPr>
          <p:cNvPr id="263" name="Google Shape;263;g3fbd3ed65c2_0_173"/>
          <p:cNvSpPr/>
          <p:nvPr/>
        </p:nvSpPr>
        <p:spPr>
          <a:xfrm>
            <a:off x="1368725" y="1014450"/>
            <a:ext cx="10159500" cy="5289000"/>
          </a:xfrm>
          <a:prstGeom prst="roundRect">
            <a:avLst>
              <a:gd fmla="val 5333" name="adj"/>
            </a:avLst>
          </a:prstGeom>
          <a:solidFill>
            <a:srgbClr val="FFF8DE"/>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3fbd3ed65c2_0_173"/>
          <p:cNvSpPr/>
          <p:nvPr/>
        </p:nvSpPr>
        <p:spPr>
          <a:xfrm>
            <a:off x="1368699" y="1014600"/>
            <a:ext cx="183900" cy="5289000"/>
          </a:xfrm>
          <a:prstGeom prst="rect">
            <a:avLst/>
          </a:prstGeom>
          <a:solidFill>
            <a:srgbClr val="D8B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3fbd3ed65c2_0_173"/>
          <p:cNvSpPr/>
          <p:nvPr/>
        </p:nvSpPr>
        <p:spPr>
          <a:xfrm>
            <a:off x="1391663" y="1048900"/>
            <a:ext cx="10113600" cy="399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300">
                <a:solidFill>
                  <a:srgbClr val="A61C00"/>
                </a:solidFill>
              </a:rPr>
              <a:t>Hạn chế cốt lõi của mô hình số thực truyền thống</a:t>
            </a:r>
            <a:endParaRPr sz="1700"/>
          </a:p>
        </p:txBody>
      </p:sp>
      <p:sp>
        <p:nvSpPr>
          <p:cNvPr id="266" name="Google Shape;266;g3fbd3ed65c2_0_173"/>
          <p:cNvSpPr/>
          <p:nvPr/>
        </p:nvSpPr>
        <p:spPr>
          <a:xfrm>
            <a:off x="1855475" y="1448800"/>
            <a:ext cx="91860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292929"/>
                </a:solidFill>
              </a:rPr>
              <a:t>Weather Condition (WC): </a:t>
            </a:r>
            <a:r>
              <a:rPr lang="en-US" sz="1800">
                <a:solidFill>
                  <a:srgbClr val="292929"/>
                </a:solidFill>
              </a:rPr>
              <a:t>Biểu diễn trạng thái thời tiết bằng các giá trị đo lường liên tục</a:t>
            </a:r>
            <a:endParaRPr sz="1800">
              <a:solidFill>
                <a:srgbClr val="292929"/>
              </a:solidFill>
            </a:endParaRPr>
          </a:p>
        </p:txBody>
      </p:sp>
      <p:pic>
        <p:nvPicPr>
          <p:cNvPr id="267" name="Google Shape;267;g3fbd3ed65c2_0_173"/>
          <p:cNvPicPr preferRelativeResize="0"/>
          <p:nvPr/>
        </p:nvPicPr>
        <p:blipFill>
          <a:blip r:embed="rId4">
            <a:alphaModFix/>
          </a:blip>
          <a:stretch>
            <a:fillRect/>
          </a:stretch>
        </p:blipFill>
        <p:spPr>
          <a:xfrm>
            <a:off x="1801900" y="1800100"/>
            <a:ext cx="9444000" cy="3562607"/>
          </a:xfrm>
          <a:prstGeom prst="rect">
            <a:avLst/>
          </a:prstGeom>
          <a:noFill/>
          <a:ln>
            <a:noFill/>
          </a:ln>
        </p:spPr>
      </p:pic>
      <p:grpSp>
        <p:nvGrpSpPr>
          <p:cNvPr id="268" name="Google Shape;268;g3fbd3ed65c2_0_173"/>
          <p:cNvGrpSpPr/>
          <p:nvPr/>
        </p:nvGrpSpPr>
        <p:grpSpPr>
          <a:xfrm>
            <a:off x="1801900" y="5462550"/>
            <a:ext cx="9443828" cy="728708"/>
            <a:chOff x="0" y="0"/>
            <a:chExt cx="3924300" cy="1190700"/>
          </a:xfrm>
        </p:grpSpPr>
        <p:sp>
          <p:nvSpPr>
            <p:cNvPr id="269" name="Google Shape;269;g3fbd3ed65c2_0_173"/>
            <p:cNvSpPr/>
            <p:nvPr/>
          </p:nvSpPr>
          <p:spPr>
            <a:xfrm>
              <a:off x="0" y="0"/>
              <a:ext cx="3924300" cy="1190700"/>
            </a:xfrm>
            <a:prstGeom prst="roundRect">
              <a:avLst>
                <a:gd fmla="val 3200"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70" name="Google Shape;270;g3fbd3ed65c2_0_173"/>
            <p:cNvCxnSpPr/>
            <p:nvPr/>
          </p:nvCxnSpPr>
          <p:spPr>
            <a:xfrm>
              <a:off x="0" y="0"/>
              <a:ext cx="0" cy="1190700"/>
            </a:xfrm>
            <a:prstGeom prst="straightConnector1">
              <a:avLst/>
            </a:prstGeom>
            <a:solidFill>
              <a:srgbClr val="FFFFFF"/>
            </a:solidFill>
            <a:ln cap="flat" cmpd="sng" w="57150">
              <a:solidFill>
                <a:srgbClr val="B91C1C"/>
              </a:solidFill>
              <a:prstDash val="solid"/>
              <a:round/>
              <a:headEnd len="sm" w="sm" type="none"/>
              <a:tailEnd len="sm" w="sm" type="none"/>
            </a:ln>
          </p:spPr>
        </p:cxnSp>
        <p:sp>
          <p:nvSpPr>
            <p:cNvPr id="271" name="Google Shape;271;g3fbd3ed65c2_0_173"/>
            <p:cNvSpPr txBox="1"/>
            <p:nvPr/>
          </p:nvSpPr>
          <p:spPr>
            <a:xfrm>
              <a:off x="74756" y="142892"/>
              <a:ext cx="37875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450"/>
                </a:spcAft>
                <a:buNone/>
              </a:pPr>
              <a:r>
                <a:rPr b="0" lang="en-US" sz="2050">
                  <a:solidFill>
                    <a:srgbClr val="B91C1C"/>
                  </a:solidFill>
                  <a:latin typeface="Roboto Slab SemiBold"/>
                  <a:ea typeface="Roboto Slab SemiBold"/>
                  <a:cs typeface="Roboto Slab SemiBold"/>
                  <a:sym typeface="Roboto Slab SemiBold"/>
                </a:rPr>
                <a:t>Hậu quả đối với hệ DSS</a:t>
              </a:r>
              <a:r>
                <a:rPr lang="en-US" sz="2050">
                  <a:solidFill>
                    <a:srgbClr val="B91C1C"/>
                  </a:solidFill>
                  <a:latin typeface="Roboto Slab SemiBold"/>
                  <a:ea typeface="Roboto Slab SemiBold"/>
                  <a:cs typeface="Roboto Slab SemiBold"/>
                  <a:sym typeface="Roboto Slab SemiBold"/>
                </a:rPr>
                <a:t>: </a:t>
              </a:r>
              <a:r>
                <a:rPr lang="en-US" sz="1850">
                  <a:solidFill>
                    <a:srgbClr val="333333"/>
                  </a:solidFill>
                  <a:latin typeface="Roboto"/>
                  <a:ea typeface="Roboto"/>
                  <a:cs typeface="Roboto"/>
                  <a:sym typeface="Roboto"/>
                </a:rPr>
                <a:t>Không thể </a:t>
              </a:r>
              <a:r>
                <a:rPr b="1" lang="en-US" sz="1850">
                  <a:solidFill>
                    <a:srgbClr val="333333"/>
                  </a:solidFill>
                  <a:latin typeface="Roboto"/>
                  <a:ea typeface="Roboto"/>
                  <a:cs typeface="Roboto"/>
                  <a:sym typeface="Roboto"/>
                </a:rPr>
                <a:t>tái sử dụng (Reuse)</a:t>
              </a:r>
              <a:r>
                <a:rPr lang="en-US" sz="1850">
                  <a:solidFill>
                    <a:srgbClr val="333333"/>
                  </a:solidFill>
                  <a:latin typeface="Roboto"/>
                  <a:ea typeface="Roboto"/>
                  <a:cs typeface="Roboto"/>
                  <a:sym typeface="Roboto"/>
                </a:rPr>
                <a:t> khuyến nghị cũ. Mọi khuyến nghị đều phải viết mới từ đầu, gây lãng phí chuyên gia và tài nguyên tính toán.</a:t>
              </a:r>
              <a:endParaRPr sz="1850">
                <a:solidFill>
                  <a:srgbClr val="333333"/>
                </a:solidFill>
                <a:latin typeface="Roboto"/>
                <a:ea typeface="Roboto"/>
                <a:cs typeface="Roboto"/>
                <a:sym typeface="Roboto"/>
              </a:endParaRPr>
            </a:p>
          </p:txBody>
        </p:sp>
      </p:grpSp>
      <p:sp>
        <p:nvSpPr>
          <p:cNvPr id="272" name="Google Shape;272;g3fbd3ed65c2_0_173"/>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3fbd3ed65c2_0_173"/>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fbd3ed65c2_0_173"/>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275" name="Google Shape;275;g3fbd3ed65c2_0_173"/>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276" name="Google Shape;276;g3fbd3ed65c2_0_173"/>
          <p:cNvSpPr/>
          <p:nvPr/>
        </p:nvSpPr>
        <p:spPr>
          <a:xfrm>
            <a:off x="114300" y="4486275"/>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fbd3ed65c2_0_173"/>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03</a:t>
            </a:r>
            <a:endParaRPr/>
          </a:p>
        </p:txBody>
      </p:sp>
      <p:sp>
        <p:nvSpPr>
          <p:cNvPr id="278" name="Google Shape;278;g3fbd3ed65c2_0_173"/>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279" name="Google Shape;279;g3fbd3ed65c2_0_173"/>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280" name="Google Shape;280;g3fbd3ed65c2_0_173"/>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285" name="Shape 285"/>
        <p:cNvGrpSpPr/>
        <p:nvPr/>
      </p:nvGrpSpPr>
      <p:grpSpPr>
        <a:xfrm>
          <a:off x="0" y="0"/>
          <a:ext cx="0" cy="0"/>
          <a:chOff x="0" y="0"/>
          <a:chExt cx="0" cy="0"/>
        </a:xfrm>
      </p:grpSpPr>
      <p:sp>
        <p:nvSpPr>
          <p:cNvPr id="286" name="Google Shape;286;p7"/>
          <p:cNvSpPr/>
          <p:nvPr/>
        </p:nvSpPr>
        <p:spPr>
          <a:xfrm>
            <a:off x="0" y="0"/>
            <a:ext cx="12192000" cy="66675"/>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7"/>
          <p:cNvSpPr/>
          <p:nvPr/>
        </p:nvSpPr>
        <p:spPr>
          <a:xfrm>
            <a:off x="0" y="66675"/>
            <a:ext cx="12192000" cy="47625"/>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7"/>
          <p:cNvSpPr/>
          <p:nvPr/>
        </p:nvSpPr>
        <p:spPr>
          <a:xfrm>
            <a:off x="0" y="0"/>
            <a:ext cx="85725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9" name="Google Shape;289;p7"/>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290" name="Google Shape;290;p7"/>
          <p:cNvSpPr/>
          <p:nvPr/>
        </p:nvSpPr>
        <p:spPr>
          <a:xfrm>
            <a:off x="409575" y="952500"/>
            <a:ext cx="19050" cy="59055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7"/>
          <p:cNvSpPr/>
          <p:nvPr/>
        </p:nvSpPr>
        <p:spPr>
          <a:xfrm>
            <a:off x="66675" y="1962150"/>
            <a:ext cx="714375" cy="2476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292" name="Google Shape;292;p7"/>
          <p:cNvSpPr/>
          <p:nvPr/>
        </p:nvSpPr>
        <p:spPr>
          <a:xfrm>
            <a:off x="114300" y="3476625"/>
            <a:ext cx="628650" cy="295275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7"/>
          <p:cNvSpPr/>
          <p:nvPr/>
        </p:nvSpPr>
        <p:spPr>
          <a:xfrm>
            <a:off x="171450" y="35909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294" name="Google Shape;294;p7"/>
          <p:cNvSpPr/>
          <p:nvPr/>
        </p:nvSpPr>
        <p:spPr>
          <a:xfrm>
            <a:off x="171450" y="40576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295" name="Google Shape;295;p7"/>
          <p:cNvSpPr/>
          <p:nvPr/>
        </p:nvSpPr>
        <p:spPr>
          <a:xfrm>
            <a:off x="114300" y="4486275"/>
            <a:ext cx="628650" cy="40005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7"/>
          <p:cNvSpPr/>
          <p:nvPr/>
        </p:nvSpPr>
        <p:spPr>
          <a:xfrm>
            <a:off x="171450" y="452437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03</a:t>
            </a:r>
            <a:endParaRPr/>
          </a:p>
        </p:txBody>
      </p:sp>
      <p:sp>
        <p:nvSpPr>
          <p:cNvPr id="297" name="Google Shape;297;p7"/>
          <p:cNvSpPr/>
          <p:nvPr/>
        </p:nvSpPr>
        <p:spPr>
          <a:xfrm>
            <a:off x="171450" y="499110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298" name="Google Shape;298;p7"/>
          <p:cNvSpPr/>
          <p:nvPr/>
        </p:nvSpPr>
        <p:spPr>
          <a:xfrm>
            <a:off x="171450" y="54578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299" name="Google Shape;299;p7"/>
          <p:cNvSpPr/>
          <p:nvPr/>
        </p:nvSpPr>
        <p:spPr>
          <a:xfrm>
            <a:off x="171450" y="59245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300" name="Google Shape;300;p7"/>
          <p:cNvSpPr/>
          <p:nvPr/>
        </p:nvSpPr>
        <p:spPr>
          <a:xfrm>
            <a:off x="1123950" y="6467475"/>
            <a:ext cx="10648950"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7"/>
          <p:cNvSpPr/>
          <p:nvPr/>
        </p:nvSpPr>
        <p:spPr>
          <a:xfrm>
            <a:off x="1143000" y="6553200"/>
            <a:ext cx="609600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302" name="Google Shape;302;p7"/>
          <p:cNvSpPr/>
          <p:nvPr/>
        </p:nvSpPr>
        <p:spPr>
          <a:xfrm>
            <a:off x="7810500" y="6553200"/>
            <a:ext cx="285750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303" name="Google Shape;303;p7"/>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8</a:t>
            </a:r>
            <a:endParaRPr/>
          </a:p>
        </p:txBody>
      </p:sp>
      <p:sp>
        <p:nvSpPr>
          <p:cNvPr id="304" name="Google Shape;304;p7"/>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1F603A"/>
                </a:solidFill>
              </a:rPr>
              <a:t>Phương pháp đề xuất</a:t>
            </a:r>
            <a:endParaRPr b="1"/>
          </a:p>
        </p:txBody>
      </p:sp>
      <p:sp>
        <p:nvSpPr>
          <p:cNvPr id="305" name="Google Shape;305;p7"/>
          <p:cNvSpPr/>
          <p:nvPr/>
        </p:nvSpPr>
        <p:spPr>
          <a:xfrm>
            <a:off x="9620250" y="371475"/>
            <a:ext cx="200025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3</a:t>
            </a:r>
            <a:endParaRPr/>
          </a:p>
        </p:txBody>
      </p:sp>
      <p:sp>
        <p:nvSpPr>
          <p:cNvPr id="306" name="Google Shape;306;p7"/>
          <p:cNvSpPr/>
          <p:nvPr/>
        </p:nvSpPr>
        <p:spPr>
          <a:xfrm>
            <a:off x="1143000" y="847725"/>
            <a:ext cx="10620375"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7"/>
          <p:cNvSpPr/>
          <p:nvPr/>
        </p:nvSpPr>
        <p:spPr>
          <a:xfrm>
            <a:off x="1143000" y="1104900"/>
            <a:ext cx="10620375"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25">
                <a:solidFill>
                  <a:srgbClr val="0B2A47"/>
                </a:solidFill>
                <a:latin typeface="Arial"/>
                <a:ea typeface="Arial"/>
                <a:cs typeface="Arial"/>
                <a:sym typeface="Arial"/>
              </a:rPr>
              <a:t>Quy trình biến dữ liệu thời tiết liên tục thành khả năng tái sử dụng có thể đo lường.</a:t>
            </a:r>
            <a:endParaRPr/>
          </a:p>
        </p:txBody>
      </p:sp>
      <p:sp>
        <p:nvSpPr>
          <p:cNvPr id="308" name="Google Shape;308;p7"/>
          <p:cNvSpPr/>
          <p:nvPr/>
        </p:nvSpPr>
        <p:spPr>
          <a:xfrm>
            <a:off x="1744000" y="1859425"/>
            <a:ext cx="2232300" cy="1743300"/>
          </a:xfrm>
          <a:prstGeom prst="roundRect">
            <a:avLst>
              <a:gd fmla="val 5517" name="adj"/>
            </a:avLst>
          </a:prstGeom>
          <a:solidFill>
            <a:srgbClr val="FFFFFF"/>
          </a:solidFill>
          <a:ln cap="flat" cmpd="sng" w="14275">
            <a:solidFill>
              <a:srgbClr val="0B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7"/>
          <p:cNvSpPr/>
          <p:nvPr/>
        </p:nvSpPr>
        <p:spPr>
          <a:xfrm>
            <a:off x="1852250" y="1976088"/>
            <a:ext cx="3048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025">
                <a:solidFill>
                  <a:srgbClr val="1478D4"/>
                </a:solidFill>
                <a:latin typeface="Arial"/>
                <a:ea typeface="Arial"/>
                <a:cs typeface="Arial"/>
                <a:sym typeface="Arial"/>
              </a:rPr>
              <a:t>1</a:t>
            </a:r>
            <a:endParaRPr/>
          </a:p>
        </p:txBody>
      </p:sp>
      <p:sp>
        <p:nvSpPr>
          <p:cNvPr id="310" name="Google Shape;310;p7"/>
          <p:cNvSpPr/>
          <p:nvPr/>
        </p:nvSpPr>
        <p:spPr>
          <a:xfrm>
            <a:off x="2023700" y="1976088"/>
            <a:ext cx="17022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950">
                <a:solidFill>
                  <a:srgbClr val="0B2A47"/>
                </a:solidFill>
              </a:rPr>
              <a:t>WC</a:t>
            </a:r>
            <a:endParaRPr/>
          </a:p>
        </p:txBody>
      </p:sp>
      <p:sp>
        <p:nvSpPr>
          <p:cNvPr id="311" name="Google Shape;311;p7"/>
          <p:cNvSpPr/>
          <p:nvPr/>
        </p:nvSpPr>
        <p:spPr>
          <a:xfrm>
            <a:off x="1796800" y="2476500"/>
            <a:ext cx="2126700" cy="5907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lang="en-US" sz="1575">
                <a:solidFill>
                  <a:srgbClr val="292929"/>
                </a:solidFill>
              </a:rPr>
              <a:t>Định nghĩa điều kiện thời tiết thực tế</a:t>
            </a:r>
            <a:endParaRPr/>
          </a:p>
        </p:txBody>
      </p:sp>
      <p:sp>
        <p:nvSpPr>
          <p:cNvPr id="312" name="Google Shape;312;p7"/>
          <p:cNvSpPr/>
          <p:nvPr/>
        </p:nvSpPr>
        <p:spPr>
          <a:xfrm>
            <a:off x="4146308" y="2362225"/>
            <a:ext cx="857400" cy="590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4000">
                <a:solidFill>
                  <a:srgbClr val="1F603A"/>
                </a:solidFill>
                <a:latin typeface="Arial"/>
                <a:ea typeface="Arial"/>
                <a:cs typeface="Arial"/>
                <a:sym typeface="Arial"/>
              </a:rPr>
              <a:t>→</a:t>
            </a:r>
            <a:endParaRPr sz="4000"/>
          </a:p>
        </p:txBody>
      </p:sp>
      <p:sp>
        <p:nvSpPr>
          <p:cNvPr id="313" name="Google Shape;313;p7"/>
          <p:cNvSpPr/>
          <p:nvPr/>
        </p:nvSpPr>
        <p:spPr>
          <a:xfrm>
            <a:off x="5173712" y="1859425"/>
            <a:ext cx="2232300" cy="1743300"/>
          </a:xfrm>
          <a:prstGeom prst="roundRect">
            <a:avLst>
              <a:gd fmla="val 5517" name="adj"/>
            </a:avLst>
          </a:prstGeom>
          <a:solidFill>
            <a:srgbClr val="FFFFFF"/>
          </a:solidFill>
          <a:ln cap="flat" cmpd="sng" w="14275">
            <a:solidFill>
              <a:srgbClr val="0B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7"/>
          <p:cNvSpPr/>
          <p:nvPr/>
        </p:nvSpPr>
        <p:spPr>
          <a:xfrm>
            <a:off x="5227813" y="1976100"/>
            <a:ext cx="3048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025">
                <a:solidFill>
                  <a:srgbClr val="1478D4"/>
                </a:solidFill>
                <a:latin typeface="Arial"/>
                <a:ea typeface="Arial"/>
                <a:cs typeface="Arial"/>
                <a:sym typeface="Arial"/>
              </a:rPr>
              <a:t>2</a:t>
            </a:r>
            <a:endParaRPr/>
          </a:p>
        </p:txBody>
      </p:sp>
      <p:sp>
        <p:nvSpPr>
          <p:cNvPr id="315" name="Google Shape;315;p7"/>
          <p:cNvSpPr/>
          <p:nvPr/>
        </p:nvSpPr>
        <p:spPr>
          <a:xfrm>
            <a:off x="5357675" y="1858900"/>
            <a:ext cx="1935900" cy="676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950">
                <a:solidFill>
                  <a:srgbClr val="0B2A47"/>
                </a:solidFill>
              </a:rPr>
              <a:t>Define WC Similarity</a:t>
            </a:r>
            <a:endParaRPr/>
          </a:p>
        </p:txBody>
      </p:sp>
      <p:sp>
        <p:nvSpPr>
          <p:cNvPr id="316" name="Google Shape;316;p7"/>
          <p:cNvSpPr/>
          <p:nvPr/>
        </p:nvSpPr>
        <p:spPr>
          <a:xfrm>
            <a:off x="5226500" y="2476388"/>
            <a:ext cx="2126700" cy="10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575">
                <a:solidFill>
                  <a:srgbClr val="292929"/>
                </a:solidFill>
              </a:rPr>
              <a:t>Kiểm tra điều kiện để hai tình huống thời tiết WC được coi là giống nhau</a:t>
            </a:r>
            <a:endParaRPr/>
          </a:p>
        </p:txBody>
      </p:sp>
      <p:sp>
        <p:nvSpPr>
          <p:cNvPr id="317" name="Google Shape;317;p7"/>
          <p:cNvSpPr/>
          <p:nvPr/>
        </p:nvSpPr>
        <p:spPr>
          <a:xfrm>
            <a:off x="7647550" y="2433450"/>
            <a:ext cx="714300" cy="590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4000">
                <a:solidFill>
                  <a:srgbClr val="1F603A"/>
                </a:solidFill>
                <a:latin typeface="Arial"/>
                <a:ea typeface="Arial"/>
                <a:cs typeface="Arial"/>
                <a:sym typeface="Arial"/>
              </a:rPr>
              <a:t>→</a:t>
            </a:r>
            <a:endParaRPr sz="4000"/>
          </a:p>
        </p:txBody>
      </p:sp>
      <p:sp>
        <p:nvSpPr>
          <p:cNvPr id="318" name="Google Shape;318;p7"/>
          <p:cNvSpPr/>
          <p:nvPr/>
        </p:nvSpPr>
        <p:spPr>
          <a:xfrm>
            <a:off x="8603400" y="1857153"/>
            <a:ext cx="2232300" cy="1743300"/>
          </a:xfrm>
          <a:prstGeom prst="roundRect">
            <a:avLst>
              <a:gd fmla="val 5517" name="adj"/>
            </a:avLst>
          </a:prstGeom>
          <a:solidFill>
            <a:srgbClr val="FFFFFF"/>
          </a:solidFill>
          <a:ln cap="flat" cmpd="sng" w="14275">
            <a:solidFill>
              <a:srgbClr val="0B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7"/>
          <p:cNvSpPr/>
          <p:nvPr/>
        </p:nvSpPr>
        <p:spPr>
          <a:xfrm>
            <a:off x="8674950" y="1975065"/>
            <a:ext cx="3048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025">
                <a:solidFill>
                  <a:srgbClr val="1478D4"/>
                </a:solidFill>
                <a:latin typeface="Arial"/>
                <a:ea typeface="Arial"/>
                <a:cs typeface="Arial"/>
                <a:sym typeface="Arial"/>
              </a:rPr>
              <a:t>3</a:t>
            </a:r>
            <a:endParaRPr/>
          </a:p>
        </p:txBody>
      </p:sp>
      <p:sp>
        <p:nvSpPr>
          <p:cNvPr id="320" name="Google Shape;320;p7"/>
          <p:cNvSpPr/>
          <p:nvPr/>
        </p:nvSpPr>
        <p:spPr>
          <a:xfrm>
            <a:off x="8925350" y="1969075"/>
            <a:ext cx="17022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950">
                <a:solidFill>
                  <a:srgbClr val="0B2A47"/>
                </a:solidFill>
                <a:latin typeface="Arial"/>
                <a:ea typeface="Arial"/>
                <a:cs typeface="Arial"/>
                <a:sym typeface="Arial"/>
              </a:rPr>
              <a:t>WCT &amp; </a:t>
            </a:r>
            <a:r>
              <a:rPr b="1" lang="en-US" sz="1950">
                <a:solidFill>
                  <a:srgbClr val="0B2A47"/>
                </a:solidFill>
              </a:rPr>
              <a:t>CWC</a:t>
            </a:r>
            <a:endParaRPr/>
          </a:p>
        </p:txBody>
      </p:sp>
      <p:sp>
        <p:nvSpPr>
          <p:cNvPr id="321" name="Google Shape;321;p7"/>
          <p:cNvSpPr/>
          <p:nvPr/>
        </p:nvSpPr>
        <p:spPr>
          <a:xfrm>
            <a:off x="8656200" y="2271750"/>
            <a:ext cx="2126700" cy="10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575">
                <a:solidFill>
                  <a:srgbClr val="292929"/>
                </a:solidFill>
              </a:rPr>
              <a:t>Xây dựng bảng Weather Condition Table và chuyển đổi sang Category-based Weather Condition</a:t>
            </a:r>
            <a:endParaRPr/>
          </a:p>
        </p:txBody>
      </p:sp>
      <p:sp>
        <p:nvSpPr>
          <p:cNvPr id="322" name="Google Shape;322;p7"/>
          <p:cNvSpPr/>
          <p:nvPr/>
        </p:nvSpPr>
        <p:spPr>
          <a:xfrm rot="5400000">
            <a:off x="9438350" y="3449813"/>
            <a:ext cx="533100" cy="767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4000">
                <a:solidFill>
                  <a:srgbClr val="1F603A"/>
                </a:solidFill>
                <a:latin typeface="Arial"/>
                <a:ea typeface="Arial"/>
                <a:cs typeface="Arial"/>
                <a:sym typeface="Arial"/>
              </a:rPr>
              <a:t>→</a:t>
            </a:r>
            <a:endParaRPr sz="4000"/>
          </a:p>
        </p:txBody>
      </p:sp>
      <p:sp>
        <p:nvSpPr>
          <p:cNvPr id="323" name="Google Shape;323;p7"/>
          <p:cNvSpPr/>
          <p:nvPr/>
        </p:nvSpPr>
        <p:spPr>
          <a:xfrm>
            <a:off x="5173700" y="4280288"/>
            <a:ext cx="2232300" cy="1728900"/>
          </a:xfrm>
          <a:prstGeom prst="roundRect">
            <a:avLst>
              <a:gd fmla="val 5517" name="adj"/>
            </a:avLst>
          </a:prstGeom>
          <a:solidFill>
            <a:srgbClr val="FFFFFF"/>
          </a:solidFill>
          <a:ln cap="flat" cmpd="sng" w="14275">
            <a:solidFill>
              <a:srgbClr val="0B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7"/>
          <p:cNvSpPr/>
          <p:nvPr/>
        </p:nvSpPr>
        <p:spPr>
          <a:xfrm flipH="1" rot="10800000">
            <a:off x="4207475" y="4891125"/>
            <a:ext cx="749700" cy="676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4000">
                <a:solidFill>
                  <a:srgbClr val="1F603A"/>
                </a:solidFill>
                <a:latin typeface="Arial"/>
                <a:ea typeface="Arial"/>
                <a:cs typeface="Arial"/>
                <a:sym typeface="Arial"/>
              </a:rPr>
              <a:t>→</a:t>
            </a:r>
            <a:endParaRPr sz="4000"/>
          </a:p>
        </p:txBody>
      </p:sp>
      <p:sp>
        <p:nvSpPr>
          <p:cNvPr id="325" name="Google Shape;325;p7"/>
          <p:cNvSpPr/>
          <p:nvPr/>
        </p:nvSpPr>
        <p:spPr>
          <a:xfrm>
            <a:off x="1758638" y="4289888"/>
            <a:ext cx="2232300" cy="1709700"/>
          </a:xfrm>
          <a:prstGeom prst="roundRect">
            <a:avLst>
              <a:gd fmla="val 5517" name="adj"/>
            </a:avLst>
          </a:prstGeom>
          <a:solidFill>
            <a:srgbClr val="EAF5EC"/>
          </a:solidFill>
          <a:ln cap="flat" cmpd="sng" w="14275">
            <a:solidFill>
              <a:srgbClr val="1F6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7"/>
          <p:cNvSpPr/>
          <p:nvPr/>
        </p:nvSpPr>
        <p:spPr>
          <a:xfrm>
            <a:off x="1852250" y="4405125"/>
            <a:ext cx="3048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25">
                <a:solidFill>
                  <a:srgbClr val="1F603A"/>
                </a:solidFill>
              </a:rPr>
              <a:t>6</a:t>
            </a:r>
            <a:endParaRPr/>
          </a:p>
        </p:txBody>
      </p:sp>
      <p:sp>
        <p:nvSpPr>
          <p:cNvPr id="327" name="Google Shape;327;p7"/>
          <p:cNvSpPr/>
          <p:nvPr/>
        </p:nvSpPr>
        <p:spPr>
          <a:xfrm>
            <a:off x="5383223" y="4236712"/>
            <a:ext cx="1935900" cy="676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950">
                <a:solidFill>
                  <a:srgbClr val="0B2A47"/>
                </a:solidFill>
                <a:latin typeface="Arial"/>
                <a:ea typeface="Arial"/>
                <a:cs typeface="Arial"/>
                <a:sym typeface="Arial"/>
              </a:rPr>
              <a:t>C</a:t>
            </a:r>
            <a:r>
              <a:rPr b="1" lang="en-US" sz="1950">
                <a:solidFill>
                  <a:srgbClr val="0B2A47"/>
                </a:solidFill>
              </a:rPr>
              <a:t>overage </a:t>
            </a:r>
            <a:r>
              <a:rPr b="1" i="0" lang="en-US" sz="1950">
                <a:solidFill>
                  <a:srgbClr val="0B2A47"/>
                </a:solidFill>
                <a:latin typeface="Arial"/>
                <a:ea typeface="Arial"/>
                <a:cs typeface="Arial"/>
                <a:sym typeface="Arial"/>
              </a:rPr>
              <a:t>P</a:t>
            </a:r>
            <a:r>
              <a:rPr b="1" lang="en-US" sz="1950">
                <a:solidFill>
                  <a:srgbClr val="0B2A47"/>
                </a:solidFill>
              </a:rPr>
              <a:t>ercentage</a:t>
            </a:r>
            <a:endParaRPr/>
          </a:p>
        </p:txBody>
      </p:sp>
      <p:sp>
        <p:nvSpPr>
          <p:cNvPr id="328" name="Google Shape;328;p7"/>
          <p:cNvSpPr/>
          <p:nvPr/>
        </p:nvSpPr>
        <p:spPr>
          <a:xfrm>
            <a:off x="5158000" y="4886325"/>
            <a:ext cx="2232300" cy="10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575">
                <a:solidFill>
                  <a:srgbClr val="292929"/>
                </a:solidFill>
              </a:rPr>
              <a:t>Đánh giá phần trăm thông tin tư vấn ở chu kỳ hiện tại có thể tái sử dụng từ quá khứ</a:t>
            </a:r>
            <a:endParaRPr/>
          </a:p>
        </p:txBody>
      </p:sp>
      <p:sp>
        <p:nvSpPr>
          <p:cNvPr id="329" name="Google Shape;329;p7"/>
          <p:cNvSpPr/>
          <p:nvPr/>
        </p:nvSpPr>
        <p:spPr>
          <a:xfrm>
            <a:off x="8588750" y="4229100"/>
            <a:ext cx="2232300" cy="1743300"/>
          </a:xfrm>
          <a:prstGeom prst="roundRect">
            <a:avLst>
              <a:gd fmla="val 5517" name="adj"/>
            </a:avLst>
          </a:prstGeom>
          <a:solidFill>
            <a:srgbClr val="FFFFFF"/>
          </a:solidFill>
          <a:ln cap="flat" cmpd="sng" w="14275">
            <a:solidFill>
              <a:srgbClr val="0B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7"/>
          <p:cNvSpPr/>
          <p:nvPr/>
        </p:nvSpPr>
        <p:spPr>
          <a:xfrm>
            <a:off x="8979750" y="4324350"/>
            <a:ext cx="17022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950">
                <a:solidFill>
                  <a:srgbClr val="0B2A47"/>
                </a:solidFill>
              </a:rPr>
              <a:t>Period Type</a:t>
            </a:r>
            <a:endParaRPr/>
          </a:p>
        </p:txBody>
      </p:sp>
      <p:sp>
        <p:nvSpPr>
          <p:cNvPr id="331" name="Google Shape;331;p7"/>
          <p:cNvSpPr/>
          <p:nvPr/>
        </p:nvSpPr>
        <p:spPr>
          <a:xfrm>
            <a:off x="8674950" y="4324350"/>
            <a:ext cx="3048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025">
                <a:solidFill>
                  <a:srgbClr val="1478D4"/>
                </a:solidFill>
                <a:latin typeface="Arial"/>
                <a:ea typeface="Arial"/>
                <a:cs typeface="Arial"/>
                <a:sym typeface="Arial"/>
              </a:rPr>
              <a:t>4</a:t>
            </a:r>
            <a:endParaRPr/>
          </a:p>
        </p:txBody>
      </p:sp>
      <p:sp>
        <p:nvSpPr>
          <p:cNvPr id="332" name="Google Shape;332;p7"/>
          <p:cNvSpPr/>
          <p:nvPr/>
        </p:nvSpPr>
        <p:spPr>
          <a:xfrm>
            <a:off x="8675625" y="4746747"/>
            <a:ext cx="2126700" cy="97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sz="1575">
                <a:solidFill>
                  <a:srgbClr val="292929"/>
                </a:solidFill>
              </a:rPr>
              <a:t>Lựa chọn loại chu kỳ thời gian, chia nhỏ chuỗi dữ liệu thành các chu kỳ so sánh</a:t>
            </a:r>
            <a:endParaRPr/>
          </a:p>
        </p:txBody>
      </p:sp>
      <p:sp>
        <p:nvSpPr>
          <p:cNvPr id="333" name="Google Shape;333;p7"/>
          <p:cNvSpPr/>
          <p:nvPr/>
        </p:nvSpPr>
        <p:spPr>
          <a:xfrm flipH="1" rot="10800000">
            <a:off x="7622525" y="4891125"/>
            <a:ext cx="749700" cy="676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4000">
                <a:solidFill>
                  <a:srgbClr val="1F603A"/>
                </a:solidFill>
                <a:latin typeface="Arial"/>
                <a:ea typeface="Arial"/>
                <a:cs typeface="Arial"/>
                <a:sym typeface="Arial"/>
              </a:rPr>
              <a:t>→</a:t>
            </a:r>
            <a:endParaRPr sz="4000"/>
          </a:p>
        </p:txBody>
      </p:sp>
      <p:sp>
        <p:nvSpPr>
          <p:cNvPr id="334" name="Google Shape;334;p7"/>
          <p:cNvSpPr/>
          <p:nvPr/>
        </p:nvSpPr>
        <p:spPr>
          <a:xfrm>
            <a:off x="5263600" y="4405125"/>
            <a:ext cx="3048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25">
                <a:solidFill>
                  <a:srgbClr val="1478D4"/>
                </a:solidFill>
              </a:rPr>
              <a:t>5</a:t>
            </a:r>
            <a:endParaRPr/>
          </a:p>
        </p:txBody>
      </p:sp>
      <p:sp>
        <p:nvSpPr>
          <p:cNvPr id="335" name="Google Shape;335;p7"/>
          <p:cNvSpPr/>
          <p:nvPr/>
        </p:nvSpPr>
        <p:spPr>
          <a:xfrm>
            <a:off x="2005051" y="4257153"/>
            <a:ext cx="1935900" cy="676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950">
                <a:solidFill>
                  <a:srgbClr val="0B2A47"/>
                </a:solidFill>
              </a:rPr>
              <a:t>Algorithmic Automation</a:t>
            </a:r>
            <a:endParaRPr/>
          </a:p>
        </p:txBody>
      </p:sp>
      <p:sp>
        <p:nvSpPr>
          <p:cNvPr id="336" name="Google Shape;336;p7"/>
          <p:cNvSpPr/>
          <p:nvPr/>
        </p:nvSpPr>
        <p:spPr>
          <a:xfrm>
            <a:off x="1758650" y="4886325"/>
            <a:ext cx="2232300" cy="10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575">
                <a:solidFill>
                  <a:srgbClr val="292929"/>
                </a:solidFill>
              </a:rPr>
              <a:t>Tổng hợp toàn bộ quy trình để tính toán chuỗi chỉ số CP qua các năm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341" name="Shape 341"/>
        <p:cNvGrpSpPr/>
        <p:nvPr/>
      </p:nvGrpSpPr>
      <p:grpSpPr>
        <a:xfrm>
          <a:off x="0" y="0"/>
          <a:ext cx="0" cy="0"/>
          <a:chOff x="0" y="0"/>
          <a:chExt cx="0" cy="0"/>
        </a:xfrm>
      </p:grpSpPr>
      <p:sp>
        <p:nvSpPr>
          <p:cNvPr id="342" name="Google Shape;342;g3fbd3ed65c2_0_635"/>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g3fbd3ed65c2_0_635"/>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g3fbd3ed65c2_0_635"/>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5" name="Google Shape;345;g3fbd3ed65c2_0_635"/>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346" name="Google Shape;346;g3fbd3ed65c2_0_635"/>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3fbd3ed65c2_0_635"/>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348" name="Google Shape;348;g3fbd3ed65c2_0_635"/>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g3fbd3ed65c2_0_635"/>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350" name="Google Shape;350;g3fbd3ed65c2_0_635"/>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351" name="Google Shape;351;g3fbd3ed65c2_0_635"/>
          <p:cNvSpPr/>
          <p:nvPr/>
        </p:nvSpPr>
        <p:spPr>
          <a:xfrm>
            <a:off x="114300" y="4486275"/>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g3fbd3ed65c2_0_635"/>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03</a:t>
            </a:r>
            <a:endParaRPr/>
          </a:p>
        </p:txBody>
      </p:sp>
      <p:sp>
        <p:nvSpPr>
          <p:cNvPr id="353" name="Google Shape;353;g3fbd3ed65c2_0_635"/>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354" name="Google Shape;354;g3fbd3ed65c2_0_635"/>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355" name="Google Shape;355;g3fbd3ed65c2_0_635"/>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356" name="Google Shape;356;g3fbd3ed65c2_0_635"/>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g3fbd3ed65c2_0_635"/>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358" name="Google Shape;358;g3fbd3ed65c2_0_635"/>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359" name="Google Shape;359;g3fbd3ed65c2_0_635"/>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9</a:t>
            </a:r>
            <a:endParaRPr/>
          </a:p>
        </p:txBody>
      </p:sp>
      <p:sp>
        <p:nvSpPr>
          <p:cNvPr id="360" name="Google Shape;360;g3fbd3ed65c2_0_635"/>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1F603A"/>
                </a:solidFill>
              </a:rPr>
              <a:t>Phương pháp đề xuất</a:t>
            </a:r>
            <a:endParaRPr b="1"/>
          </a:p>
        </p:txBody>
      </p:sp>
      <p:sp>
        <p:nvSpPr>
          <p:cNvPr id="361" name="Google Shape;361;g3fbd3ed65c2_0_635"/>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3</a:t>
            </a:r>
            <a:endParaRPr/>
          </a:p>
        </p:txBody>
      </p:sp>
      <p:sp>
        <p:nvSpPr>
          <p:cNvPr id="362" name="Google Shape;362;g3fbd3ed65c2_0_635"/>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g3fbd3ed65c2_0_635"/>
          <p:cNvSpPr/>
          <p:nvPr/>
        </p:nvSpPr>
        <p:spPr>
          <a:xfrm>
            <a:off x="1138350" y="932888"/>
            <a:ext cx="106203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25">
                <a:solidFill>
                  <a:srgbClr val="0B2A47"/>
                </a:solidFill>
              </a:rPr>
              <a:t>Bảng phân loại điều kiện thời tiết (WCT)</a:t>
            </a:r>
            <a:endParaRPr/>
          </a:p>
        </p:txBody>
      </p:sp>
      <p:sp>
        <p:nvSpPr>
          <p:cNvPr id="364" name="Google Shape;364;g3fbd3ed65c2_0_635"/>
          <p:cNvSpPr/>
          <p:nvPr/>
        </p:nvSpPr>
        <p:spPr>
          <a:xfrm>
            <a:off x="1123950" y="1384638"/>
            <a:ext cx="3428665" cy="504215"/>
          </a:xfrm>
          <a:prstGeom prst="rect">
            <a:avLst/>
          </a:prstGeom>
          <a:solidFill>
            <a:srgbClr val="0A254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g3fbd3ed65c2_0_635"/>
          <p:cNvSpPr txBox="1"/>
          <p:nvPr/>
        </p:nvSpPr>
        <p:spPr>
          <a:xfrm>
            <a:off x="1250004" y="1485481"/>
            <a:ext cx="3176557" cy="302529"/>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FFFFFF"/>
                </a:solidFill>
                <a:latin typeface="Roboto"/>
                <a:ea typeface="Roboto"/>
                <a:cs typeface="Roboto"/>
                <a:sym typeface="Roboto"/>
              </a:rPr>
              <a:t>NHIỆT ĐỘ (°C)</a:t>
            </a:r>
            <a:endParaRPr b="1" sz="1456">
              <a:solidFill>
                <a:srgbClr val="FFFFFF"/>
              </a:solidFill>
              <a:latin typeface="Roboto"/>
              <a:ea typeface="Roboto"/>
              <a:cs typeface="Roboto"/>
              <a:sym typeface="Roboto"/>
            </a:endParaRPr>
          </a:p>
        </p:txBody>
      </p:sp>
      <p:sp>
        <p:nvSpPr>
          <p:cNvPr id="366" name="Google Shape;366;g3fbd3ed65c2_0_635"/>
          <p:cNvSpPr/>
          <p:nvPr/>
        </p:nvSpPr>
        <p:spPr>
          <a:xfrm>
            <a:off x="1123950" y="1888853"/>
            <a:ext cx="3428665" cy="605058"/>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67" name="Google Shape;367;g3fbd3ed65c2_0_635"/>
          <p:cNvCxnSpPr/>
          <p:nvPr/>
        </p:nvCxnSpPr>
        <p:spPr>
          <a:xfrm>
            <a:off x="1123950" y="2493911"/>
            <a:ext cx="3428665"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368" name="Google Shape;368;g3fbd3ed65c2_0_635"/>
          <p:cNvSpPr txBox="1"/>
          <p:nvPr/>
        </p:nvSpPr>
        <p:spPr>
          <a:xfrm>
            <a:off x="1250004" y="1888853"/>
            <a:ext cx="1260539" cy="60505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[-1, 1]</a:t>
            </a:r>
            <a:endParaRPr b="1" sz="1456">
              <a:solidFill>
                <a:srgbClr val="0A2540"/>
              </a:solidFill>
              <a:latin typeface="Roboto"/>
              <a:ea typeface="Roboto"/>
              <a:cs typeface="Roboto"/>
              <a:sym typeface="Roboto"/>
            </a:endParaRPr>
          </a:p>
        </p:txBody>
      </p:sp>
      <p:sp>
        <p:nvSpPr>
          <p:cNvPr id="369" name="Google Shape;369;g3fbd3ed65c2_0_635"/>
          <p:cNvSpPr txBox="1"/>
          <p:nvPr/>
        </p:nvSpPr>
        <p:spPr>
          <a:xfrm>
            <a:off x="2510542" y="1888853"/>
            <a:ext cx="1916019" cy="60505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456">
                <a:solidFill>
                  <a:srgbClr val="333333"/>
                </a:solidFill>
                <a:latin typeface="Roboto"/>
                <a:ea typeface="Roboto"/>
                <a:cs typeface="Roboto"/>
                <a:sym typeface="Roboto"/>
              </a:rPr>
              <a:t>Little change</a:t>
            </a:r>
            <a:endParaRPr b="0" sz="1456">
              <a:solidFill>
                <a:srgbClr val="333333"/>
              </a:solidFill>
              <a:latin typeface="Roboto"/>
              <a:ea typeface="Roboto"/>
              <a:cs typeface="Roboto"/>
              <a:sym typeface="Roboto"/>
            </a:endParaRPr>
          </a:p>
        </p:txBody>
      </p:sp>
      <p:sp>
        <p:nvSpPr>
          <p:cNvPr id="370" name="Google Shape;370;g3fbd3ed65c2_0_635"/>
          <p:cNvSpPr/>
          <p:nvPr/>
        </p:nvSpPr>
        <p:spPr>
          <a:xfrm>
            <a:off x="1123950" y="2493911"/>
            <a:ext cx="3428665" cy="605058"/>
          </a:xfrm>
          <a:prstGeom prst="rect">
            <a:avLst/>
          </a:prstGeom>
          <a:solidFill>
            <a:srgbClr val="FBFB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71" name="Google Shape;371;g3fbd3ed65c2_0_635"/>
          <p:cNvCxnSpPr/>
          <p:nvPr/>
        </p:nvCxnSpPr>
        <p:spPr>
          <a:xfrm>
            <a:off x="1123950" y="3098970"/>
            <a:ext cx="3428665"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372" name="Google Shape;372;g3fbd3ed65c2_0_635"/>
          <p:cNvSpPr txBox="1"/>
          <p:nvPr/>
        </p:nvSpPr>
        <p:spPr>
          <a:xfrm>
            <a:off x="1250004" y="2493911"/>
            <a:ext cx="1260539" cy="60505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±2</a:t>
            </a:r>
            <a:endParaRPr b="1" sz="1456">
              <a:solidFill>
                <a:srgbClr val="0A2540"/>
              </a:solidFill>
              <a:latin typeface="Roboto"/>
              <a:ea typeface="Roboto"/>
              <a:cs typeface="Roboto"/>
              <a:sym typeface="Roboto"/>
            </a:endParaRPr>
          </a:p>
        </p:txBody>
      </p:sp>
      <p:sp>
        <p:nvSpPr>
          <p:cNvPr id="373" name="Google Shape;373;g3fbd3ed65c2_0_635"/>
          <p:cNvSpPr txBox="1"/>
          <p:nvPr/>
        </p:nvSpPr>
        <p:spPr>
          <a:xfrm>
            <a:off x="2510542" y="2493911"/>
            <a:ext cx="1916019" cy="60505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456">
                <a:solidFill>
                  <a:srgbClr val="333333"/>
                </a:solidFill>
                <a:latin typeface="Roboto"/>
                <a:ea typeface="Roboto"/>
                <a:cs typeface="Roboto"/>
                <a:sym typeface="Roboto"/>
              </a:rPr>
              <a:t>Rise / Fall</a:t>
            </a:r>
            <a:endParaRPr b="0" sz="1456">
              <a:solidFill>
                <a:srgbClr val="333333"/>
              </a:solidFill>
              <a:latin typeface="Roboto"/>
              <a:ea typeface="Roboto"/>
              <a:cs typeface="Roboto"/>
              <a:sym typeface="Roboto"/>
            </a:endParaRPr>
          </a:p>
        </p:txBody>
      </p:sp>
      <p:sp>
        <p:nvSpPr>
          <p:cNvPr id="374" name="Google Shape;374;g3fbd3ed65c2_0_635"/>
          <p:cNvSpPr/>
          <p:nvPr/>
        </p:nvSpPr>
        <p:spPr>
          <a:xfrm>
            <a:off x="1123950" y="3098970"/>
            <a:ext cx="3428665" cy="605058"/>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75" name="Google Shape;375;g3fbd3ed65c2_0_635"/>
          <p:cNvCxnSpPr/>
          <p:nvPr/>
        </p:nvCxnSpPr>
        <p:spPr>
          <a:xfrm>
            <a:off x="1123950" y="3704028"/>
            <a:ext cx="3428665"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376" name="Google Shape;376;g3fbd3ed65c2_0_635"/>
          <p:cNvSpPr txBox="1"/>
          <p:nvPr/>
        </p:nvSpPr>
        <p:spPr>
          <a:xfrm>
            <a:off x="1250004" y="3098970"/>
            <a:ext cx="1260539" cy="60505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±[3, 4]</a:t>
            </a:r>
            <a:endParaRPr b="1" sz="1456">
              <a:solidFill>
                <a:srgbClr val="0A2540"/>
              </a:solidFill>
              <a:latin typeface="Roboto"/>
              <a:ea typeface="Roboto"/>
              <a:cs typeface="Roboto"/>
              <a:sym typeface="Roboto"/>
            </a:endParaRPr>
          </a:p>
        </p:txBody>
      </p:sp>
      <p:sp>
        <p:nvSpPr>
          <p:cNvPr id="377" name="Google Shape;377;g3fbd3ed65c2_0_635"/>
          <p:cNvSpPr txBox="1"/>
          <p:nvPr/>
        </p:nvSpPr>
        <p:spPr>
          <a:xfrm>
            <a:off x="2510542" y="3098970"/>
            <a:ext cx="1916019" cy="60505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456">
                <a:solidFill>
                  <a:srgbClr val="333333"/>
                </a:solidFill>
                <a:latin typeface="Roboto"/>
                <a:ea typeface="Roboto"/>
                <a:cs typeface="Roboto"/>
                <a:sym typeface="Roboto"/>
              </a:rPr>
              <a:t>Appreciable </a:t>
            </a:r>
            <a:r>
              <a:rPr lang="en-US" sz="1456">
                <a:solidFill>
                  <a:srgbClr val="333333"/>
                </a:solidFill>
                <a:latin typeface="Roboto"/>
                <a:ea typeface="Roboto"/>
                <a:cs typeface="Roboto"/>
                <a:sym typeface="Roboto"/>
              </a:rPr>
              <a:t>Rise/Fall</a:t>
            </a:r>
            <a:endParaRPr b="0" sz="1456">
              <a:solidFill>
                <a:srgbClr val="333333"/>
              </a:solidFill>
              <a:latin typeface="Roboto"/>
              <a:ea typeface="Roboto"/>
              <a:cs typeface="Roboto"/>
              <a:sym typeface="Roboto"/>
            </a:endParaRPr>
          </a:p>
        </p:txBody>
      </p:sp>
      <p:grpSp>
        <p:nvGrpSpPr>
          <p:cNvPr id="378" name="Google Shape;378;g3fbd3ed65c2_0_635"/>
          <p:cNvGrpSpPr/>
          <p:nvPr/>
        </p:nvGrpSpPr>
        <p:grpSpPr>
          <a:xfrm>
            <a:off x="4855241" y="1384638"/>
            <a:ext cx="3428665" cy="2924449"/>
            <a:chOff x="0" y="0"/>
            <a:chExt cx="2590800" cy="2209800"/>
          </a:xfrm>
        </p:grpSpPr>
        <p:sp>
          <p:nvSpPr>
            <p:cNvPr id="379" name="Google Shape;379;g3fbd3ed65c2_0_635"/>
            <p:cNvSpPr/>
            <p:nvPr/>
          </p:nvSpPr>
          <p:spPr>
            <a:xfrm>
              <a:off x="0" y="0"/>
              <a:ext cx="2590800" cy="381000"/>
            </a:xfrm>
            <a:prstGeom prst="rect">
              <a:avLst/>
            </a:prstGeom>
            <a:solidFill>
              <a:srgbClr val="1E563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0" name="Google Shape;380;g3fbd3ed65c2_0_635"/>
            <p:cNvSpPr txBox="1"/>
            <p:nvPr/>
          </p:nvSpPr>
          <p:spPr>
            <a:xfrm>
              <a:off x="95250" y="76200"/>
              <a:ext cx="24003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FFFFFF"/>
                  </a:solidFill>
                  <a:latin typeface="Roboto"/>
                  <a:ea typeface="Roboto"/>
                  <a:cs typeface="Roboto"/>
                  <a:sym typeface="Roboto"/>
                </a:rPr>
                <a:t>ĐỘ ẨM (RH %)</a:t>
              </a:r>
              <a:endParaRPr b="1" sz="1456">
                <a:solidFill>
                  <a:srgbClr val="FFFFFF"/>
                </a:solidFill>
                <a:latin typeface="Roboto"/>
                <a:ea typeface="Roboto"/>
                <a:cs typeface="Roboto"/>
                <a:sym typeface="Roboto"/>
              </a:endParaRPr>
            </a:p>
          </p:txBody>
        </p:sp>
        <p:sp>
          <p:nvSpPr>
            <p:cNvPr id="381" name="Google Shape;381;g3fbd3ed65c2_0_635"/>
            <p:cNvSpPr/>
            <p:nvPr/>
          </p:nvSpPr>
          <p:spPr>
            <a:xfrm>
              <a:off x="0" y="381000"/>
              <a:ext cx="2590800" cy="4572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82" name="Google Shape;382;g3fbd3ed65c2_0_635"/>
            <p:cNvCxnSpPr/>
            <p:nvPr/>
          </p:nvCxnSpPr>
          <p:spPr>
            <a:xfrm>
              <a:off x="0" y="838200"/>
              <a:ext cx="2590800"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383" name="Google Shape;383;g3fbd3ed65c2_0_635"/>
            <p:cNvSpPr txBox="1"/>
            <p:nvPr/>
          </p:nvSpPr>
          <p:spPr>
            <a:xfrm>
              <a:off x="95250" y="381000"/>
              <a:ext cx="9525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0 - 30</a:t>
              </a:r>
              <a:endParaRPr b="1" sz="1456">
                <a:solidFill>
                  <a:srgbClr val="0A2540"/>
                </a:solidFill>
                <a:latin typeface="Roboto"/>
                <a:ea typeface="Roboto"/>
                <a:cs typeface="Roboto"/>
                <a:sym typeface="Roboto"/>
              </a:endParaRPr>
            </a:p>
          </p:txBody>
        </p:sp>
        <p:sp>
          <p:nvSpPr>
            <p:cNvPr id="384" name="Google Shape;384;g3fbd3ed65c2_0_635"/>
            <p:cNvSpPr txBox="1"/>
            <p:nvPr/>
          </p:nvSpPr>
          <p:spPr>
            <a:xfrm>
              <a:off x="1047750" y="381000"/>
              <a:ext cx="14478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456">
                  <a:solidFill>
                    <a:srgbClr val="333333"/>
                  </a:solidFill>
                  <a:latin typeface="Roboto"/>
                  <a:ea typeface="Roboto"/>
                  <a:cs typeface="Roboto"/>
                  <a:sym typeface="Roboto"/>
                </a:rPr>
                <a:t>Low</a:t>
              </a:r>
              <a:endParaRPr b="0" sz="1456">
                <a:solidFill>
                  <a:srgbClr val="333333"/>
                </a:solidFill>
                <a:latin typeface="Roboto"/>
                <a:ea typeface="Roboto"/>
                <a:cs typeface="Roboto"/>
                <a:sym typeface="Roboto"/>
              </a:endParaRPr>
            </a:p>
          </p:txBody>
        </p:sp>
        <p:sp>
          <p:nvSpPr>
            <p:cNvPr id="385" name="Google Shape;385;g3fbd3ed65c2_0_635"/>
            <p:cNvSpPr/>
            <p:nvPr/>
          </p:nvSpPr>
          <p:spPr>
            <a:xfrm>
              <a:off x="0" y="838200"/>
              <a:ext cx="2590800" cy="457200"/>
            </a:xfrm>
            <a:prstGeom prst="rect">
              <a:avLst/>
            </a:prstGeom>
            <a:solidFill>
              <a:srgbClr val="FBFB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86" name="Google Shape;386;g3fbd3ed65c2_0_635"/>
            <p:cNvCxnSpPr/>
            <p:nvPr/>
          </p:nvCxnSpPr>
          <p:spPr>
            <a:xfrm>
              <a:off x="0" y="1295400"/>
              <a:ext cx="2590800"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387" name="Google Shape;387;g3fbd3ed65c2_0_635"/>
            <p:cNvSpPr txBox="1"/>
            <p:nvPr/>
          </p:nvSpPr>
          <p:spPr>
            <a:xfrm>
              <a:off x="95250" y="838200"/>
              <a:ext cx="9525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31 - 60</a:t>
              </a:r>
              <a:endParaRPr b="1" sz="1456">
                <a:solidFill>
                  <a:srgbClr val="0A2540"/>
                </a:solidFill>
                <a:latin typeface="Roboto"/>
                <a:ea typeface="Roboto"/>
                <a:cs typeface="Roboto"/>
                <a:sym typeface="Roboto"/>
              </a:endParaRPr>
            </a:p>
          </p:txBody>
        </p:sp>
        <p:sp>
          <p:nvSpPr>
            <p:cNvPr id="388" name="Google Shape;388;g3fbd3ed65c2_0_635"/>
            <p:cNvSpPr txBox="1"/>
            <p:nvPr/>
          </p:nvSpPr>
          <p:spPr>
            <a:xfrm>
              <a:off x="1047750" y="838200"/>
              <a:ext cx="14478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456">
                  <a:solidFill>
                    <a:srgbClr val="333333"/>
                  </a:solidFill>
                  <a:latin typeface="Roboto"/>
                  <a:ea typeface="Roboto"/>
                  <a:cs typeface="Roboto"/>
                  <a:sym typeface="Roboto"/>
                </a:rPr>
                <a:t>Moderate</a:t>
              </a:r>
              <a:endParaRPr b="0" sz="1456">
                <a:solidFill>
                  <a:srgbClr val="333333"/>
                </a:solidFill>
                <a:latin typeface="Roboto"/>
                <a:ea typeface="Roboto"/>
                <a:cs typeface="Roboto"/>
                <a:sym typeface="Roboto"/>
              </a:endParaRPr>
            </a:p>
          </p:txBody>
        </p:sp>
        <p:sp>
          <p:nvSpPr>
            <p:cNvPr id="389" name="Google Shape;389;g3fbd3ed65c2_0_635"/>
            <p:cNvSpPr/>
            <p:nvPr/>
          </p:nvSpPr>
          <p:spPr>
            <a:xfrm>
              <a:off x="0" y="1295400"/>
              <a:ext cx="2590800" cy="4572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90" name="Google Shape;390;g3fbd3ed65c2_0_635"/>
            <p:cNvCxnSpPr/>
            <p:nvPr/>
          </p:nvCxnSpPr>
          <p:spPr>
            <a:xfrm>
              <a:off x="0" y="1752600"/>
              <a:ext cx="2590800"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391" name="Google Shape;391;g3fbd3ed65c2_0_635"/>
            <p:cNvSpPr txBox="1"/>
            <p:nvPr/>
          </p:nvSpPr>
          <p:spPr>
            <a:xfrm>
              <a:off x="95250" y="1295400"/>
              <a:ext cx="9525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61 - 80</a:t>
              </a:r>
              <a:endParaRPr b="1" sz="1456">
                <a:solidFill>
                  <a:srgbClr val="0A2540"/>
                </a:solidFill>
                <a:latin typeface="Roboto"/>
                <a:ea typeface="Roboto"/>
                <a:cs typeface="Roboto"/>
                <a:sym typeface="Roboto"/>
              </a:endParaRPr>
            </a:p>
          </p:txBody>
        </p:sp>
        <p:sp>
          <p:nvSpPr>
            <p:cNvPr id="392" name="Google Shape;392;g3fbd3ed65c2_0_635"/>
            <p:cNvSpPr txBox="1"/>
            <p:nvPr/>
          </p:nvSpPr>
          <p:spPr>
            <a:xfrm>
              <a:off x="1047750" y="1295400"/>
              <a:ext cx="14478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456">
                  <a:solidFill>
                    <a:srgbClr val="333333"/>
                  </a:solidFill>
                  <a:latin typeface="Roboto"/>
                  <a:ea typeface="Roboto"/>
                  <a:cs typeface="Roboto"/>
                  <a:sym typeface="Roboto"/>
                </a:rPr>
                <a:t>High</a:t>
              </a:r>
              <a:endParaRPr b="0" sz="1456">
                <a:solidFill>
                  <a:srgbClr val="333333"/>
                </a:solidFill>
                <a:latin typeface="Roboto"/>
                <a:ea typeface="Roboto"/>
                <a:cs typeface="Roboto"/>
                <a:sym typeface="Roboto"/>
              </a:endParaRPr>
            </a:p>
          </p:txBody>
        </p:sp>
        <p:sp>
          <p:nvSpPr>
            <p:cNvPr id="393" name="Google Shape;393;g3fbd3ed65c2_0_635"/>
            <p:cNvSpPr/>
            <p:nvPr/>
          </p:nvSpPr>
          <p:spPr>
            <a:xfrm>
              <a:off x="0" y="1752600"/>
              <a:ext cx="2590800" cy="457200"/>
            </a:xfrm>
            <a:prstGeom prst="rect">
              <a:avLst/>
            </a:prstGeom>
            <a:solidFill>
              <a:srgbClr val="FBFB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94" name="Google Shape;394;g3fbd3ed65c2_0_635"/>
            <p:cNvCxnSpPr/>
            <p:nvPr/>
          </p:nvCxnSpPr>
          <p:spPr>
            <a:xfrm>
              <a:off x="0" y="2209800"/>
              <a:ext cx="2590800"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395" name="Google Shape;395;g3fbd3ed65c2_0_635"/>
            <p:cNvSpPr txBox="1"/>
            <p:nvPr/>
          </p:nvSpPr>
          <p:spPr>
            <a:xfrm>
              <a:off x="95250" y="1752600"/>
              <a:ext cx="9525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 81</a:t>
              </a:r>
              <a:endParaRPr b="1" sz="1456">
                <a:solidFill>
                  <a:srgbClr val="0A2540"/>
                </a:solidFill>
                <a:latin typeface="Roboto"/>
                <a:ea typeface="Roboto"/>
                <a:cs typeface="Roboto"/>
                <a:sym typeface="Roboto"/>
              </a:endParaRPr>
            </a:p>
          </p:txBody>
        </p:sp>
        <p:sp>
          <p:nvSpPr>
            <p:cNvPr id="396" name="Google Shape;396;g3fbd3ed65c2_0_635"/>
            <p:cNvSpPr txBox="1"/>
            <p:nvPr/>
          </p:nvSpPr>
          <p:spPr>
            <a:xfrm>
              <a:off x="1047750" y="1752600"/>
              <a:ext cx="14478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456">
                  <a:solidFill>
                    <a:srgbClr val="333333"/>
                  </a:solidFill>
                  <a:latin typeface="Roboto"/>
                  <a:ea typeface="Roboto"/>
                  <a:cs typeface="Roboto"/>
                  <a:sym typeface="Roboto"/>
                </a:rPr>
                <a:t>Very high</a:t>
              </a:r>
              <a:endParaRPr b="0" sz="1456">
                <a:solidFill>
                  <a:srgbClr val="333333"/>
                </a:solidFill>
                <a:latin typeface="Roboto"/>
                <a:ea typeface="Roboto"/>
                <a:cs typeface="Roboto"/>
                <a:sym typeface="Roboto"/>
              </a:endParaRPr>
            </a:p>
          </p:txBody>
        </p:sp>
      </p:grpSp>
      <p:sp>
        <p:nvSpPr>
          <p:cNvPr id="397" name="Google Shape;397;g3fbd3ed65c2_0_635"/>
          <p:cNvSpPr/>
          <p:nvPr/>
        </p:nvSpPr>
        <p:spPr>
          <a:xfrm>
            <a:off x="8586533" y="1384638"/>
            <a:ext cx="3428665" cy="504215"/>
          </a:xfrm>
          <a:prstGeom prst="rect">
            <a:avLst/>
          </a:prstGeom>
          <a:solidFill>
            <a:srgbClr val="D4AF3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g3fbd3ed65c2_0_635"/>
          <p:cNvSpPr txBox="1"/>
          <p:nvPr/>
        </p:nvSpPr>
        <p:spPr>
          <a:xfrm>
            <a:off x="8712587" y="1485481"/>
            <a:ext cx="3176557" cy="302529"/>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FFFFFF"/>
                </a:solidFill>
                <a:latin typeface="Roboto"/>
                <a:ea typeface="Roboto"/>
                <a:cs typeface="Roboto"/>
                <a:sym typeface="Roboto"/>
              </a:rPr>
              <a:t>LƯỢNG MƯA (RF mm)</a:t>
            </a:r>
            <a:endParaRPr b="1" sz="1456">
              <a:solidFill>
                <a:srgbClr val="FFFFFF"/>
              </a:solidFill>
              <a:latin typeface="Roboto"/>
              <a:ea typeface="Roboto"/>
              <a:cs typeface="Roboto"/>
              <a:sym typeface="Roboto"/>
            </a:endParaRPr>
          </a:p>
        </p:txBody>
      </p:sp>
      <p:sp>
        <p:nvSpPr>
          <p:cNvPr id="399" name="Google Shape;399;g3fbd3ed65c2_0_635"/>
          <p:cNvSpPr/>
          <p:nvPr/>
        </p:nvSpPr>
        <p:spPr>
          <a:xfrm>
            <a:off x="8586525" y="1888850"/>
            <a:ext cx="3428700" cy="514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400" name="Google Shape;400;g3fbd3ed65c2_0_635"/>
          <p:cNvCxnSpPr/>
          <p:nvPr/>
        </p:nvCxnSpPr>
        <p:spPr>
          <a:xfrm>
            <a:off x="8586533" y="2493911"/>
            <a:ext cx="3428665"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401" name="Google Shape;401;g3fbd3ed65c2_0_635"/>
          <p:cNvSpPr txBox="1"/>
          <p:nvPr/>
        </p:nvSpPr>
        <p:spPr>
          <a:xfrm>
            <a:off x="8712579" y="1888850"/>
            <a:ext cx="12606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0</a:t>
            </a:r>
            <a:endParaRPr b="1" sz="1456">
              <a:solidFill>
                <a:srgbClr val="0A2540"/>
              </a:solidFill>
              <a:latin typeface="Roboto"/>
              <a:ea typeface="Roboto"/>
              <a:cs typeface="Roboto"/>
              <a:sym typeface="Roboto"/>
            </a:endParaRPr>
          </a:p>
        </p:txBody>
      </p:sp>
      <p:sp>
        <p:nvSpPr>
          <p:cNvPr id="402" name="Google Shape;402;g3fbd3ed65c2_0_635"/>
          <p:cNvSpPr txBox="1"/>
          <p:nvPr/>
        </p:nvSpPr>
        <p:spPr>
          <a:xfrm>
            <a:off x="9973122" y="1888850"/>
            <a:ext cx="1916100" cy="5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456">
                <a:solidFill>
                  <a:srgbClr val="333333"/>
                </a:solidFill>
                <a:latin typeface="Roboto"/>
                <a:ea typeface="Roboto"/>
                <a:cs typeface="Roboto"/>
                <a:sym typeface="Roboto"/>
              </a:rPr>
              <a:t>No rain</a:t>
            </a:r>
            <a:endParaRPr b="0" sz="1456">
              <a:solidFill>
                <a:srgbClr val="333333"/>
              </a:solidFill>
              <a:latin typeface="Roboto"/>
              <a:ea typeface="Roboto"/>
              <a:cs typeface="Roboto"/>
              <a:sym typeface="Roboto"/>
            </a:endParaRPr>
          </a:p>
        </p:txBody>
      </p:sp>
      <p:sp>
        <p:nvSpPr>
          <p:cNvPr id="403" name="Google Shape;403;g3fbd3ed65c2_0_635"/>
          <p:cNvSpPr/>
          <p:nvPr/>
        </p:nvSpPr>
        <p:spPr>
          <a:xfrm>
            <a:off x="8586525" y="2411377"/>
            <a:ext cx="3428700" cy="514500"/>
          </a:xfrm>
          <a:prstGeom prst="rect">
            <a:avLst/>
          </a:prstGeom>
          <a:solidFill>
            <a:srgbClr val="FBFB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404" name="Google Shape;404;g3fbd3ed65c2_0_635"/>
          <p:cNvCxnSpPr/>
          <p:nvPr/>
        </p:nvCxnSpPr>
        <p:spPr>
          <a:xfrm>
            <a:off x="8586533" y="3098970"/>
            <a:ext cx="3428665"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405" name="Google Shape;405;g3fbd3ed65c2_0_635"/>
          <p:cNvSpPr txBox="1"/>
          <p:nvPr/>
        </p:nvSpPr>
        <p:spPr>
          <a:xfrm>
            <a:off x="8712579" y="2411377"/>
            <a:ext cx="12606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0.1 - 2.4</a:t>
            </a:r>
            <a:endParaRPr b="1" sz="1456">
              <a:solidFill>
                <a:srgbClr val="0A2540"/>
              </a:solidFill>
              <a:latin typeface="Roboto"/>
              <a:ea typeface="Roboto"/>
              <a:cs typeface="Roboto"/>
              <a:sym typeface="Roboto"/>
            </a:endParaRPr>
          </a:p>
        </p:txBody>
      </p:sp>
      <p:sp>
        <p:nvSpPr>
          <p:cNvPr id="406" name="Google Shape;406;g3fbd3ed65c2_0_635"/>
          <p:cNvSpPr txBox="1"/>
          <p:nvPr/>
        </p:nvSpPr>
        <p:spPr>
          <a:xfrm>
            <a:off x="9973122" y="2411377"/>
            <a:ext cx="1916100" cy="5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456">
                <a:solidFill>
                  <a:srgbClr val="333333"/>
                </a:solidFill>
                <a:latin typeface="Roboto"/>
                <a:ea typeface="Roboto"/>
                <a:cs typeface="Roboto"/>
                <a:sym typeface="Roboto"/>
              </a:rPr>
              <a:t>Very light </a:t>
            </a:r>
            <a:r>
              <a:rPr lang="en-US" sz="1456">
                <a:solidFill>
                  <a:srgbClr val="333333"/>
                </a:solidFill>
                <a:latin typeface="Roboto"/>
                <a:ea typeface="Roboto"/>
                <a:cs typeface="Roboto"/>
                <a:sym typeface="Roboto"/>
              </a:rPr>
              <a:t>rain</a:t>
            </a:r>
            <a:endParaRPr b="0" sz="1456">
              <a:solidFill>
                <a:srgbClr val="333333"/>
              </a:solidFill>
              <a:latin typeface="Roboto"/>
              <a:ea typeface="Roboto"/>
              <a:cs typeface="Roboto"/>
              <a:sym typeface="Roboto"/>
            </a:endParaRPr>
          </a:p>
        </p:txBody>
      </p:sp>
      <p:sp>
        <p:nvSpPr>
          <p:cNvPr id="407" name="Google Shape;407;g3fbd3ed65c2_0_635"/>
          <p:cNvSpPr/>
          <p:nvPr/>
        </p:nvSpPr>
        <p:spPr>
          <a:xfrm>
            <a:off x="8586525" y="2933912"/>
            <a:ext cx="3428700" cy="514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408" name="Google Shape;408;g3fbd3ed65c2_0_635"/>
          <p:cNvCxnSpPr/>
          <p:nvPr/>
        </p:nvCxnSpPr>
        <p:spPr>
          <a:xfrm>
            <a:off x="8586533" y="3704028"/>
            <a:ext cx="3428665"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409" name="Google Shape;409;g3fbd3ed65c2_0_635"/>
          <p:cNvSpPr txBox="1"/>
          <p:nvPr/>
        </p:nvSpPr>
        <p:spPr>
          <a:xfrm>
            <a:off x="8712579" y="2933912"/>
            <a:ext cx="12606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2.5 - 7.5</a:t>
            </a:r>
            <a:endParaRPr b="1" sz="1456">
              <a:solidFill>
                <a:srgbClr val="0A2540"/>
              </a:solidFill>
              <a:latin typeface="Roboto"/>
              <a:ea typeface="Roboto"/>
              <a:cs typeface="Roboto"/>
              <a:sym typeface="Roboto"/>
            </a:endParaRPr>
          </a:p>
        </p:txBody>
      </p:sp>
      <p:sp>
        <p:nvSpPr>
          <p:cNvPr id="410" name="Google Shape;410;g3fbd3ed65c2_0_635"/>
          <p:cNvSpPr txBox="1"/>
          <p:nvPr/>
        </p:nvSpPr>
        <p:spPr>
          <a:xfrm>
            <a:off x="9973122" y="2933912"/>
            <a:ext cx="1916100" cy="5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456">
                <a:solidFill>
                  <a:srgbClr val="333333"/>
                </a:solidFill>
                <a:latin typeface="Roboto"/>
                <a:ea typeface="Roboto"/>
                <a:cs typeface="Roboto"/>
                <a:sym typeface="Roboto"/>
              </a:rPr>
              <a:t>Light </a:t>
            </a:r>
            <a:r>
              <a:rPr lang="en-US" sz="1456">
                <a:solidFill>
                  <a:srgbClr val="333333"/>
                </a:solidFill>
                <a:latin typeface="Roboto"/>
                <a:ea typeface="Roboto"/>
                <a:cs typeface="Roboto"/>
                <a:sym typeface="Roboto"/>
              </a:rPr>
              <a:t>rain</a:t>
            </a:r>
            <a:endParaRPr b="0" sz="1456">
              <a:solidFill>
                <a:srgbClr val="333333"/>
              </a:solidFill>
              <a:latin typeface="Roboto"/>
              <a:ea typeface="Roboto"/>
              <a:cs typeface="Roboto"/>
              <a:sym typeface="Roboto"/>
            </a:endParaRPr>
          </a:p>
        </p:txBody>
      </p:sp>
      <p:sp>
        <p:nvSpPr>
          <p:cNvPr id="411" name="Google Shape;411;g3fbd3ed65c2_0_635"/>
          <p:cNvSpPr/>
          <p:nvPr/>
        </p:nvSpPr>
        <p:spPr>
          <a:xfrm>
            <a:off x="8586525" y="3446775"/>
            <a:ext cx="3428700" cy="514500"/>
          </a:xfrm>
          <a:prstGeom prst="rect">
            <a:avLst/>
          </a:prstGeom>
          <a:solidFill>
            <a:srgbClr val="FBFB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412" name="Google Shape;412;g3fbd3ed65c2_0_635"/>
          <p:cNvCxnSpPr/>
          <p:nvPr/>
        </p:nvCxnSpPr>
        <p:spPr>
          <a:xfrm>
            <a:off x="8586533" y="4309087"/>
            <a:ext cx="3428665"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413" name="Google Shape;413;g3fbd3ed65c2_0_635"/>
          <p:cNvSpPr txBox="1"/>
          <p:nvPr/>
        </p:nvSpPr>
        <p:spPr>
          <a:xfrm>
            <a:off x="8712579" y="3446775"/>
            <a:ext cx="12606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7.6 - 35.5</a:t>
            </a:r>
            <a:endParaRPr b="1" sz="1456">
              <a:solidFill>
                <a:srgbClr val="0A2540"/>
              </a:solidFill>
              <a:latin typeface="Roboto"/>
              <a:ea typeface="Roboto"/>
              <a:cs typeface="Roboto"/>
              <a:sym typeface="Roboto"/>
            </a:endParaRPr>
          </a:p>
        </p:txBody>
      </p:sp>
      <p:sp>
        <p:nvSpPr>
          <p:cNvPr id="414" name="Google Shape;414;g3fbd3ed65c2_0_635"/>
          <p:cNvSpPr txBox="1"/>
          <p:nvPr/>
        </p:nvSpPr>
        <p:spPr>
          <a:xfrm>
            <a:off x="9973122" y="3446775"/>
            <a:ext cx="1916100" cy="5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456">
                <a:solidFill>
                  <a:srgbClr val="333333"/>
                </a:solidFill>
                <a:latin typeface="Roboto"/>
                <a:ea typeface="Roboto"/>
                <a:cs typeface="Roboto"/>
                <a:sym typeface="Roboto"/>
              </a:rPr>
              <a:t>Moderate </a:t>
            </a:r>
            <a:r>
              <a:rPr lang="en-US" sz="1456">
                <a:solidFill>
                  <a:srgbClr val="333333"/>
                </a:solidFill>
                <a:latin typeface="Roboto"/>
                <a:ea typeface="Roboto"/>
                <a:cs typeface="Roboto"/>
                <a:sym typeface="Roboto"/>
              </a:rPr>
              <a:t>rain</a:t>
            </a:r>
            <a:endParaRPr b="0" sz="1456">
              <a:solidFill>
                <a:srgbClr val="333333"/>
              </a:solidFill>
              <a:latin typeface="Roboto"/>
              <a:ea typeface="Roboto"/>
              <a:cs typeface="Roboto"/>
              <a:sym typeface="Roboto"/>
            </a:endParaRPr>
          </a:p>
        </p:txBody>
      </p:sp>
      <p:sp>
        <p:nvSpPr>
          <p:cNvPr id="415" name="Google Shape;415;g3fbd3ed65c2_0_635"/>
          <p:cNvSpPr/>
          <p:nvPr/>
        </p:nvSpPr>
        <p:spPr>
          <a:xfrm>
            <a:off x="8586525" y="3963776"/>
            <a:ext cx="3428700" cy="514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416" name="Google Shape;416;g3fbd3ed65c2_0_635"/>
          <p:cNvCxnSpPr/>
          <p:nvPr/>
        </p:nvCxnSpPr>
        <p:spPr>
          <a:xfrm>
            <a:off x="8586533" y="4914145"/>
            <a:ext cx="3428665"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417" name="Google Shape;417;g3fbd3ed65c2_0_635"/>
          <p:cNvSpPr txBox="1"/>
          <p:nvPr/>
        </p:nvSpPr>
        <p:spPr>
          <a:xfrm>
            <a:off x="8712579" y="3963776"/>
            <a:ext cx="12606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35.6 - 64.4</a:t>
            </a:r>
            <a:endParaRPr b="1" sz="1456">
              <a:solidFill>
                <a:srgbClr val="0A2540"/>
              </a:solidFill>
              <a:latin typeface="Roboto"/>
              <a:ea typeface="Roboto"/>
              <a:cs typeface="Roboto"/>
              <a:sym typeface="Roboto"/>
            </a:endParaRPr>
          </a:p>
        </p:txBody>
      </p:sp>
      <p:sp>
        <p:nvSpPr>
          <p:cNvPr id="418" name="Google Shape;418;g3fbd3ed65c2_0_635"/>
          <p:cNvSpPr txBox="1"/>
          <p:nvPr/>
        </p:nvSpPr>
        <p:spPr>
          <a:xfrm>
            <a:off x="9973122" y="3963776"/>
            <a:ext cx="1916100" cy="5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456">
                <a:solidFill>
                  <a:srgbClr val="333333"/>
                </a:solidFill>
                <a:latin typeface="Roboto"/>
                <a:ea typeface="Roboto"/>
                <a:cs typeface="Roboto"/>
                <a:sym typeface="Roboto"/>
              </a:rPr>
              <a:t>Rather heavy </a:t>
            </a:r>
            <a:r>
              <a:rPr lang="en-US" sz="1456">
                <a:solidFill>
                  <a:srgbClr val="333333"/>
                </a:solidFill>
                <a:latin typeface="Roboto"/>
                <a:ea typeface="Roboto"/>
                <a:cs typeface="Roboto"/>
                <a:sym typeface="Roboto"/>
              </a:rPr>
              <a:t>rain</a:t>
            </a:r>
            <a:endParaRPr b="0" sz="1456">
              <a:solidFill>
                <a:srgbClr val="333333"/>
              </a:solidFill>
              <a:latin typeface="Roboto"/>
              <a:ea typeface="Roboto"/>
              <a:cs typeface="Roboto"/>
              <a:sym typeface="Roboto"/>
            </a:endParaRPr>
          </a:p>
        </p:txBody>
      </p:sp>
      <p:sp>
        <p:nvSpPr>
          <p:cNvPr id="419" name="Google Shape;419;g3fbd3ed65c2_0_635"/>
          <p:cNvSpPr/>
          <p:nvPr/>
        </p:nvSpPr>
        <p:spPr>
          <a:xfrm>
            <a:off x="1141975" y="3704036"/>
            <a:ext cx="3428700" cy="605100"/>
          </a:xfrm>
          <a:prstGeom prst="rect">
            <a:avLst/>
          </a:prstGeom>
          <a:solidFill>
            <a:srgbClr val="FBFB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420" name="Google Shape;420;g3fbd3ed65c2_0_635"/>
          <p:cNvCxnSpPr/>
          <p:nvPr/>
        </p:nvCxnSpPr>
        <p:spPr>
          <a:xfrm>
            <a:off x="1141975" y="4309095"/>
            <a:ext cx="3428700"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421" name="Google Shape;421;g3fbd3ed65c2_0_635"/>
          <p:cNvSpPr txBox="1"/>
          <p:nvPr/>
        </p:nvSpPr>
        <p:spPr>
          <a:xfrm>
            <a:off x="1268029" y="3704036"/>
            <a:ext cx="1260600" cy="605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a:t>
            </a:r>
            <a:r>
              <a:rPr b="1" lang="en-US" sz="1456">
                <a:solidFill>
                  <a:srgbClr val="0A2540"/>
                </a:solidFill>
                <a:latin typeface="Roboto"/>
                <a:ea typeface="Roboto"/>
                <a:cs typeface="Roboto"/>
                <a:sym typeface="Roboto"/>
              </a:rPr>
              <a:t>[5, 6]</a:t>
            </a:r>
            <a:endParaRPr b="1" sz="1456">
              <a:solidFill>
                <a:srgbClr val="0A2540"/>
              </a:solidFill>
              <a:latin typeface="Roboto"/>
              <a:ea typeface="Roboto"/>
              <a:cs typeface="Roboto"/>
              <a:sym typeface="Roboto"/>
            </a:endParaRPr>
          </a:p>
        </p:txBody>
      </p:sp>
      <p:sp>
        <p:nvSpPr>
          <p:cNvPr id="422" name="Google Shape;422;g3fbd3ed65c2_0_635"/>
          <p:cNvSpPr txBox="1"/>
          <p:nvPr/>
        </p:nvSpPr>
        <p:spPr>
          <a:xfrm>
            <a:off x="2528567" y="3704036"/>
            <a:ext cx="1916100" cy="605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56">
                <a:solidFill>
                  <a:srgbClr val="333333"/>
                </a:solidFill>
                <a:latin typeface="Roboto"/>
                <a:ea typeface="Roboto"/>
                <a:cs typeface="Roboto"/>
                <a:sym typeface="Roboto"/>
              </a:rPr>
              <a:t>Marked </a:t>
            </a:r>
            <a:r>
              <a:rPr b="0" lang="en-US" sz="1456">
                <a:solidFill>
                  <a:srgbClr val="333333"/>
                </a:solidFill>
                <a:latin typeface="Roboto"/>
                <a:ea typeface="Roboto"/>
                <a:cs typeface="Roboto"/>
                <a:sym typeface="Roboto"/>
              </a:rPr>
              <a:t>Rise / Fall</a:t>
            </a:r>
            <a:endParaRPr b="0" sz="1456">
              <a:solidFill>
                <a:srgbClr val="333333"/>
              </a:solidFill>
              <a:latin typeface="Roboto"/>
              <a:ea typeface="Roboto"/>
              <a:cs typeface="Roboto"/>
              <a:sym typeface="Roboto"/>
            </a:endParaRPr>
          </a:p>
        </p:txBody>
      </p:sp>
      <p:sp>
        <p:nvSpPr>
          <p:cNvPr id="423" name="Google Shape;423;g3fbd3ed65c2_0_635"/>
          <p:cNvSpPr/>
          <p:nvPr/>
        </p:nvSpPr>
        <p:spPr>
          <a:xfrm>
            <a:off x="1141975" y="4309095"/>
            <a:ext cx="3428700" cy="6051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4" name="Google Shape;424;g3fbd3ed65c2_0_635"/>
          <p:cNvSpPr txBox="1"/>
          <p:nvPr/>
        </p:nvSpPr>
        <p:spPr>
          <a:xfrm>
            <a:off x="1268029" y="4309095"/>
            <a:ext cx="1260600" cy="605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±7</a:t>
            </a:r>
            <a:endParaRPr b="1" sz="1456">
              <a:solidFill>
                <a:srgbClr val="0A2540"/>
              </a:solidFill>
              <a:latin typeface="Roboto"/>
              <a:ea typeface="Roboto"/>
              <a:cs typeface="Roboto"/>
              <a:sym typeface="Roboto"/>
            </a:endParaRPr>
          </a:p>
        </p:txBody>
      </p:sp>
      <p:sp>
        <p:nvSpPr>
          <p:cNvPr id="425" name="Google Shape;425;g3fbd3ed65c2_0_635"/>
          <p:cNvSpPr txBox="1"/>
          <p:nvPr/>
        </p:nvSpPr>
        <p:spPr>
          <a:xfrm>
            <a:off x="2528567" y="4309095"/>
            <a:ext cx="1916100" cy="605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56">
                <a:solidFill>
                  <a:srgbClr val="333333"/>
                </a:solidFill>
                <a:latin typeface="Roboto"/>
                <a:ea typeface="Roboto"/>
                <a:cs typeface="Roboto"/>
                <a:sym typeface="Roboto"/>
              </a:rPr>
              <a:t>Large Rise / Fall</a:t>
            </a:r>
            <a:endParaRPr b="0" sz="1456">
              <a:solidFill>
                <a:srgbClr val="333333"/>
              </a:solidFill>
              <a:latin typeface="Roboto"/>
              <a:ea typeface="Roboto"/>
              <a:cs typeface="Roboto"/>
              <a:sym typeface="Roboto"/>
            </a:endParaRPr>
          </a:p>
        </p:txBody>
      </p:sp>
      <p:sp>
        <p:nvSpPr>
          <p:cNvPr id="426" name="Google Shape;426;g3fbd3ed65c2_0_635"/>
          <p:cNvSpPr/>
          <p:nvPr/>
        </p:nvSpPr>
        <p:spPr>
          <a:xfrm>
            <a:off x="8586525" y="4482289"/>
            <a:ext cx="3428700" cy="514500"/>
          </a:xfrm>
          <a:prstGeom prst="rect">
            <a:avLst/>
          </a:prstGeom>
          <a:solidFill>
            <a:srgbClr val="FBFB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427" name="Google Shape;427;g3fbd3ed65c2_0_635"/>
          <p:cNvCxnSpPr/>
          <p:nvPr/>
        </p:nvCxnSpPr>
        <p:spPr>
          <a:xfrm>
            <a:off x="8586533" y="5169882"/>
            <a:ext cx="3428700"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428" name="Google Shape;428;g3fbd3ed65c2_0_635"/>
          <p:cNvSpPr txBox="1"/>
          <p:nvPr/>
        </p:nvSpPr>
        <p:spPr>
          <a:xfrm>
            <a:off x="8712579" y="4482289"/>
            <a:ext cx="12606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64.5 - 124.4</a:t>
            </a:r>
            <a:endParaRPr b="1" sz="1456">
              <a:solidFill>
                <a:srgbClr val="0A2540"/>
              </a:solidFill>
              <a:latin typeface="Roboto"/>
              <a:ea typeface="Roboto"/>
              <a:cs typeface="Roboto"/>
              <a:sym typeface="Roboto"/>
            </a:endParaRPr>
          </a:p>
        </p:txBody>
      </p:sp>
      <p:sp>
        <p:nvSpPr>
          <p:cNvPr id="429" name="Google Shape;429;g3fbd3ed65c2_0_635"/>
          <p:cNvSpPr txBox="1"/>
          <p:nvPr/>
        </p:nvSpPr>
        <p:spPr>
          <a:xfrm>
            <a:off x="9973122" y="4482289"/>
            <a:ext cx="1916100" cy="5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56">
                <a:solidFill>
                  <a:srgbClr val="333333"/>
                </a:solidFill>
                <a:latin typeface="Roboto"/>
                <a:ea typeface="Roboto"/>
                <a:cs typeface="Roboto"/>
                <a:sym typeface="Roboto"/>
              </a:rPr>
              <a:t>Heavy </a:t>
            </a:r>
            <a:r>
              <a:rPr lang="en-US" sz="1456">
                <a:solidFill>
                  <a:srgbClr val="333333"/>
                </a:solidFill>
                <a:latin typeface="Roboto"/>
                <a:ea typeface="Roboto"/>
                <a:cs typeface="Roboto"/>
                <a:sym typeface="Roboto"/>
              </a:rPr>
              <a:t>rain</a:t>
            </a:r>
            <a:endParaRPr b="0" sz="1456">
              <a:solidFill>
                <a:srgbClr val="333333"/>
              </a:solidFill>
              <a:latin typeface="Roboto"/>
              <a:ea typeface="Roboto"/>
              <a:cs typeface="Roboto"/>
              <a:sym typeface="Roboto"/>
            </a:endParaRPr>
          </a:p>
        </p:txBody>
      </p:sp>
      <p:sp>
        <p:nvSpPr>
          <p:cNvPr id="430" name="Google Shape;430;g3fbd3ed65c2_0_635"/>
          <p:cNvSpPr/>
          <p:nvPr/>
        </p:nvSpPr>
        <p:spPr>
          <a:xfrm>
            <a:off x="8586525" y="5004824"/>
            <a:ext cx="3428700" cy="514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431" name="Google Shape;431;g3fbd3ed65c2_0_635"/>
          <p:cNvCxnSpPr/>
          <p:nvPr/>
        </p:nvCxnSpPr>
        <p:spPr>
          <a:xfrm>
            <a:off x="8586533" y="5774941"/>
            <a:ext cx="3428700" cy="0"/>
          </a:xfrm>
          <a:prstGeom prst="straightConnector1">
            <a:avLst/>
          </a:prstGeom>
          <a:solidFill>
            <a:srgbClr val="FFFFFF"/>
          </a:solidFill>
          <a:ln cap="flat" cmpd="sng" w="12600">
            <a:solidFill>
              <a:srgbClr val="E2E8F0"/>
            </a:solidFill>
            <a:prstDash val="solid"/>
            <a:round/>
            <a:headEnd len="sm" w="sm" type="none"/>
            <a:tailEnd len="sm" w="sm" type="none"/>
          </a:ln>
        </p:spPr>
      </p:cxnSp>
      <p:sp>
        <p:nvSpPr>
          <p:cNvPr id="432" name="Google Shape;432;g3fbd3ed65c2_0_635"/>
          <p:cNvSpPr txBox="1"/>
          <p:nvPr/>
        </p:nvSpPr>
        <p:spPr>
          <a:xfrm>
            <a:off x="8712579" y="5004824"/>
            <a:ext cx="12606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124.4 - 244.4</a:t>
            </a:r>
            <a:endParaRPr b="1" sz="1456">
              <a:solidFill>
                <a:srgbClr val="0A2540"/>
              </a:solidFill>
              <a:latin typeface="Roboto"/>
              <a:ea typeface="Roboto"/>
              <a:cs typeface="Roboto"/>
              <a:sym typeface="Roboto"/>
            </a:endParaRPr>
          </a:p>
        </p:txBody>
      </p:sp>
      <p:sp>
        <p:nvSpPr>
          <p:cNvPr id="433" name="Google Shape;433;g3fbd3ed65c2_0_635"/>
          <p:cNvSpPr txBox="1"/>
          <p:nvPr/>
        </p:nvSpPr>
        <p:spPr>
          <a:xfrm>
            <a:off x="9973122" y="5004824"/>
            <a:ext cx="1916100" cy="5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56">
                <a:solidFill>
                  <a:srgbClr val="333333"/>
                </a:solidFill>
                <a:latin typeface="Roboto"/>
                <a:ea typeface="Roboto"/>
                <a:cs typeface="Roboto"/>
                <a:sym typeface="Roboto"/>
              </a:rPr>
              <a:t>Very heavy </a:t>
            </a:r>
            <a:r>
              <a:rPr lang="en-US" sz="1456">
                <a:solidFill>
                  <a:srgbClr val="333333"/>
                </a:solidFill>
                <a:latin typeface="Roboto"/>
                <a:ea typeface="Roboto"/>
                <a:cs typeface="Roboto"/>
                <a:sym typeface="Roboto"/>
              </a:rPr>
              <a:t>rain</a:t>
            </a:r>
            <a:endParaRPr b="0" sz="1456">
              <a:solidFill>
                <a:srgbClr val="333333"/>
              </a:solidFill>
              <a:latin typeface="Roboto"/>
              <a:ea typeface="Roboto"/>
              <a:cs typeface="Roboto"/>
              <a:sym typeface="Roboto"/>
            </a:endParaRPr>
          </a:p>
        </p:txBody>
      </p:sp>
      <p:sp>
        <p:nvSpPr>
          <p:cNvPr id="434" name="Google Shape;434;g3fbd3ed65c2_0_635"/>
          <p:cNvSpPr/>
          <p:nvPr/>
        </p:nvSpPr>
        <p:spPr>
          <a:xfrm>
            <a:off x="8586525" y="5517688"/>
            <a:ext cx="3428700" cy="514500"/>
          </a:xfrm>
          <a:prstGeom prst="rect">
            <a:avLst/>
          </a:prstGeom>
          <a:solidFill>
            <a:srgbClr val="FBFB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g3fbd3ed65c2_0_635"/>
          <p:cNvSpPr txBox="1"/>
          <p:nvPr/>
        </p:nvSpPr>
        <p:spPr>
          <a:xfrm>
            <a:off x="8712579" y="5517688"/>
            <a:ext cx="12606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56">
                <a:solidFill>
                  <a:srgbClr val="0A2540"/>
                </a:solidFill>
                <a:latin typeface="Roboto"/>
                <a:ea typeface="Roboto"/>
                <a:cs typeface="Roboto"/>
                <a:sym typeface="Roboto"/>
              </a:rPr>
              <a:t>&gt; = 244.5</a:t>
            </a:r>
            <a:endParaRPr b="1" sz="1456">
              <a:solidFill>
                <a:srgbClr val="0A2540"/>
              </a:solidFill>
              <a:latin typeface="Roboto"/>
              <a:ea typeface="Roboto"/>
              <a:cs typeface="Roboto"/>
              <a:sym typeface="Roboto"/>
            </a:endParaRPr>
          </a:p>
        </p:txBody>
      </p:sp>
      <p:sp>
        <p:nvSpPr>
          <p:cNvPr id="436" name="Google Shape;436;g3fbd3ed65c2_0_635"/>
          <p:cNvSpPr txBox="1"/>
          <p:nvPr/>
        </p:nvSpPr>
        <p:spPr>
          <a:xfrm>
            <a:off x="9973122" y="5517688"/>
            <a:ext cx="1916100" cy="5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56">
                <a:solidFill>
                  <a:srgbClr val="333333"/>
                </a:solidFill>
                <a:latin typeface="Roboto"/>
                <a:ea typeface="Roboto"/>
                <a:cs typeface="Roboto"/>
                <a:sym typeface="Roboto"/>
              </a:rPr>
              <a:t>Extremely</a:t>
            </a:r>
            <a:r>
              <a:rPr lang="en-US" sz="1456">
                <a:solidFill>
                  <a:srgbClr val="333333"/>
                </a:solidFill>
                <a:latin typeface="Roboto"/>
                <a:ea typeface="Roboto"/>
                <a:cs typeface="Roboto"/>
                <a:sym typeface="Roboto"/>
              </a:rPr>
              <a:t> heavy rain</a:t>
            </a:r>
            <a:endParaRPr sz="1456">
              <a:solidFill>
                <a:srgbClr val="333333"/>
              </a:solidFill>
              <a:latin typeface="Roboto"/>
              <a:ea typeface="Roboto"/>
              <a:cs typeface="Roboto"/>
              <a:sym typeface="Roboto"/>
            </a:endParaRPr>
          </a:p>
        </p:txBody>
      </p:sp>
      <p:sp>
        <p:nvSpPr>
          <p:cNvPr id="437" name="Google Shape;437;g3fbd3ed65c2_0_635"/>
          <p:cNvSpPr/>
          <p:nvPr/>
        </p:nvSpPr>
        <p:spPr>
          <a:xfrm>
            <a:off x="1152138" y="5008638"/>
            <a:ext cx="7265700" cy="1364400"/>
          </a:xfrm>
          <a:prstGeom prst="roundRect">
            <a:avLst>
              <a:gd fmla="val 8000" name="adj"/>
            </a:avLst>
          </a:prstGeom>
          <a:solidFill>
            <a:srgbClr val="FFFFFF"/>
          </a:solidFill>
          <a:ln cap="flat" cmpd="sng" w="9825">
            <a:solidFill>
              <a:srgbClr val="D8B32E"/>
            </a:solidFill>
            <a:prstDash val="solid"/>
            <a:round/>
            <a:headEnd len="sm" w="sm" type="none"/>
            <a:tailEnd len="sm" w="sm" type="none"/>
          </a:ln>
        </p:spPr>
        <p:txBody>
          <a:bodyPr anchorCtr="0" anchor="ctr" bIns="63100" lIns="63100" spcFirstLastPara="1" rIns="63100" wrap="square" tIns="63100">
            <a:noAutofit/>
          </a:bodyPr>
          <a:lstStyle/>
          <a:p>
            <a:pPr indent="0" lvl="0" marL="0" rtl="0" algn="l">
              <a:spcBef>
                <a:spcPts val="0"/>
              </a:spcBef>
              <a:spcAft>
                <a:spcPts val="0"/>
              </a:spcAft>
              <a:buNone/>
            </a:pPr>
            <a:r>
              <a:t/>
            </a:r>
            <a:endParaRPr/>
          </a:p>
        </p:txBody>
      </p:sp>
      <p:sp>
        <p:nvSpPr>
          <p:cNvPr id="438" name="Google Shape;438;g3fbd3ed65c2_0_635"/>
          <p:cNvSpPr/>
          <p:nvPr/>
        </p:nvSpPr>
        <p:spPr>
          <a:xfrm>
            <a:off x="1123952" y="5008650"/>
            <a:ext cx="63600" cy="1364400"/>
          </a:xfrm>
          <a:prstGeom prst="rect">
            <a:avLst/>
          </a:prstGeom>
          <a:solidFill>
            <a:srgbClr val="D8B32E"/>
          </a:solidFill>
          <a:ln>
            <a:noFill/>
          </a:ln>
        </p:spPr>
        <p:txBody>
          <a:bodyPr anchorCtr="0" anchor="ctr" bIns="63100" lIns="63100" spcFirstLastPara="1" rIns="63100" wrap="square" tIns="63100">
            <a:noAutofit/>
          </a:bodyPr>
          <a:lstStyle/>
          <a:p>
            <a:pPr indent="0" lvl="0" marL="0" rtl="0" algn="l">
              <a:spcBef>
                <a:spcPts val="0"/>
              </a:spcBef>
              <a:spcAft>
                <a:spcPts val="0"/>
              </a:spcAft>
              <a:buNone/>
            </a:pPr>
            <a:r>
              <a:t/>
            </a:r>
            <a:endParaRPr/>
          </a:p>
        </p:txBody>
      </p:sp>
      <p:sp>
        <p:nvSpPr>
          <p:cNvPr id="439" name="Google Shape;439;g3fbd3ed65c2_0_635"/>
          <p:cNvSpPr/>
          <p:nvPr/>
        </p:nvSpPr>
        <p:spPr>
          <a:xfrm>
            <a:off x="1093113" y="5112375"/>
            <a:ext cx="7364700" cy="1833900"/>
          </a:xfrm>
          <a:prstGeom prst="rect">
            <a:avLst/>
          </a:prstGeom>
          <a:noFill/>
          <a:ln>
            <a:noFill/>
          </a:ln>
          <a:effectLst>
            <a:reflection blurRad="0" dir="5400000" dist="26295" endA="0" endPos="30000" fadeDir="5400012" kx="0" rotWithShape="0" algn="bl" stPos="0" sy="-100000" ky="0"/>
          </a:effectLst>
        </p:spPr>
        <p:txBody>
          <a:bodyPr anchorCtr="0" anchor="t" bIns="31525" lIns="63100" spcFirstLastPara="1" rIns="63100" wrap="square" tIns="31525">
            <a:noAutofit/>
          </a:bodyPr>
          <a:lstStyle/>
          <a:p>
            <a:pPr indent="-342900" lvl="0" marL="457200" rtl="0" algn="l">
              <a:lnSpc>
                <a:spcPct val="100000"/>
              </a:lnSpc>
              <a:spcBef>
                <a:spcPts val="0"/>
              </a:spcBef>
              <a:spcAft>
                <a:spcPts val="0"/>
              </a:spcAft>
              <a:buClr>
                <a:srgbClr val="303030"/>
              </a:buClr>
              <a:buSzPts val="1800"/>
              <a:buChar char="●"/>
            </a:pPr>
            <a:r>
              <a:rPr lang="en-US" sz="1800">
                <a:solidFill>
                  <a:srgbClr val="303030"/>
                </a:solidFill>
                <a:highlight>
                  <a:srgbClr val="FFFFFF"/>
                </a:highlight>
              </a:rPr>
              <a:t>Chuyên gia </a:t>
            </a:r>
            <a:r>
              <a:rPr b="1" lang="en-US" sz="1800">
                <a:solidFill>
                  <a:srgbClr val="303030"/>
                </a:solidFill>
                <a:highlight>
                  <a:srgbClr val="FFFFFF"/>
                </a:highlight>
              </a:rPr>
              <a:t>chia khoảng giá trị</a:t>
            </a:r>
            <a:r>
              <a:rPr lang="en-US" sz="1800">
                <a:solidFill>
                  <a:srgbClr val="303030"/>
                </a:solidFill>
                <a:highlight>
                  <a:srgbClr val="FFFFFF"/>
                </a:highlight>
              </a:rPr>
              <a:t> của từng biến thời tiết thành các danh mục chất lượng (Categories) như </a:t>
            </a:r>
            <a:r>
              <a:rPr i="1" lang="en-US" sz="1800">
                <a:solidFill>
                  <a:srgbClr val="303030"/>
                </a:solidFill>
                <a:highlight>
                  <a:srgbClr val="FFFFFF"/>
                </a:highlight>
              </a:rPr>
              <a:t>Low, Moderate, High,..</a:t>
            </a:r>
            <a:endParaRPr i="1" sz="1800">
              <a:solidFill>
                <a:srgbClr val="303030"/>
              </a:solidFill>
              <a:highlight>
                <a:srgbClr val="FFFFFF"/>
              </a:highlight>
            </a:endParaRPr>
          </a:p>
          <a:p>
            <a:pPr indent="-342900" lvl="0" marL="457200" rtl="0" algn="l">
              <a:lnSpc>
                <a:spcPct val="100000"/>
              </a:lnSpc>
              <a:spcBef>
                <a:spcPts val="0"/>
              </a:spcBef>
              <a:spcAft>
                <a:spcPts val="0"/>
              </a:spcAft>
              <a:buClr>
                <a:srgbClr val="303030"/>
              </a:buClr>
              <a:buSzPts val="1800"/>
              <a:buChar char="●"/>
            </a:pPr>
            <a:r>
              <a:rPr b="1" lang="en-US" sz="1800">
                <a:solidFill>
                  <a:srgbClr val="303030"/>
                </a:solidFill>
                <a:highlight>
                  <a:srgbClr val="FFFFFF"/>
                </a:highlight>
              </a:rPr>
              <a:t>Nâng cao xác suất</a:t>
            </a:r>
            <a:r>
              <a:rPr lang="en-US" sz="1800">
                <a:solidFill>
                  <a:srgbClr val="303030"/>
                </a:solidFill>
                <a:highlight>
                  <a:srgbClr val="FFFFFF"/>
                </a:highlight>
              </a:rPr>
              <a:t> tìm thấy các tình huống thời tiết tương đồng về mặt bản chất chuyên môn.</a:t>
            </a:r>
            <a:endParaRPr i="1" sz="1800">
              <a:solidFill>
                <a:srgbClr val="303030"/>
              </a:solidFill>
              <a:highlight>
                <a:srgbClr val="FFFF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444" name="Shape 444"/>
        <p:cNvGrpSpPr/>
        <p:nvPr/>
      </p:nvGrpSpPr>
      <p:grpSpPr>
        <a:xfrm>
          <a:off x="0" y="0"/>
          <a:ext cx="0" cy="0"/>
          <a:chOff x="0" y="0"/>
          <a:chExt cx="0" cy="0"/>
        </a:xfrm>
      </p:grpSpPr>
      <p:sp>
        <p:nvSpPr>
          <p:cNvPr id="445" name="Google Shape;445;g3fbd3ed65c2_0_269"/>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g3fbd3ed65c2_0_269"/>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g3fbd3ed65c2_0_269"/>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8" name="Google Shape;448;g3fbd3ed65c2_0_269"/>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449" name="Google Shape;449;g3fbd3ed65c2_0_269"/>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fbd3ed65c2_0_269"/>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451" name="Google Shape;451;g3fbd3ed65c2_0_269"/>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g3fbd3ed65c2_0_269"/>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453" name="Google Shape;453;g3fbd3ed65c2_0_269"/>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454" name="Google Shape;454;g3fbd3ed65c2_0_269"/>
          <p:cNvSpPr/>
          <p:nvPr/>
        </p:nvSpPr>
        <p:spPr>
          <a:xfrm>
            <a:off x="114300" y="4486275"/>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g3fbd3ed65c2_0_269"/>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03</a:t>
            </a:r>
            <a:endParaRPr/>
          </a:p>
        </p:txBody>
      </p:sp>
      <p:sp>
        <p:nvSpPr>
          <p:cNvPr id="456" name="Google Shape;456;g3fbd3ed65c2_0_269"/>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457" name="Google Shape;457;g3fbd3ed65c2_0_269"/>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458" name="Google Shape;458;g3fbd3ed65c2_0_269"/>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459" name="Google Shape;459;g3fbd3ed65c2_0_269"/>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g3fbd3ed65c2_0_269"/>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461" name="Google Shape;461;g3fbd3ed65c2_0_269"/>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462" name="Google Shape;462;g3fbd3ed65c2_0_269"/>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10</a:t>
            </a:r>
            <a:endParaRPr/>
          </a:p>
        </p:txBody>
      </p:sp>
      <p:sp>
        <p:nvSpPr>
          <p:cNvPr id="463" name="Google Shape;463;g3fbd3ed65c2_0_269"/>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1F603A"/>
                </a:solidFill>
              </a:rPr>
              <a:t>Phương pháp đề xuất</a:t>
            </a:r>
            <a:endParaRPr b="1"/>
          </a:p>
        </p:txBody>
      </p:sp>
      <p:sp>
        <p:nvSpPr>
          <p:cNvPr id="464" name="Google Shape;464;g3fbd3ed65c2_0_269"/>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3</a:t>
            </a:r>
            <a:endParaRPr/>
          </a:p>
        </p:txBody>
      </p:sp>
      <p:sp>
        <p:nvSpPr>
          <p:cNvPr id="465" name="Google Shape;465;g3fbd3ed65c2_0_269"/>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g3fbd3ed65c2_0_269"/>
          <p:cNvSpPr/>
          <p:nvPr/>
        </p:nvSpPr>
        <p:spPr>
          <a:xfrm>
            <a:off x="1143000" y="973875"/>
            <a:ext cx="106203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en-US" sz="2000">
                <a:solidFill>
                  <a:srgbClr val="0A2540"/>
                </a:solidFill>
                <a:latin typeface="Merriweather"/>
                <a:ea typeface="Merriweather"/>
                <a:cs typeface="Merriweather"/>
                <a:sym typeface="Merriweather"/>
              </a:rPr>
              <a:t>ψ(V)</a:t>
            </a:r>
            <a:r>
              <a:rPr b="1" lang="en-US" sz="2025">
                <a:solidFill>
                  <a:srgbClr val="0B2A47"/>
                </a:solidFill>
              </a:rPr>
              <a:t> </a:t>
            </a:r>
            <a:r>
              <a:rPr lang="en-US" sz="2025">
                <a:solidFill>
                  <a:srgbClr val="0B2A47"/>
                </a:solidFill>
              </a:rPr>
              <a:t>(Số liệu thống kê thực) đã được thay thế hoàn toàn bởi </a:t>
            </a:r>
            <a:r>
              <a:rPr b="1" i="1" lang="en-US" sz="2000">
                <a:solidFill>
                  <a:srgbClr val="0A2540"/>
                </a:solidFill>
                <a:latin typeface="Merriweather"/>
                <a:ea typeface="Merriweather"/>
                <a:cs typeface="Merriweather"/>
                <a:sym typeface="Merriweather"/>
              </a:rPr>
              <a:t>C(V)</a:t>
            </a:r>
            <a:r>
              <a:rPr i="1" lang="en-US" sz="2000">
                <a:solidFill>
                  <a:srgbClr val="0A2540"/>
                </a:solidFill>
                <a:latin typeface="Merriweather"/>
                <a:ea typeface="Merriweather"/>
                <a:cs typeface="Merriweather"/>
                <a:sym typeface="Merriweather"/>
              </a:rPr>
              <a:t> </a:t>
            </a:r>
            <a:r>
              <a:rPr lang="en-US" sz="2025">
                <a:solidFill>
                  <a:srgbClr val="0B2A47"/>
                </a:solidFill>
              </a:rPr>
              <a:t>(Nhãn danh mục)</a:t>
            </a:r>
            <a:endParaRPr/>
          </a:p>
        </p:txBody>
      </p:sp>
      <p:sp>
        <p:nvSpPr>
          <p:cNvPr id="467" name="Google Shape;467;g3fbd3ed65c2_0_269"/>
          <p:cNvSpPr/>
          <p:nvPr/>
        </p:nvSpPr>
        <p:spPr>
          <a:xfrm>
            <a:off x="1122850" y="1466625"/>
            <a:ext cx="4537200" cy="952500"/>
          </a:xfrm>
          <a:prstGeom prst="roundRect">
            <a:avLst>
              <a:gd fmla="val 8000" name="adj"/>
            </a:avLst>
          </a:prstGeom>
          <a:solidFill>
            <a:srgbClr val="FFFFFF"/>
          </a:solidFill>
          <a:ln cap="flat" cmpd="sng" w="14275">
            <a:solidFill>
              <a:srgbClr val="D8B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g3fbd3ed65c2_0_269"/>
          <p:cNvSpPr/>
          <p:nvPr/>
        </p:nvSpPr>
        <p:spPr>
          <a:xfrm>
            <a:off x="1122850" y="1466625"/>
            <a:ext cx="51300" cy="952500"/>
          </a:xfrm>
          <a:prstGeom prst="rect">
            <a:avLst/>
          </a:prstGeom>
          <a:solidFill>
            <a:srgbClr val="D8B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g3fbd3ed65c2_0_269"/>
          <p:cNvSpPr/>
          <p:nvPr/>
        </p:nvSpPr>
        <p:spPr>
          <a:xfrm>
            <a:off x="1009810" y="1714275"/>
            <a:ext cx="4345200" cy="400200"/>
          </a:xfrm>
          <a:prstGeom prst="rect">
            <a:avLst/>
          </a:prstGeom>
          <a:noFill/>
          <a:ln>
            <a:noFill/>
          </a:ln>
        </p:spPr>
        <p:txBody>
          <a:bodyPr anchorCtr="0" anchor="t" bIns="45700" lIns="91425" spcFirstLastPara="1" rIns="91425" wrap="square" tIns="45700">
            <a:noAutofit/>
          </a:bodyPr>
          <a:lstStyle/>
          <a:p>
            <a:pPr indent="0" lvl="0" marL="457200" rtl="0" algn="ctr">
              <a:lnSpc>
                <a:spcPct val="150000"/>
              </a:lnSpc>
              <a:spcBef>
                <a:spcPts val="0"/>
              </a:spcBef>
              <a:spcAft>
                <a:spcPts val="0"/>
              </a:spcAft>
              <a:buNone/>
            </a:pPr>
            <a:r>
              <a:rPr i="1" lang="en-US" sz="2000">
                <a:solidFill>
                  <a:srgbClr val="0A2540"/>
                </a:solidFill>
                <a:latin typeface="Merriweather"/>
                <a:ea typeface="Merriweather"/>
                <a:cs typeface="Merriweather"/>
                <a:sym typeface="Merriweather"/>
              </a:rPr>
              <a:t>C</a:t>
            </a:r>
            <a:r>
              <a:rPr i="1" lang="en-US" sz="2000">
                <a:solidFill>
                  <a:srgbClr val="0A2540"/>
                </a:solidFill>
                <a:latin typeface="Merriweather"/>
                <a:ea typeface="Merriweather"/>
                <a:cs typeface="Merriweather"/>
                <a:sym typeface="Merriweather"/>
              </a:rPr>
              <a:t>WCi(n, d) = &lt; i, n, s, d, V, </a:t>
            </a:r>
            <a:r>
              <a:rPr b="1" i="1" lang="en-US" sz="2000">
                <a:solidFill>
                  <a:srgbClr val="D4AF37"/>
                </a:solidFill>
                <a:latin typeface="Merriweather"/>
                <a:ea typeface="Merriweather"/>
                <a:cs typeface="Merriweather"/>
                <a:sym typeface="Merriweather"/>
              </a:rPr>
              <a:t>C(V)</a:t>
            </a:r>
            <a:r>
              <a:rPr i="1" lang="en-US" sz="2000">
                <a:solidFill>
                  <a:srgbClr val="0A2540"/>
                </a:solidFill>
                <a:latin typeface="Merriweather"/>
                <a:ea typeface="Merriweather"/>
                <a:cs typeface="Merriweather"/>
                <a:sym typeface="Merriweather"/>
              </a:rPr>
              <a:t> &gt;</a:t>
            </a:r>
            <a:endParaRPr/>
          </a:p>
        </p:txBody>
      </p:sp>
      <p:sp>
        <p:nvSpPr>
          <p:cNvPr id="470" name="Google Shape;470;g3fbd3ed65c2_0_269"/>
          <p:cNvSpPr/>
          <p:nvPr/>
        </p:nvSpPr>
        <p:spPr>
          <a:xfrm>
            <a:off x="5974963" y="1477179"/>
            <a:ext cx="5656200" cy="952500"/>
          </a:xfrm>
          <a:prstGeom prst="roundRect">
            <a:avLst>
              <a:gd fmla="val 8000" name="adj"/>
            </a:avLst>
          </a:prstGeom>
          <a:solidFill>
            <a:srgbClr val="FFFFFF"/>
          </a:solidFill>
          <a:ln cap="flat" cmpd="sng" w="14275">
            <a:solidFill>
              <a:srgbClr val="D8B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471" name="Google Shape;471;g3fbd3ed65c2_0_269"/>
          <p:cNvSpPr/>
          <p:nvPr/>
        </p:nvSpPr>
        <p:spPr>
          <a:xfrm>
            <a:off x="5981640" y="1476850"/>
            <a:ext cx="61500" cy="952500"/>
          </a:xfrm>
          <a:prstGeom prst="rect">
            <a:avLst/>
          </a:prstGeom>
          <a:solidFill>
            <a:srgbClr val="D8B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472" name="Google Shape;472;g3fbd3ed65c2_0_269"/>
          <p:cNvSpPr/>
          <p:nvPr/>
        </p:nvSpPr>
        <p:spPr>
          <a:xfrm>
            <a:off x="6063591" y="1597625"/>
            <a:ext cx="5539800" cy="590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US" sz="1900">
                <a:solidFill>
                  <a:srgbClr val="292929"/>
                </a:solidFill>
              </a:rPr>
              <a:t>Điều kiện thời tiết được cho là tương đồng khi giá trị </a:t>
            </a:r>
            <a:r>
              <a:rPr b="1" i="1" lang="en-US" sz="2100">
                <a:solidFill>
                  <a:srgbClr val="0A2540"/>
                </a:solidFill>
                <a:latin typeface="Merriweather"/>
                <a:ea typeface="Merriweather"/>
                <a:cs typeface="Merriweather"/>
                <a:sym typeface="Merriweather"/>
              </a:rPr>
              <a:t>n</a:t>
            </a:r>
            <a:r>
              <a:rPr i="1" lang="en-US" sz="2100">
                <a:solidFill>
                  <a:srgbClr val="0A2540"/>
                </a:solidFill>
                <a:latin typeface="Merriweather"/>
                <a:ea typeface="Merriweather"/>
                <a:cs typeface="Merriweather"/>
                <a:sym typeface="Merriweather"/>
              </a:rPr>
              <a:t>, </a:t>
            </a:r>
            <a:r>
              <a:rPr b="1" i="1" lang="en-US" sz="2100">
                <a:solidFill>
                  <a:srgbClr val="0A2540"/>
                </a:solidFill>
                <a:latin typeface="Merriweather"/>
                <a:ea typeface="Merriweather"/>
                <a:cs typeface="Merriweather"/>
                <a:sym typeface="Merriweather"/>
              </a:rPr>
              <a:t>d</a:t>
            </a:r>
            <a:r>
              <a:rPr i="1" lang="en-US" sz="2100">
                <a:solidFill>
                  <a:srgbClr val="0A2540"/>
                </a:solidFill>
                <a:latin typeface="Merriweather"/>
                <a:ea typeface="Merriweather"/>
                <a:cs typeface="Merriweather"/>
                <a:sym typeface="Merriweather"/>
              </a:rPr>
              <a:t>, </a:t>
            </a:r>
            <a:r>
              <a:rPr b="1" i="1" lang="en-US" sz="2100">
                <a:solidFill>
                  <a:srgbClr val="0A2540"/>
                </a:solidFill>
                <a:latin typeface="Merriweather"/>
                <a:ea typeface="Merriweather"/>
                <a:cs typeface="Merriweather"/>
                <a:sym typeface="Merriweather"/>
              </a:rPr>
              <a:t>V</a:t>
            </a:r>
            <a:r>
              <a:rPr i="1" lang="en-US" sz="2100">
                <a:solidFill>
                  <a:srgbClr val="0A2540"/>
                </a:solidFill>
                <a:latin typeface="Merriweather"/>
                <a:ea typeface="Merriweather"/>
                <a:cs typeface="Merriweather"/>
                <a:sym typeface="Merriweather"/>
              </a:rPr>
              <a:t>, </a:t>
            </a:r>
            <a:r>
              <a:rPr b="1" i="1" lang="en-US" sz="2100">
                <a:solidFill>
                  <a:srgbClr val="0A2540"/>
                </a:solidFill>
                <a:latin typeface="Merriweather"/>
                <a:ea typeface="Merriweather"/>
                <a:cs typeface="Merriweather"/>
                <a:sym typeface="Merriweather"/>
              </a:rPr>
              <a:t>C(V)</a:t>
            </a:r>
            <a:r>
              <a:rPr lang="en-US" sz="1900">
                <a:solidFill>
                  <a:srgbClr val="292929"/>
                </a:solidFill>
              </a:rPr>
              <a:t> của cả hai CWC là bằng nhau</a:t>
            </a:r>
            <a:endParaRPr sz="1500">
              <a:solidFill>
                <a:schemeClr val="dk2"/>
              </a:solidFill>
            </a:endParaRPr>
          </a:p>
        </p:txBody>
      </p:sp>
      <p:pic>
        <p:nvPicPr>
          <p:cNvPr id="473" name="Google Shape;473;g3fbd3ed65c2_0_269"/>
          <p:cNvPicPr preferRelativeResize="0"/>
          <p:nvPr/>
        </p:nvPicPr>
        <p:blipFill rotWithShape="1">
          <a:blip r:embed="rId4">
            <a:alphaModFix/>
          </a:blip>
          <a:srcRect b="17198" l="0" r="0" t="0"/>
          <a:stretch/>
        </p:blipFill>
        <p:spPr>
          <a:xfrm>
            <a:off x="1122850" y="2466450"/>
            <a:ext cx="10487351" cy="3808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478" name="Shape 478"/>
        <p:cNvGrpSpPr/>
        <p:nvPr/>
      </p:nvGrpSpPr>
      <p:grpSpPr>
        <a:xfrm>
          <a:off x="0" y="0"/>
          <a:ext cx="0" cy="0"/>
          <a:chOff x="0" y="0"/>
          <a:chExt cx="0" cy="0"/>
        </a:xfrm>
      </p:grpSpPr>
      <p:sp>
        <p:nvSpPr>
          <p:cNvPr id="479" name="Google Shape;479;g3fbd3ed65c2_0_515"/>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g3fbd3ed65c2_0_515"/>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g3fbd3ed65c2_0_515"/>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2" name="Google Shape;482;g3fbd3ed65c2_0_515"/>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483" name="Google Shape;483;g3fbd3ed65c2_0_515"/>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g3fbd3ed65c2_0_515"/>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485" name="Google Shape;485;g3fbd3ed65c2_0_515"/>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g3fbd3ed65c2_0_515"/>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487" name="Google Shape;487;g3fbd3ed65c2_0_515"/>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488" name="Google Shape;488;g3fbd3ed65c2_0_515"/>
          <p:cNvSpPr/>
          <p:nvPr/>
        </p:nvSpPr>
        <p:spPr>
          <a:xfrm>
            <a:off x="114300" y="4486275"/>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g3fbd3ed65c2_0_515"/>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03</a:t>
            </a:r>
            <a:endParaRPr/>
          </a:p>
        </p:txBody>
      </p:sp>
      <p:sp>
        <p:nvSpPr>
          <p:cNvPr id="490" name="Google Shape;490;g3fbd3ed65c2_0_515"/>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491" name="Google Shape;491;g3fbd3ed65c2_0_515"/>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492" name="Google Shape;492;g3fbd3ed65c2_0_515"/>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493" name="Google Shape;493;g3fbd3ed65c2_0_515"/>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g3fbd3ed65c2_0_515"/>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495" name="Google Shape;495;g3fbd3ed65c2_0_515"/>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496" name="Google Shape;496;g3fbd3ed65c2_0_515"/>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11</a:t>
            </a:r>
            <a:endParaRPr/>
          </a:p>
        </p:txBody>
      </p:sp>
      <p:sp>
        <p:nvSpPr>
          <p:cNvPr id="497" name="Google Shape;497;g3fbd3ed65c2_0_515"/>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1F603A"/>
                </a:solidFill>
              </a:rPr>
              <a:t>Phương pháp đề xuất</a:t>
            </a:r>
            <a:endParaRPr b="1"/>
          </a:p>
        </p:txBody>
      </p:sp>
      <p:sp>
        <p:nvSpPr>
          <p:cNvPr id="498" name="Google Shape;498;g3fbd3ed65c2_0_515"/>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3</a:t>
            </a:r>
            <a:endParaRPr/>
          </a:p>
        </p:txBody>
      </p:sp>
      <p:sp>
        <p:nvSpPr>
          <p:cNvPr id="499" name="Google Shape;499;g3fbd3ed65c2_0_515"/>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g3fbd3ed65c2_0_515"/>
          <p:cNvSpPr/>
          <p:nvPr/>
        </p:nvSpPr>
        <p:spPr>
          <a:xfrm>
            <a:off x="1143000" y="973875"/>
            <a:ext cx="106203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00">
                <a:solidFill>
                  <a:srgbClr val="0A2540"/>
                </a:solidFill>
              </a:rPr>
              <a:t>Lựa chọn loại chu kỳ thời gian (Period Type - </a:t>
            </a:r>
            <a:r>
              <a:rPr i="1" lang="en-US" sz="1900">
                <a:solidFill>
                  <a:srgbClr val="0A2540"/>
                </a:solidFill>
                <a:latin typeface="Merriweather"/>
                <a:ea typeface="Merriweather"/>
                <a:cs typeface="Merriweather"/>
                <a:sym typeface="Merriweather"/>
              </a:rPr>
              <a:t>pt</a:t>
            </a:r>
            <a:r>
              <a:rPr b="1" lang="en-US" sz="2000">
                <a:solidFill>
                  <a:srgbClr val="0A2540"/>
                </a:solidFill>
              </a:rPr>
              <a:t>)</a:t>
            </a:r>
            <a:endParaRPr b="1"/>
          </a:p>
        </p:txBody>
      </p:sp>
      <p:sp>
        <p:nvSpPr>
          <p:cNvPr id="501" name="Google Shape;501;g3fbd3ed65c2_0_515"/>
          <p:cNvSpPr/>
          <p:nvPr/>
        </p:nvSpPr>
        <p:spPr>
          <a:xfrm>
            <a:off x="1122850" y="1466625"/>
            <a:ext cx="10394700" cy="1705500"/>
          </a:xfrm>
          <a:prstGeom prst="roundRect">
            <a:avLst>
              <a:gd fmla="val 8000" name="adj"/>
            </a:avLst>
          </a:prstGeom>
          <a:solidFill>
            <a:srgbClr val="FFFFFF"/>
          </a:solidFill>
          <a:ln cap="flat" cmpd="sng" w="14275">
            <a:solidFill>
              <a:srgbClr val="D8B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g3fbd3ed65c2_0_515"/>
          <p:cNvSpPr/>
          <p:nvPr/>
        </p:nvSpPr>
        <p:spPr>
          <a:xfrm>
            <a:off x="1122850" y="1466625"/>
            <a:ext cx="51300" cy="1705500"/>
          </a:xfrm>
          <a:prstGeom prst="rect">
            <a:avLst/>
          </a:prstGeom>
          <a:solidFill>
            <a:srgbClr val="D8B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g3fbd3ed65c2_0_515"/>
          <p:cNvSpPr/>
          <p:nvPr/>
        </p:nvSpPr>
        <p:spPr>
          <a:xfrm>
            <a:off x="1122850" y="1466625"/>
            <a:ext cx="9842700" cy="1705500"/>
          </a:xfrm>
          <a:prstGeom prst="rect">
            <a:avLst/>
          </a:prstGeom>
          <a:noFill/>
          <a:ln>
            <a:noFill/>
          </a:ln>
        </p:spPr>
        <p:txBody>
          <a:bodyPr anchorCtr="0" anchor="t" bIns="45700" lIns="91425" spcFirstLastPara="1" rIns="91425" wrap="square" tIns="45700">
            <a:noAutofit/>
          </a:bodyPr>
          <a:lstStyle/>
          <a:p>
            <a:pPr indent="0" lvl="0" marL="457200" rtl="0" algn="l">
              <a:lnSpc>
                <a:spcPct val="100000"/>
              </a:lnSpc>
              <a:spcBef>
                <a:spcPts val="0"/>
              </a:spcBef>
              <a:spcAft>
                <a:spcPts val="0"/>
              </a:spcAft>
              <a:buNone/>
            </a:pPr>
            <a:r>
              <a:rPr lang="en-US" sz="2000">
                <a:solidFill>
                  <a:srgbClr val="0A2540"/>
                </a:solidFill>
              </a:rPr>
              <a:t>Xác định </a:t>
            </a:r>
            <a:r>
              <a:rPr i="1" lang="en-US" sz="2000">
                <a:solidFill>
                  <a:srgbClr val="0A2540"/>
                </a:solidFill>
                <a:latin typeface="Merriweather"/>
                <a:ea typeface="Merriweather"/>
                <a:cs typeface="Merriweather"/>
                <a:sym typeface="Merriweather"/>
              </a:rPr>
              <a:t>pt </a:t>
            </a:r>
            <a:r>
              <a:rPr lang="en-US" sz="2000">
                <a:solidFill>
                  <a:srgbClr val="0A2540"/>
                </a:solidFill>
              </a:rPr>
              <a:t>dựa trên nhu cầu của ngành, bao gồm 3 loại chính:</a:t>
            </a:r>
            <a:endParaRPr sz="2000">
              <a:solidFill>
                <a:srgbClr val="0A2540"/>
              </a:solidFill>
            </a:endParaRPr>
          </a:p>
          <a:p>
            <a:pPr indent="-355600" lvl="0" marL="457200" rtl="0" algn="l">
              <a:lnSpc>
                <a:spcPct val="100000"/>
              </a:lnSpc>
              <a:spcBef>
                <a:spcPts val="0"/>
              </a:spcBef>
              <a:spcAft>
                <a:spcPts val="0"/>
              </a:spcAft>
              <a:buClr>
                <a:srgbClr val="0A2540"/>
              </a:buClr>
              <a:buSzPts val="2000"/>
              <a:buChar char="●"/>
            </a:pPr>
            <a:r>
              <a:rPr b="1" lang="en-US" sz="2000">
                <a:solidFill>
                  <a:srgbClr val="0A2540"/>
                </a:solidFill>
              </a:rPr>
              <a:t>Theo năm</a:t>
            </a:r>
            <a:r>
              <a:rPr lang="en-US" sz="2000">
                <a:solidFill>
                  <a:srgbClr val="0A2540"/>
                </a:solidFill>
              </a:rPr>
              <a:t> ( </a:t>
            </a:r>
            <a:r>
              <a:rPr i="1" lang="en-US" sz="1900">
                <a:solidFill>
                  <a:srgbClr val="0A2540"/>
                </a:solidFill>
                <a:latin typeface="Merriweather"/>
                <a:ea typeface="Merriweather"/>
                <a:cs typeface="Merriweather"/>
                <a:sym typeface="Merriweather"/>
              </a:rPr>
              <a:t>pt </a:t>
            </a:r>
            <a:r>
              <a:rPr lang="en-US" sz="2000">
                <a:solidFill>
                  <a:srgbClr val="0A2540"/>
                </a:solidFill>
              </a:rPr>
              <a:t>= Year): Mỗi chu kỳ là 365 ngày</a:t>
            </a:r>
            <a:endParaRPr sz="2000">
              <a:solidFill>
                <a:srgbClr val="0A2540"/>
              </a:solidFill>
            </a:endParaRPr>
          </a:p>
          <a:p>
            <a:pPr indent="-355600" lvl="0" marL="457200" rtl="0" algn="l">
              <a:lnSpc>
                <a:spcPct val="100000"/>
              </a:lnSpc>
              <a:spcBef>
                <a:spcPts val="0"/>
              </a:spcBef>
              <a:spcAft>
                <a:spcPts val="0"/>
              </a:spcAft>
              <a:buClr>
                <a:srgbClr val="0A2540"/>
              </a:buClr>
              <a:buSzPts val="2000"/>
              <a:buChar char="●"/>
            </a:pPr>
            <a:r>
              <a:rPr b="1" lang="en-US" sz="2000">
                <a:solidFill>
                  <a:srgbClr val="0A2540"/>
                </a:solidFill>
              </a:rPr>
              <a:t>Theo Mùa vụ</a:t>
            </a:r>
            <a:r>
              <a:rPr lang="en-US" sz="2000">
                <a:solidFill>
                  <a:srgbClr val="0A2540"/>
                </a:solidFill>
              </a:rPr>
              <a:t> ( </a:t>
            </a:r>
            <a:r>
              <a:rPr i="1" lang="en-US" sz="1900">
                <a:solidFill>
                  <a:srgbClr val="0A2540"/>
                </a:solidFill>
                <a:latin typeface="Merriweather"/>
                <a:ea typeface="Merriweather"/>
                <a:cs typeface="Merriweather"/>
                <a:sym typeface="Merriweather"/>
              </a:rPr>
              <a:t>pt </a:t>
            </a:r>
            <a:r>
              <a:rPr lang="en-US" sz="2000">
                <a:solidFill>
                  <a:srgbClr val="0A2540"/>
                </a:solidFill>
              </a:rPr>
              <a:t>= Season): Mùa Kharif, Rabi, hoặc Summer</a:t>
            </a:r>
            <a:endParaRPr sz="2000">
              <a:solidFill>
                <a:srgbClr val="0A2540"/>
              </a:solidFill>
            </a:endParaRPr>
          </a:p>
          <a:p>
            <a:pPr indent="-355600" lvl="0" marL="457200" rtl="0" algn="l">
              <a:lnSpc>
                <a:spcPct val="100000"/>
              </a:lnSpc>
              <a:spcBef>
                <a:spcPts val="0"/>
              </a:spcBef>
              <a:spcAft>
                <a:spcPts val="0"/>
              </a:spcAft>
              <a:buClr>
                <a:srgbClr val="0A2540"/>
              </a:buClr>
              <a:buSzPts val="2000"/>
              <a:buChar char="●"/>
            </a:pPr>
            <a:r>
              <a:rPr b="1" lang="en-US" sz="2000">
                <a:solidFill>
                  <a:srgbClr val="0A2540"/>
                </a:solidFill>
              </a:rPr>
              <a:t>Theo giai đoạn sinh trưởng</a:t>
            </a:r>
            <a:r>
              <a:rPr lang="en-US" sz="2000">
                <a:solidFill>
                  <a:srgbClr val="0A2540"/>
                </a:solidFill>
              </a:rPr>
              <a:t> ( </a:t>
            </a:r>
            <a:r>
              <a:rPr i="1" lang="en-US" sz="1900">
                <a:solidFill>
                  <a:srgbClr val="0A2540"/>
                </a:solidFill>
                <a:latin typeface="Merriweather"/>
                <a:ea typeface="Merriweather"/>
                <a:cs typeface="Merriweather"/>
                <a:sym typeface="Merriweather"/>
              </a:rPr>
              <a:t>pt </a:t>
            </a:r>
            <a:r>
              <a:rPr lang="en-US" sz="2000">
                <a:solidFill>
                  <a:srgbClr val="0A2540"/>
                </a:solidFill>
              </a:rPr>
              <a:t>= Phenophases): Các giai đoạn phát triển của cây trồng như gieo hạt, trỗ bông, chín,... </a:t>
            </a:r>
            <a:endParaRPr sz="2000">
              <a:solidFill>
                <a:srgbClr val="0A2540"/>
              </a:solidFill>
            </a:endParaRPr>
          </a:p>
        </p:txBody>
      </p:sp>
      <p:pic>
        <p:nvPicPr>
          <p:cNvPr id="504" name="Google Shape;504;g3fbd3ed65c2_0_515"/>
          <p:cNvPicPr preferRelativeResize="0"/>
          <p:nvPr/>
        </p:nvPicPr>
        <p:blipFill>
          <a:blip r:embed="rId4">
            <a:alphaModFix/>
          </a:blip>
          <a:stretch>
            <a:fillRect/>
          </a:stretch>
        </p:blipFill>
        <p:spPr>
          <a:xfrm>
            <a:off x="1541825" y="3324525"/>
            <a:ext cx="9556758" cy="29905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509" name="Shape 509"/>
        <p:cNvGrpSpPr/>
        <p:nvPr/>
      </p:nvGrpSpPr>
      <p:grpSpPr>
        <a:xfrm>
          <a:off x="0" y="0"/>
          <a:ext cx="0" cy="0"/>
          <a:chOff x="0" y="0"/>
          <a:chExt cx="0" cy="0"/>
        </a:xfrm>
      </p:grpSpPr>
      <p:sp>
        <p:nvSpPr>
          <p:cNvPr id="510" name="Google Shape;510;g3fbd3ed65c2_0_549"/>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g3fbd3ed65c2_0_549"/>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g3fbd3ed65c2_0_549"/>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3" name="Google Shape;513;g3fbd3ed65c2_0_549"/>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514" name="Google Shape;514;g3fbd3ed65c2_0_549"/>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g3fbd3ed65c2_0_549"/>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516" name="Google Shape;516;g3fbd3ed65c2_0_549"/>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g3fbd3ed65c2_0_549"/>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518" name="Google Shape;518;g3fbd3ed65c2_0_549"/>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519" name="Google Shape;519;g3fbd3ed65c2_0_549"/>
          <p:cNvSpPr/>
          <p:nvPr/>
        </p:nvSpPr>
        <p:spPr>
          <a:xfrm>
            <a:off x="114300" y="4486275"/>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g3fbd3ed65c2_0_549"/>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03</a:t>
            </a:r>
            <a:endParaRPr/>
          </a:p>
        </p:txBody>
      </p:sp>
      <p:sp>
        <p:nvSpPr>
          <p:cNvPr id="521" name="Google Shape;521;g3fbd3ed65c2_0_549"/>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522" name="Google Shape;522;g3fbd3ed65c2_0_549"/>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523" name="Google Shape;523;g3fbd3ed65c2_0_549"/>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524" name="Google Shape;524;g3fbd3ed65c2_0_549"/>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g3fbd3ed65c2_0_549"/>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526" name="Google Shape;526;g3fbd3ed65c2_0_549"/>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527" name="Google Shape;527;g3fbd3ed65c2_0_549"/>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12</a:t>
            </a:r>
            <a:endParaRPr/>
          </a:p>
        </p:txBody>
      </p:sp>
      <p:sp>
        <p:nvSpPr>
          <p:cNvPr id="528" name="Google Shape;528;g3fbd3ed65c2_0_549"/>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1F603A"/>
                </a:solidFill>
              </a:rPr>
              <a:t>Phương pháp đề xuất</a:t>
            </a:r>
            <a:endParaRPr b="1"/>
          </a:p>
        </p:txBody>
      </p:sp>
      <p:sp>
        <p:nvSpPr>
          <p:cNvPr id="529" name="Google Shape;529;g3fbd3ed65c2_0_549"/>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3</a:t>
            </a:r>
            <a:endParaRPr/>
          </a:p>
        </p:txBody>
      </p:sp>
      <p:sp>
        <p:nvSpPr>
          <p:cNvPr id="530" name="Google Shape;530;g3fbd3ed65c2_0_549"/>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g3fbd3ed65c2_0_549"/>
          <p:cNvSpPr/>
          <p:nvPr/>
        </p:nvSpPr>
        <p:spPr>
          <a:xfrm>
            <a:off x="1143000" y="973875"/>
            <a:ext cx="106203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00">
                <a:solidFill>
                  <a:srgbClr val="0A2540"/>
                </a:solidFill>
              </a:rPr>
              <a:t>Tính toán tỷ lệ bao phủ</a:t>
            </a:r>
            <a:r>
              <a:rPr b="1" lang="en-US" sz="2000">
                <a:solidFill>
                  <a:srgbClr val="0A2540"/>
                </a:solidFill>
              </a:rPr>
              <a:t> (</a:t>
            </a:r>
            <a:r>
              <a:rPr b="1" lang="en-US" sz="2000">
                <a:solidFill>
                  <a:srgbClr val="0A2540"/>
                </a:solidFill>
              </a:rPr>
              <a:t>Coverage Percentage</a:t>
            </a:r>
            <a:r>
              <a:rPr b="1" lang="en-US" sz="2000">
                <a:solidFill>
                  <a:srgbClr val="0A2540"/>
                </a:solidFill>
              </a:rPr>
              <a:t> - </a:t>
            </a:r>
            <a:r>
              <a:rPr i="1" lang="en-US" sz="1900">
                <a:solidFill>
                  <a:srgbClr val="0A2540"/>
                </a:solidFill>
                <a:latin typeface="Merriweather"/>
                <a:ea typeface="Merriweather"/>
                <a:cs typeface="Merriweather"/>
                <a:sym typeface="Merriweather"/>
              </a:rPr>
              <a:t>CP</a:t>
            </a:r>
            <a:r>
              <a:rPr b="1" lang="en-US" sz="2000">
                <a:solidFill>
                  <a:srgbClr val="0A2540"/>
                </a:solidFill>
              </a:rPr>
              <a:t>)</a:t>
            </a:r>
            <a:endParaRPr b="1"/>
          </a:p>
        </p:txBody>
      </p:sp>
      <p:sp>
        <p:nvSpPr>
          <p:cNvPr id="532" name="Google Shape;532;g3fbd3ed65c2_0_549"/>
          <p:cNvSpPr/>
          <p:nvPr/>
        </p:nvSpPr>
        <p:spPr>
          <a:xfrm>
            <a:off x="1294300" y="1466625"/>
            <a:ext cx="10394700" cy="1705500"/>
          </a:xfrm>
          <a:prstGeom prst="roundRect">
            <a:avLst>
              <a:gd fmla="val 8000" name="adj"/>
            </a:avLst>
          </a:prstGeom>
          <a:solidFill>
            <a:srgbClr val="FFFFFF"/>
          </a:solidFill>
          <a:ln cap="flat" cmpd="sng" w="14275">
            <a:solidFill>
              <a:srgbClr val="D8B3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g3fbd3ed65c2_0_549"/>
          <p:cNvSpPr/>
          <p:nvPr/>
        </p:nvSpPr>
        <p:spPr>
          <a:xfrm>
            <a:off x="1294300" y="1466625"/>
            <a:ext cx="51300" cy="1705500"/>
          </a:xfrm>
          <a:prstGeom prst="rect">
            <a:avLst/>
          </a:prstGeom>
          <a:solidFill>
            <a:srgbClr val="D8B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g3fbd3ed65c2_0_549"/>
          <p:cNvSpPr/>
          <p:nvPr/>
        </p:nvSpPr>
        <p:spPr>
          <a:xfrm>
            <a:off x="1294300" y="1466625"/>
            <a:ext cx="10163400" cy="1705500"/>
          </a:xfrm>
          <a:prstGeom prst="rect">
            <a:avLst/>
          </a:prstGeom>
          <a:noFill/>
          <a:ln>
            <a:noFill/>
          </a:ln>
          <a:effectLst>
            <a:reflection blurRad="0" dir="5400000" dist="38100" endA="0" endPos="30000" fadeDir="5400012" kx="0" rotWithShape="0" algn="bl" stPos="0" sy="-100000" ky="0"/>
          </a:effectLst>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US" sz="2000">
                <a:solidFill>
                  <a:srgbClr val="0A2540"/>
                </a:solidFill>
              </a:rPr>
              <a:t>Với chu kỳ hiện tại </a:t>
            </a:r>
            <a:r>
              <a:rPr b="1" lang="en-US" sz="2000">
                <a:solidFill>
                  <a:srgbClr val="0A2540"/>
                </a:solidFill>
              </a:rPr>
              <a:t>pᵢ</a:t>
            </a:r>
            <a:r>
              <a:rPr lang="en-US" sz="2000">
                <a:solidFill>
                  <a:srgbClr val="0A2540"/>
                </a:solidFill>
              </a:rPr>
              <a:t> và tập các chu kỳ quá khứ </a:t>
            </a:r>
            <a:r>
              <a:rPr b="1" lang="en-US" sz="2000">
                <a:solidFill>
                  <a:srgbClr val="0A2540"/>
                </a:solidFill>
              </a:rPr>
              <a:t>P</a:t>
            </a:r>
            <a:r>
              <a:rPr b="1" lang="en-US" sz="1600">
                <a:solidFill>
                  <a:srgbClr val="0A2540"/>
                </a:solidFill>
              </a:rPr>
              <a:t>set</a:t>
            </a:r>
            <a:r>
              <a:rPr lang="en-US" sz="2000">
                <a:solidFill>
                  <a:srgbClr val="0A2540"/>
                </a:solidFill>
              </a:rPr>
              <a:t>, chỉ số </a:t>
            </a:r>
            <a:r>
              <a:rPr b="1" lang="en-US" sz="2000">
                <a:solidFill>
                  <a:srgbClr val="0A2540"/>
                </a:solidFill>
              </a:rPr>
              <a:t>CP(pᵢ/</a:t>
            </a:r>
            <a:r>
              <a:rPr b="1" lang="en-US" sz="2000">
                <a:solidFill>
                  <a:srgbClr val="0A2540"/>
                </a:solidFill>
              </a:rPr>
              <a:t>P</a:t>
            </a:r>
            <a:r>
              <a:rPr b="1" lang="en-US" sz="1600">
                <a:solidFill>
                  <a:srgbClr val="0A2540"/>
                </a:solidFill>
              </a:rPr>
              <a:t>set)</a:t>
            </a:r>
            <a:r>
              <a:rPr lang="en-US" sz="1600">
                <a:solidFill>
                  <a:srgbClr val="0A2540"/>
                </a:solidFill>
              </a:rPr>
              <a:t> </a:t>
            </a:r>
            <a:r>
              <a:rPr lang="en-US" sz="2000">
                <a:solidFill>
                  <a:srgbClr val="0A2540"/>
                </a:solidFill>
              </a:rPr>
              <a:t>được tính bằng tỷ lệ phần trăm các </a:t>
            </a:r>
            <a:r>
              <a:rPr b="1" lang="en-US" sz="2000">
                <a:solidFill>
                  <a:srgbClr val="0A2540"/>
                </a:solidFill>
              </a:rPr>
              <a:t>CWC</a:t>
            </a:r>
            <a:r>
              <a:rPr lang="en-US" sz="2000">
                <a:solidFill>
                  <a:srgbClr val="0A2540"/>
                </a:solidFill>
              </a:rPr>
              <a:t> thuộc </a:t>
            </a:r>
            <a:r>
              <a:rPr b="1" lang="en-US" sz="2000">
                <a:solidFill>
                  <a:srgbClr val="0A2540"/>
                </a:solidFill>
              </a:rPr>
              <a:t>pᵢ</a:t>
            </a:r>
            <a:r>
              <a:rPr lang="en-US" sz="2000">
                <a:solidFill>
                  <a:srgbClr val="0A2540"/>
                </a:solidFill>
              </a:rPr>
              <a:t> đã từng xuất hiện ít nhất một lần trong </a:t>
            </a:r>
            <a:r>
              <a:rPr b="1" lang="en-US" sz="2000">
                <a:solidFill>
                  <a:srgbClr val="0A2540"/>
                </a:solidFill>
              </a:rPr>
              <a:t>P</a:t>
            </a:r>
            <a:r>
              <a:rPr b="1" lang="en-US" sz="1600">
                <a:solidFill>
                  <a:srgbClr val="0A2540"/>
                </a:solidFill>
              </a:rPr>
              <a:t>set</a:t>
            </a:r>
            <a:endParaRPr b="1" sz="2000">
              <a:solidFill>
                <a:srgbClr val="0A2540"/>
              </a:solidFill>
            </a:endParaRPr>
          </a:p>
        </p:txBody>
      </p:sp>
      <p:pic>
        <p:nvPicPr>
          <p:cNvPr id="535" name="Google Shape;535;g3fbd3ed65c2_0_549"/>
          <p:cNvPicPr preferRelativeResize="0"/>
          <p:nvPr/>
        </p:nvPicPr>
        <p:blipFill>
          <a:blip r:embed="rId4">
            <a:alphaModFix/>
          </a:blip>
          <a:stretch>
            <a:fillRect/>
          </a:stretch>
        </p:blipFill>
        <p:spPr>
          <a:xfrm>
            <a:off x="4133701" y="2133750"/>
            <a:ext cx="4715887" cy="962175"/>
          </a:xfrm>
          <a:prstGeom prst="rect">
            <a:avLst/>
          </a:prstGeom>
          <a:noFill/>
          <a:ln>
            <a:noFill/>
          </a:ln>
        </p:spPr>
      </p:pic>
      <p:graphicFrame>
        <p:nvGraphicFramePr>
          <p:cNvPr id="536" name="Google Shape;536;g3fbd3ed65c2_0_549"/>
          <p:cNvGraphicFramePr/>
          <p:nvPr/>
        </p:nvGraphicFramePr>
        <p:xfrm>
          <a:off x="1738275" y="3388188"/>
          <a:ext cx="3000000" cy="3000000"/>
        </p:xfrm>
        <a:graphic>
          <a:graphicData uri="http://schemas.openxmlformats.org/drawingml/2006/table">
            <a:tbl>
              <a:tblPr>
                <a:noFill/>
                <a:tableStyleId>{2005C6F8-0E9F-4D0F-8A03-0A1289535377}</a:tableStyleId>
              </a:tblPr>
              <a:tblGrid>
                <a:gridCol w="2400300"/>
                <a:gridCol w="7029450"/>
              </a:tblGrid>
              <a:tr h="345275">
                <a:tc>
                  <a:txBody>
                    <a:bodyPr/>
                    <a:lstStyle/>
                    <a:p>
                      <a:pPr indent="0" lvl="0" marL="0" marR="0" rtl="0" algn="l">
                        <a:spcBef>
                          <a:spcPts val="0"/>
                        </a:spcBef>
                        <a:spcAft>
                          <a:spcPts val="0"/>
                        </a:spcAft>
                        <a:buClr>
                          <a:srgbClr val="FFFFFF"/>
                        </a:buClr>
                        <a:buSzPts val="1650"/>
                        <a:buFont typeface="Arial"/>
                        <a:buNone/>
                      </a:pPr>
                      <a:r>
                        <a:rPr b="1" lang="en-US" sz="1850">
                          <a:solidFill>
                            <a:srgbClr val="FFFFFF"/>
                          </a:solidFill>
                          <a:latin typeface="Arial"/>
                          <a:ea typeface="Arial"/>
                          <a:cs typeface="Arial"/>
                          <a:sym typeface="Arial"/>
                        </a:rPr>
                        <a:t>Thành phần</a:t>
                      </a:r>
                      <a:endParaRPr sz="1600"/>
                    </a:p>
                  </a:txBody>
                  <a:tcPr marT="45725" marB="45725" marR="91450" marL="91450">
                    <a:solidFill>
                      <a:srgbClr val="0B2A47"/>
                    </a:solidFill>
                  </a:tcPr>
                </a:tc>
                <a:tc>
                  <a:txBody>
                    <a:bodyPr/>
                    <a:lstStyle/>
                    <a:p>
                      <a:pPr indent="0" lvl="0" marL="0" marR="0" rtl="0" algn="l">
                        <a:spcBef>
                          <a:spcPts val="0"/>
                        </a:spcBef>
                        <a:spcAft>
                          <a:spcPts val="0"/>
                        </a:spcAft>
                        <a:buClr>
                          <a:srgbClr val="FFFFFF"/>
                        </a:buClr>
                        <a:buSzPts val="1650"/>
                        <a:buFont typeface="Arial"/>
                        <a:buNone/>
                      </a:pPr>
                      <a:r>
                        <a:rPr b="1" lang="en-US" sz="1850">
                          <a:solidFill>
                            <a:srgbClr val="FFFFFF"/>
                          </a:solidFill>
                          <a:latin typeface="Arial"/>
                          <a:ea typeface="Arial"/>
                          <a:cs typeface="Arial"/>
                          <a:sym typeface="Arial"/>
                        </a:rPr>
                        <a:t>Diễn giải</a:t>
                      </a:r>
                      <a:endParaRPr sz="1600"/>
                    </a:p>
                  </a:txBody>
                  <a:tcPr marT="45725" marB="45725" marR="91450" marL="91450">
                    <a:solidFill>
                      <a:srgbClr val="0B2A47"/>
                    </a:solidFill>
                  </a:tcPr>
                </a:tc>
              </a:tr>
              <a:tr h="345275">
                <a:tc>
                  <a:txBody>
                    <a:bodyPr/>
                    <a:lstStyle/>
                    <a:p>
                      <a:pPr indent="0" lvl="0" marL="0" marR="0" rtl="0" algn="l">
                        <a:spcBef>
                          <a:spcPts val="0"/>
                        </a:spcBef>
                        <a:spcAft>
                          <a:spcPts val="0"/>
                        </a:spcAft>
                        <a:buClr>
                          <a:srgbClr val="292929"/>
                        </a:buClr>
                        <a:buSzPts val="1650"/>
                        <a:buFont typeface="Arial"/>
                        <a:buNone/>
                      </a:pPr>
                      <a:r>
                        <a:rPr b="0" lang="en-US" sz="1850">
                          <a:solidFill>
                            <a:srgbClr val="292929"/>
                          </a:solidFill>
                          <a:latin typeface="Arial"/>
                          <a:ea typeface="Arial"/>
                          <a:cs typeface="Arial"/>
                          <a:sym typeface="Arial"/>
                        </a:rPr>
                        <a:t>P</a:t>
                      </a:r>
                      <a:r>
                        <a:rPr b="0" lang="en-US" sz="1550">
                          <a:solidFill>
                            <a:srgbClr val="292929"/>
                          </a:solidFill>
                          <a:latin typeface="Arial"/>
                          <a:ea typeface="Arial"/>
                          <a:cs typeface="Arial"/>
                          <a:sym typeface="Arial"/>
                        </a:rPr>
                        <a:t>set</a:t>
                      </a:r>
                      <a:endParaRPr sz="1300"/>
                    </a:p>
                  </a:txBody>
                  <a:tcPr marT="45725" marB="45725" marR="91450" marL="91450"/>
                </a:tc>
                <a:tc>
                  <a:txBody>
                    <a:bodyPr/>
                    <a:lstStyle/>
                    <a:p>
                      <a:pPr indent="0" lvl="0" marL="0" marR="0" rtl="0" algn="l">
                        <a:spcBef>
                          <a:spcPts val="0"/>
                        </a:spcBef>
                        <a:spcAft>
                          <a:spcPts val="0"/>
                        </a:spcAft>
                        <a:buClr>
                          <a:srgbClr val="292929"/>
                        </a:buClr>
                        <a:buSzPts val="1650"/>
                        <a:buFont typeface="Arial"/>
                        <a:buNone/>
                      </a:pPr>
                      <a:r>
                        <a:rPr b="0" lang="en-US" sz="1850">
                          <a:solidFill>
                            <a:srgbClr val="292929"/>
                          </a:solidFill>
                          <a:latin typeface="Arial"/>
                          <a:ea typeface="Arial"/>
                          <a:cs typeface="Arial"/>
                          <a:sym typeface="Arial"/>
                        </a:rPr>
                        <a:t>Các </a:t>
                      </a:r>
                      <a:r>
                        <a:rPr lang="en-US" sz="1850">
                          <a:solidFill>
                            <a:srgbClr val="292929"/>
                          </a:solidFill>
                        </a:rPr>
                        <a:t>chu kỳ</a:t>
                      </a:r>
                      <a:r>
                        <a:rPr b="0" lang="en-US" sz="1850">
                          <a:solidFill>
                            <a:srgbClr val="292929"/>
                          </a:solidFill>
                          <a:latin typeface="Arial"/>
                          <a:ea typeface="Arial"/>
                          <a:cs typeface="Arial"/>
                          <a:sym typeface="Arial"/>
                        </a:rPr>
                        <a:t> lịch sử dùng để truy hồi</a:t>
                      </a:r>
                      <a:endParaRPr sz="1600"/>
                    </a:p>
                  </a:txBody>
                  <a:tcPr marT="45725" marB="45725" marR="91450" marL="91450"/>
                </a:tc>
              </a:tr>
              <a:tr h="345275">
                <a:tc>
                  <a:txBody>
                    <a:bodyPr/>
                    <a:lstStyle/>
                    <a:p>
                      <a:pPr indent="0" lvl="0" marL="0" marR="0" rtl="0" algn="l">
                        <a:spcBef>
                          <a:spcPts val="0"/>
                        </a:spcBef>
                        <a:spcAft>
                          <a:spcPts val="0"/>
                        </a:spcAft>
                        <a:buClr>
                          <a:srgbClr val="292929"/>
                        </a:buClr>
                        <a:buSzPts val="1650"/>
                        <a:buFont typeface="Arial"/>
                        <a:buNone/>
                      </a:pPr>
                      <a:r>
                        <a:rPr b="0" lang="en-US" sz="1850">
                          <a:solidFill>
                            <a:srgbClr val="292929"/>
                          </a:solidFill>
                          <a:latin typeface="Arial"/>
                          <a:ea typeface="Arial"/>
                          <a:cs typeface="Arial"/>
                          <a:sym typeface="Arial"/>
                        </a:rPr>
                        <a:t>CWC(pᵢ)</a:t>
                      </a:r>
                      <a:endParaRPr sz="1600"/>
                    </a:p>
                  </a:txBody>
                  <a:tcPr marT="45725" marB="45725" marR="91450" marL="91450">
                    <a:solidFill>
                      <a:srgbClr val="FBFCFD"/>
                    </a:solidFill>
                  </a:tcPr>
                </a:tc>
                <a:tc>
                  <a:txBody>
                    <a:bodyPr/>
                    <a:lstStyle/>
                    <a:p>
                      <a:pPr indent="0" lvl="0" marL="0" marR="0" rtl="0" algn="l">
                        <a:spcBef>
                          <a:spcPts val="0"/>
                        </a:spcBef>
                        <a:spcAft>
                          <a:spcPts val="0"/>
                        </a:spcAft>
                        <a:buClr>
                          <a:srgbClr val="292929"/>
                        </a:buClr>
                        <a:buSzPts val="1650"/>
                        <a:buFont typeface="Arial"/>
                        <a:buNone/>
                      </a:pPr>
                      <a:r>
                        <a:rPr b="0" lang="en-US" sz="1850">
                          <a:solidFill>
                            <a:srgbClr val="292929"/>
                          </a:solidFill>
                          <a:latin typeface="Arial"/>
                          <a:ea typeface="Arial"/>
                          <a:cs typeface="Arial"/>
                          <a:sym typeface="Arial"/>
                        </a:rPr>
                        <a:t>Toàn bộ </a:t>
                      </a:r>
                      <a:r>
                        <a:rPr lang="en-US" sz="1850">
                          <a:solidFill>
                            <a:srgbClr val="292929"/>
                          </a:solidFill>
                        </a:rPr>
                        <a:t>CWC</a:t>
                      </a:r>
                      <a:r>
                        <a:rPr b="0" lang="en-US" sz="1850">
                          <a:solidFill>
                            <a:srgbClr val="292929"/>
                          </a:solidFill>
                          <a:latin typeface="Arial"/>
                          <a:ea typeface="Arial"/>
                          <a:cs typeface="Arial"/>
                          <a:sym typeface="Arial"/>
                        </a:rPr>
                        <a:t> trong </a:t>
                      </a:r>
                      <a:r>
                        <a:rPr lang="en-US" sz="1850">
                          <a:solidFill>
                            <a:srgbClr val="292929"/>
                          </a:solidFill>
                        </a:rPr>
                        <a:t>chu kỳ</a:t>
                      </a:r>
                      <a:r>
                        <a:rPr b="0" lang="en-US" sz="1850">
                          <a:solidFill>
                            <a:srgbClr val="292929"/>
                          </a:solidFill>
                          <a:latin typeface="Arial"/>
                          <a:ea typeface="Arial"/>
                          <a:cs typeface="Arial"/>
                          <a:sym typeface="Arial"/>
                        </a:rPr>
                        <a:t> hiện tại</a:t>
                      </a:r>
                      <a:endParaRPr sz="1600"/>
                    </a:p>
                  </a:txBody>
                  <a:tcPr marT="45725" marB="45725" marR="91450" marL="91450">
                    <a:solidFill>
                      <a:srgbClr val="FBFCFD"/>
                    </a:solidFill>
                  </a:tcPr>
                </a:tc>
              </a:tr>
              <a:tr h="345275">
                <a:tc>
                  <a:txBody>
                    <a:bodyPr/>
                    <a:lstStyle/>
                    <a:p>
                      <a:pPr indent="0" lvl="0" marL="0" marR="0" rtl="0" algn="l">
                        <a:spcBef>
                          <a:spcPts val="0"/>
                        </a:spcBef>
                        <a:spcAft>
                          <a:spcPts val="0"/>
                        </a:spcAft>
                        <a:buClr>
                          <a:srgbClr val="292929"/>
                        </a:buClr>
                        <a:buSzPts val="1650"/>
                        <a:buFont typeface="Arial"/>
                        <a:buNone/>
                      </a:pPr>
                      <a:r>
                        <a:rPr b="0" lang="en-US" sz="1850">
                          <a:solidFill>
                            <a:srgbClr val="292929"/>
                          </a:solidFill>
                          <a:latin typeface="Arial"/>
                          <a:ea typeface="Arial"/>
                          <a:cs typeface="Arial"/>
                          <a:sym typeface="Arial"/>
                        </a:rPr>
                        <a:t>C</a:t>
                      </a:r>
                      <a:r>
                        <a:rPr b="0" lang="en-US" sz="1550">
                          <a:solidFill>
                            <a:srgbClr val="292929"/>
                          </a:solidFill>
                          <a:latin typeface="Arial"/>
                          <a:ea typeface="Arial"/>
                          <a:cs typeface="Arial"/>
                          <a:sym typeface="Arial"/>
                        </a:rPr>
                        <a:t>set</a:t>
                      </a:r>
                      <a:endParaRPr sz="1300"/>
                    </a:p>
                  </a:txBody>
                  <a:tcPr marT="45725" marB="45725" marR="91450" marL="91450"/>
                </a:tc>
                <a:tc>
                  <a:txBody>
                    <a:bodyPr/>
                    <a:lstStyle/>
                    <a:p>
                      <a:pPr indent="0" lvl="0" marL="0" marR="0" rtl="0" algn="l">
                        <a:spcBef>
                          <a:spcPts val="0"/>
                        </a:spcBef>
                        <a:spcAft>
                          <a:spcPts val="0"/>
                        </a:spcAft>
                        <a:buClr>
                          <a:srgbClr val="292929"/>
                        </a:buClr>
                        <a:buSzPts val="1650"/>
                        <a:buFont typeface="Arial"/>
                        <a:buNone/>
                      </a:pPr>
                      <a:r>
                        <a:rPr lang="en-US" sz="1850">
                          <a:solidFill>
                            <a:srgbClr val="292929"/>
                          </a:solidFill>
                        </a:rPr>
                        <a:t>Tập các CWC của chu kỳ hiện tại đã từng xuất hiện trong P</a:t>
                      </a:r>
                      <a:r>
                        <a:rPr lang="en-US" sz="1550">
                          <a:solidFill>
                            <a:srgbClr val="292929"/>
                          </a:solidFill>
                        </a:rPr>
                        <a:t>set</a:t>
                      </a:r>
                      <a:endParaRPr sz="1300"/>
                    </a:p>
                  </a:txBody>
                  <a:tcPr marT="45725" marB="45725" marR="91450" marL="91450"/>
                </a:tc>
              </a:tr>
            </a:tbl>
          </a:graphicData>
        </a:graphic>
      </p:graphicFrame>
      <p:sp>
        <p:nvSpPr>
          <p:cNvPr id="537" name="Google Shape;537;g3fbd3ed65c2_0_549"/>
          <p:cNvSpPr/>
          <p:nvPr/>
        </p:nvSpPr>
        <p:spPr>
          <a:xfrm>
            <a:off x="1294300" y="5116788"/>
            <a:ext cx="10620300" cy="1190700"/>
          </a:xfrm>
          <a:prstGeom prst="roundRect">
            <a:avLst>
              <a:gd fmla="val 6400" name="adj"/>
            </a:avLst>
          </a:prstGeom>
          <a:solidFill>
            <a:srgbClr val="EAF5EC"/>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g3fbd3ed65c2_0_549"/>
          <p:cNvSpPr/>
          <p:nvPr/>
        </p:nvSpPr>
        <p:spPr>
          <a:xfrm>
            <a:off x="1294300" y="5116788"/>
            <a:ext cx="57300" cy="1190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3fbd3ed65c2_0_549"/>
          <p:cNvSpPr/>
          <p:nvPr/>
        </p:nvSpPr>
        <p:spPr>
          <a:xfrm>
            <a:off x="1475200" y="5163104"/>
            <a:ext cx="10258500" cy="1089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1F603A"/>
                </a:solidFill>
              </a:rPr>
              <a:t>Ý nghĩa thực tiễn:</a:t>
            </a:r>
            <a:endParaRPr b="1" sz="1800">
              <a:solidFill>
                <a:srgbClr val="1F603A"/>
              </a:solidFill>
            </a:endParaRPr>
          </a:p>
          <a:p>
            <a:pPr indent="0" lvl="0" marL="0" marR="0" rtl="0" algn="l">
              <a:spcBef>
                <a:spcPts val="0"/>
              </a:spcBef>
              <a:spcAft>
                <a:spcPts val="0"/>
              </a:spcAft>
              <a:buNone/>
            </a:pPr>
            <a:r>
              <a:rPr lang="en-US" sz="1800">
                <a:solidFill>
                  <a:schemeClr val="dk1"/>
                </a:solidFill>
              </a:rPr>
              <a:t>Nếu CP = 80%, điều này có nghĩa là 80% khuyến nghị/tư vấn kỹ thuật mà nông dân cần trong kỳ này đã có sẵn trong thư viện tư vấn của quá khứ và có thể được </a:t>
            </a:r>
            <a:r>
              <a:rPr lang="en-US" sz="1800" u="sng">
                <a:solidFill>
                  <a:schemeClr val="dk1"/>
                </a:solidFill>
              </a:rPr>
              <a:t>tái sử dụng</a:t>
            </a:r>
            <a:r>
              <a:rPr lang="en-US" sz="1800">
                <a:solidFill>
                  <a:schemeClr val="dk1"/>
                </a:solidFill>
              </a:rPr>
              <a:t>.</a:t>
            </a: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544" name="Shape 544"/>
        <p:cNvGrpSpPr/>
        <p:nvPr/>
      </p:nvGrpSpPr>
      <p:grpSpPr>
        <a:xfrm>
          <a:off x="0" y="0"/>
          <a:ext cx="0" cy="0"/>
          <a:chOff x="0" y="0"/>
          <a:chExt cx="0" cy="0"/>
        </a:xfrm>
      </p:grpSpPr>
      <p:sp>
        <p:nvSpPr>
          <p:cNvPr id="545" name="Google Shape;545;g3fbd3ed65c2_0_590"/>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g3fbd3ed65c2_0_590"/>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g3fbd3ed65c2_0_590"/>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8" name="Google Shape;548;g3fbd3ed65c2_0_590"/>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549" name="Google Shape;549;g3fbd3ed65c2_0_590"/>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g3fbd3ed65c2_0_590"/>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551" name="Google Shape;551;g3fbd3ed65c2_0_590"/>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g3fbd3ed65c2_0_590"/>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553" name="Google Shape;553;g3fbd3ed65c2_0_590"/>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554" name="Google Shape;554;g3fbd3ed65c2_0_590"/>
          <p:cNvSpPr/>
          <p:nvPr/>
        </p:nvSpPr>
        <p:spPr>
          <a:xfrm>
            <a:off x="114300" y="4486275"/>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g3fbd3ed65c2_0_590"/>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03</a:t>
            </a:r>
            <a:endParaRPr/>
          </a:p>
        </p:txBody>
      </p:sp>
      <p:sp>
        <p:nvSpPr>
          <p:cNvPr id="556" name="Google Shape;556;g3fbd3ed65c2_0_590"/>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557" name="Google Shape;557;g3fbd3ed65c2_0_590"/>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558" name="Google Shape;558;g3fbd3ed65c2_0_590"/>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559" name="Google Shape;559;g3fbd3ed65c2_0_590"/>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g3fbd3ed65c2_0_590"/>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561" name="Google Shape;561;g3fbd3ed65c2_0_590"/>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562" name="Google Shape;562;g3fbd3ed65c2_0_590"/>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13</a:t>
            </a:r>
            <a:endParaRPr/>
          </a:p>
        </p:txBody>
      </p:sp>
      <p:sp>
        <p:nvSpPr>
          <p:cNvPr id="563" name="Google Shape;563;g3fbd3ed65c2_0_590"/>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1F603A"/>
                </a:solidFill>
              </a:rPr>
              <a:t>Phương pháp đề xuất</a:t>
            </a:r>
            <a:endParaRPr b="1"/>
          </a:p>
        </p:txBody>
      </p:sp>
      <p:sp>
        <p:nvSpPr>
          <p:cNvPr id="564" name="Google Shape;564;g3fbd3ed65c2_0_590"/>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3</a:t>
            </a:r>
            <a:endParaRPr/>
          </a:p>
        </p:txBody>
      </p:sp>
      <p:sp>
        <p:nvSpPr>
          <p:cNvPr id="565" name="Google Shape;565;g3fbd3ed65c2_0_590"/>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g3fbd3ed65c2_0_590"/>
          <p:cNvSpPr/>
          <p:nvPr/>
        </p:nvSpPr>
        <p:spPr>
          <a:xfrm>
            <a:off x="1143000" y="973875"/>
            <a:ext cx="106203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00">
                <a:solidFill>
                  <a:srgbClr val="0A2540"/>
                </a:solidFill>
              </a:rPr>
              <a:t>T</a:t>
            </a:r>
            <a:r>
              <a:rPr b="1" lang="en-US" sz="2000">
                <a:solidFill>
                  <a:srgbClr val="0A2540"/>
                </a:solidFill>
              </a:rPr>
              <a:t>huật</a:t>
            </a:r>
            <a:r>
              <a:rPr b="1" lang="en-US" sz="2000">
                <a:solidFill>
                  <a:srgbClr val="0A2540"/>
                </a:solidFill>
              </a:rPr>
              <a:t> toán </a:t>
            </a:r>
            <a:r>
              <a:rPr b="1" lang="en-US" sz="2000">
                <a:solidFill>
                  <a:srgbClr val="0A2540"/>
                </a:solidFill>
              </a:rPr>
              <a:t>tính độ </a:t>
            </a:r>
            <a:r>
              <a:rPr b="1" lang="en-US" sz="2000">
                <a:solidFill>
                  <a:srgbClr val="0A2540"/>
                </a:solidFill>
              </a:rPr>
              <a:t>bao phủ (</a:t>
            </a:r>
            <a:r>
              <a:rPr b="1" lang="en-US" sz="2000">
                <a:solidFill>
                  <a:srgbClr val="0A2540"/>
                </a:solidFill>
              </a:rPr>
              <a:t>Algorithm 1</a:t>
            </a:r>
            <a:r>
              <a:rPr b="1" lang="en-US" sz="2000">
                <a:solidFill>
                  <a:srgbClr val="0A2540"/>
                </a:solidFill>
              </a:rPr>
              <a:t>)</a:t>
            </a:r>
            <a:endParaRPr b="1"/>
          </a:p>
        </p:txBody>
      </p:sp>
      <p:sp>
        <p:nvSpPr>
          <p:cNvPr id="567" name="Google Shape;567;g3fbd3ed65c2_0_590"/>
          <p:cNvSpPr/>
          <p:nvPr/>
        </p:nvSpPr>
        <p:spPr>
          <a:xfrm>
            <a:off x="1838325" y="1543200"/>
            <a:ext cx="5642100" cy="1743300"/>
          </a:xfrm>
          <a:prstGeom prst="roundRect">
            <a:avLst>
              <a:gd fmla="val 5517" name="adj"/>
            </a:avLst>
          </a:prstGeom>
          <a:solidFill>
            <a:srgbClr val="FFF1F2"/>
          </a:solidFill>
          <a:ln cap="flat" cmpd="sng" w="14275">
            <a:solidFill>
              <a:srgbClr val="0B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g3fbd3ed65c2_0_590"/>
          <p:cNvSpPr/>
          <p:nvPr/>
        </p:nvSpPr>
        <p:spPr>
          <a:xfrm>
            <a:off x="3808275" y="1595463"/>
            <a:ext cx="17022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950">
                <a:solidFill>
                  <a:srgbClr val="CC0000"/>
                </a:solidFill>
              </a:rPr>
              <a:t>Input</a:t>
            </a:r>
            <a:endParaRPr>
              <a:solidFill>
                <a:srgbClr val="CC0000"/>
              </a:solidFill>
            </a:endParaRPr>
          </a:p>
        </p:txBody>
      </p:sp>
      <p:sp>
        <p:nvSpPr>
          <p:cNvPr id="569" name="Google Shape;569;g3fbd3ed65c2_0_590"/>
          <p:cNvSpPr/>
          <p:nvPr/>
        </p:nvSpPr>
        <p:spPr>
          <a:xfrm>
            <a:off x="1970725" y="1998225"/>
            <a:ext cx="5753100" cy="1192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i="1" lang="en-US" sz="1600">
                <a:solidFill>
                  <a:schemeClr val="dk1"/>
                </a:solidFill>
                <a:latin typeface="Merriweather"/>
                <a:ea typeface="Merriweather"/>
                <a:cs typeface="Merriweather"/>
                <a:sym typeface="Merriweather"/>
              </a:rPr>
              <a:t>S = {p</a:t>
            </a:r>
            <a:r>
              <a:rPr i="1" lang="en-US" sz="1000">
                <a:solidFill>
                  <a:schemeClr val="dk1"/>
                </a:solidFill>
                <a:latin typeface="Merriweather"/>
                <a:ea typeface="Merriweather"/>
                <a:cs typeface="Merriweather"/>
                <a:sym typeface="Merriweather"/>
              </a:rPr>
              <a:t>1</a:t>
            </a:r>
            <a:r>
              <a:rPr i="1" lang="en-US" sz="1600">
                <a:solidFill>
                  <a:schemeClr val="dk1"/>
                </a:solidFill>
                <a:latin typeface="Merriweather"/>
                <a:ea typeface="Merriweather"/>
                <a:cs typeface="Merriweather"/>
                <a:sym typeface="Merriweather"/>
              </a:rPr>
              <a:t>, p</a:t>
            </a:r>
            <a:r>
              <a:rPr i="1" lang="en-US" sz="1000">
                <a:solidFill>
                  <a:schemeClr val="dk1"/>
                </a:solidFill>
                <a:latin typeface="Merriweather"/>
                <a:ea typeface="Merriweather"/>
                <a:cs typeface="Merriweather"/>
                <a:sym typeface="Merriweather"/>
              </a:rPr>
              <a:t>2</a:t>
            </a:r>
            <a:r>
              <a:rPr i="1" lang="en-US" sz="1600">
                <a:solidFill>
                  <a:schemeClr val="dk1"/>
                </a:solidFill>
                <a:latin typeface="Merriweather"/>
                <a:ea typeface="Merriweather"/>
                <a:cs typeface="Merriweather"/>
                <a:sym typeface="Merriweather"/>
              </a:rPr>
              <a:t>,..., p</a:t>
            </a:r>
            <a:r>
              <a:rPr i="1" lang="en-US" sz="1000">
                <a:solidFill>
                  <a:schemeClr val="dk1"/>
                </a:solidFill>
                <a:latin typeface="Merriweather"/>
                <a:ea typeface="Merriweather"/>
                <a:cs typeface="Merriweather"/>
                <a:sym typeface="Merriweather"/>
              </a:rPr>
              <a:t>k</a:t>
            </a:r>
            <a:r>
              <a:rPr i="1" lang="en-US" sz="1600">
                <a:solidFill>
                  <a:schemeClr val="dk1"/>
                </a:solidFill>
                <a:latin typeface="Merriweather"/>
                <a:ea typeface="Merriweather"/>
                <a:cs typeface="Merriweather"/>
                <a:sym typeface="Merriweather"/>
              </a:rPr>
              <a:t>}</a:t>
            </a:r>
            <a:r>
              <a:rPr b="1" i="1" lang="en-US" sz="1600">
                <a:solidFill>
                  <a:schemeClr val="dk1"/>
                </a:solidFill>
              </a:rPr>
              <a:t>:</a:t>
            </a:r>
            <a:r>
              <a:rPr lang="en-US" sz="1600">
                <a:solidFill>
                  <a:schemeClr val="dk1"/>
                </a:solidFill>
              </a:rPr>
              <a:t> Chuỗi </a:t>
            </a:r>
            <a:r>
              <a:rPr i="1" lang="en-US" sz="1600">
                <a:solidFill>
                  <a:schemeClr val="dk1"/>
                </a:solidFill>
                <a:latin typeface="Merriweather"/>
                <a:ea typeface="Merriweather"/>
                <a:cs typeface="Merriweather"/>
                <a:sym typeface="Merriweather"/>
              </a:rPr>
              <a:t>k</a:t>
            </a:r>
            <a:r>
              <a:rPr lang="en-US" sz="1600">
                <a:solidFill>
                  <a:schemeClr val="dk1"/>
                </a:solidFill>
              </a:rPr>
              <a:t> chu kỳ thời gian thuộc 1 </a:t>
            </a:r>
            <a:r>
              <a:rPr i="1" lang="en-US" sz="1600">
                <a:solidFill>
                  <a:schemeClr val="dk1"/>
                </a:solidFill>
                <a:latin typeface="Merriweather"/>
                <a:ea typeface="Merriweather"/>
                <a:cs typeface="Merriweather"/>
                <a:sym typeface="Merriweather"/>
              </a:rPr>
              <a:t>pt</a:t>
            </a:r>
            <a:endParaRPr i="1" sz="1600">
              <a:solidFill>
                <a:schemeClr val="dk1"/>
              </a:solidFill>
              <a:latin typeface="Merriweather"/>
              <a:ea typeface="Merriweather"/>
              <a:cs typeface="Merriweather"/>
              <a:sym typeface="Merriweather"/>
            </a:endParaRPr>
          </a:p>
          <a:p>
            <a:pPr indent="0" lvl="0" marL="0" rtl="0" algn="l">
              <a:lnSpc>
                <a:spcPct val="100000"/>
              </a:lnSpc>
              <a:spcBef>
                <a:spcPts val="0"/>
              </a:spcBef>
              <a:spcAft>
                <a:spcPts val="0"/>
              </a:spcAft>
              <a:buClr>
                <a:schemeClr val="dk1"/>
              </a:buClr>
              <a:buSzPts val="1100"/>
              <a:buFont typeface="Arial"/>
              <a:buNone/>
            </a:pPr>
            <a:r>
              <a:rPr b="1" lang="en-US" sz="1600">
                <a:solidFill>
                  <a:schemeClr val="dk1"/>
                </a:solidFill>
              </a:rPr>
              <a:t>Bảng </a:t>
            </a:r>
            <a:r>
              <a:rPr i="1" lang="en-US" sz="1600">
                <a:solidFill>
                  <a:schemeClr val="dk1"/>
                </a:solidFill>
                <a:latin typeface="Merriweather"/>
                <a:ea typeface="Merriweather"/>
                <a:cs typeface="Merriweather"/>
                <a:sym typeface="Merriweather"/>
              </a:rPr>
              <a:t>WCT</a:t>
            </a:r>
            <a:r>
              <a:rPr b="1" lang="en-US" sz="1600">
                <a:solidFill>
                  <a:schemeClr val="dk1"/>
                </a:solidFill>
              </a:rPr>
              <a:t>:</a:t>
            </a:r>
            <a:r>
              <a:rPr lang="en-US" sz="1600">
                <a:solidFill>
                  <a:schemeClr val="dk1"/>
                </a:solidFill>
              </a:rPr>
              <a:t> Quy tắc phân loại dải giá trị thời tiết do chuyên gia thiết lập.</a:t>
            </a:r>
            <a:endParaRPr sz="1600">
              <a:solidFill>
                <a:schemeClr val="dk1"/>
              </a:solidFill>
            </a:endParaRPr>
          </a:p>
          <a:p>
            <a:pPr indent="0" lvl="0" marL="0" rtl="0" algn="l">
              <a:lnSpc>
                <a:spcPct val="100000"/>
              </a:lnSpc>
              <a:spcBef>
                <a:spcPts val="0"/>
              </a:spcBef>
              <a:spcAft>
                <a:spcPts val="0"/>
              </a:spcAft>
              <a:buSzPts val="1100"/>
              <a:buNone/>
            </a:pPr>
            <a:r>
              <a:rPr b="1" lang="en-US" sz="1600">
                <a:solidFill>
                  <a:schemeClr val="dk1"/>
                </a:solidFill>
              </a:rPr>
              <a:t>Thời lượng </a:t>
            </a:r>
            <a:r>
              <a:rPr i="1" lang="en-US" sz="1600">
                <a:solidFill>
                  <a:schemeClr val="dk1"/>
                </a:solidFill>
                <a:latin typeface="Merriweather"/>
                <a:ea typeface="Merriweather"/>
                <a:cs typeface="Merriweather"/>
                <a:sym typeface="Merriweather"/>
              </a:rPr>
              <a:t>d</a:t>
            </a:r>
            <a:r>
              <a:rPr b="1" lang="en-US" sz="1600">
                <a:solidFill>
                  <a:schemeClr val="dk1"/>
                </a:solidFill>
              </a:rPr>
              <a:t>:</a:t>
            </a:r>
            <a:r>
              <a:rPr lang="en-US" sz="1600">
                <a:solidFill>
                  <a:schemeClr val="dk1"/>
                </a:solidFill>
              </a:rPr>
              <a:t> Số ngày của một điều kiện thời tiết </a:t>
            </a:r>
            <a:r>
              <a:rPr i="1" lang="en-US" sz="1600">
                <a:solidFill>
                  <a:schemeClr val="dk1"/>
                </a:solidFill>
                <a:latin typeface="Merriweather"/>
                <a:ea typeface="Merriweather"/>
                <a:cs typeface="Merriweather"/>
                <a:sym typeface="Merriweather"/>
              </a:rPr>
              <a:t>CWC</a:t>
            </a:r>
            <a:r>
              <a:rPr lang="en-US" sz="1600">
                <a:solidFill>
                  <a:schemeClr val="dk1"/>
                </a:solidFill>
              </a:rPr>
              <a:t> </a:t>
            </a:r>
            <a:endParaRPr sz="2075">
              <a:solidFill>
                <a:srgbClr val="292929"/>
              </a:solidFill>
            </a:endParaRPr>
          </a:p>
        </p:txBody>
      </p:sp>
      <p:sp>
        <p:nvSpPr>
          <p:cNvPr id="570" name="Google Shape;570;g3fbd3ed65c2_0_590"/>
          <p:cNvSpPr/>
          <p:nvPr/>
        </p:nvSpPr>
        <p:spPr>
          <a:xfrm>
            <a:off x="7650408" y="2046000"/>
            <a:ext cx="857400" cy="590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4000">
                <a:solidFill>
                  <a:srgbClr val="1F603A"/>
                </a:solidFill>
                <a:latin typeface="Arial"/>
                <a:ea typeface="Arial"/>
                <a:cs typeface="Arial"/>
                <a:sym typeface="Arial"/>
              </a:rPr>
              <a:t>→</a:t>
            </a:r>
            <a:endParaRPr sz="4000"/>
          </a:p>
        </p:txBody>
      </p:sp>
      <p:sp>
        <p:nvSpPr>
          <p:cNvPr id="571" name="Google Shape;571;g3fbd3ed65c2_0_590"/>
          <p:cNvSpPr/>
          <p:nvPr/>
        </p:nvSpPr>
        <p:spPr>
          <a:xfrm>
            <a:off x="8677812" y="1543200"/>
            <a:ext cx="2232300" cy="1743300"/>
          </a:xfrm>
          <a:prstGeom prst="roundRect">
            <a:avLst>
              <a:gd fmla="val 5517" name="adj"/>
            </a:avLst>
          </a:prstGeom>
          <a:solidFill>
            <a:srgbClr val="D9EAD3"/>
          </a:solidFill>
          <a:ln cap="flat" cmpd="sng" w="14275">
            <a:solidFill>
              <a:srgbClr val="0B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g3fbd3ed65c2_0_590"/>
          <p:cNvSpPr/>
          <p:nvPr/>
        </p:nvSpPr>
        <p:spPr>
          <a:xfrm>
            <a:off x="8861775" y="1637925"/>
            <a:ext cx="1935900" cy="381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950">
                <a:solidFill>
                  <a:srgbClr val="38761D"/>
                </a:solidFill>
              </a:rPr>
              <a:t>Output</a:t>
            </a:r>
            <a:endParaRPr>
              <a:solidFill>
                <a:srgbClr val="38761D"/>
              </a:solidFill>
            </a:endParaRPr>
          </a:p>
        </p:txBody>
      </p:sp>
      <p:sp>
        <p:nvSpPr>
          <p:cNvPr id="573" name="Google Shape;573;g3fbd3ed65c2_0_590"/>
          <p:cNvSpPr/>
          <p:nvPr/>
        </p:nvSpPr>
        <p:spPr>
          <a:xfrm>
            <a:off x="8730600" y="1998226"/>
            <a:ext cx="2126700" cy="10479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b="1" lang="en-US" sz="1800">
                <a:solidFill>
                  <a:schemeClr val="dk1"/>
                </a:solidFill>
              </a:rPr>
              <a:t>Chuỗi chỉ số </a:t>
            </a:r>
            <a:r>
              <a:rPr i="1" lang="en-US" sz="1800">
                <a:solidFill>
                  <a:schemeClr val="dk1"/>
                </a:solidFill>
                <a:latin typeface="Merriweather"/>
                <a:ea typeface="Merriweather"/>
                <a:cs typeface="Merriweather"/>
                <a:sym typeface="Merriweather"/>
              </a:rPr>
              <a:t>CP(p</a:t>
            </a:r>
            <a:r>
              <a:rPr i="1" lang="en-US">
                <a:solidFill>
                  <a:schemeClr val="dk1"/>
                </a:solidFill>
                <a:latin typeface="Merriweather"/>
                <a:ea typeface="Merriweather"/>
                <a:cs typeface="Merriweather"/>
                <a:sym typeface="Merriweather"/>
              </a:rPr>
              <a:t>i</a:t>
            </a:r>
            <a:r>
              <a:rPr i="1" lang="en-US" sz="1800">
                <a:solidFill>
                  <a:schemeClr val="dk1"/>
                </a:solidFill>
                <a:latin typeface="Merriweather"/>
                <a:ea typeface="Merriweather"/>
                <a:cs typeface="Merriweather"/>
                <a:sym typeface="Merriweather"/>
              </a:rPr>
              <a:t> / P</a:t>
            </a:r>
            <a:r>
              <a:rPr i="1" lang="en-US" sz="1200">
                <a:solidFill>
                  <a:schemeClr val="dk1"/>
                </a:solidFill>
                <a:latin typeface="Merriweather"/>
                <a:ea typeface="Merriweather"/>
                <a:cs typeface="Merriweather"/>
                <a:sym typeface="Merriweather"/>
              </a:rPr>
              <a:t>set</a:t>
            </a:r>
            <a:r>
              <a:rPr i="1" lang="en-US" sz="1800">
                <a:solidFill>
                  <a:schemeClr val="dk1"/>
                </a:solidFill>
                <a:latin typeface="Merriweather"/>
                <a:ea typeface="Merriweather"/>
                <a:cs typeface="Merriweather"/>
                <a:sym typeface="Merriweather"/>
              </a:rPr>
              <a:t>)</a:t>
            </a:r>
            <a:r>
              <a:rPr lang="en-US" sz="1800">
                <a:solidFill>
                  <a:schemeClr val="dk1"/>
                </a:solidFill>
              </a:rPr>
              <a:t> </a:t>
            </a:r>
            <a:endParaRPr sz="1800">
              <a:solidFill>
                <a:schemeClr val="dk1"/>
              </a:solidFill>
            </a:endParaRPr>
          </a:p>
          <a:p>
            <a:pPr indent="0" lvl="0" marL="0" marR="0" rtl="0" algn="ctr">
              <a:spcBef>
                <a:spcPts val="0"/>
              </a:spcBef>
              <a:spcAft>
                <a:spcPts val="0"/>
              </a:spcAft>
              <a:buNone/>
            </a:pPr>
            <a:r>
              <a:rPr lang="en-US" sz="1800">
                <a:solidFill>
                  <a:schemeClr val="dk1"/>
                </a:solidFill>
              </a:rPr>
              <a:t>(với </a:t>
            </a:r>
            <a:r>
              <a:rPr i="1" lang="en-US" sz="1800">
                <a:solidFill>
                  <a:schemeClr val="dk1"/>
                </a:solidFill>
                <a:latin typeface="Merriweather"/>
                <a:ea typeface="Merriweather"/>
                <a:cs typeface="Merriweather"/>
                <a:sym typeface="Merriweather"/>
              </a:rPr>
              <a:t>i</a:t>
            </a:r>
            <a:r>
              <a:rPr lang="en-US" sz="1800">
                <a:solidFill>
                  <a:schemeClr val="dk1"/>
                </a:solidFill>
              </a:rPr>
              <a:t> = 2…</a:t>
            </a:r>
            <a:r>
              <a:rPr i="1" lang="en-US" sz="1800">
                <a:solidFill>
                  <a:schemeClr val="dk1"/>
                </a:solidFill>
                <a:latin typeface="Merriweather"/>
                <a:ea typeface="Merriweather"/>
                <a:cs typeface="Merriweather"/>
                <a:sym typeface="Merriweather"/>
              </a:rPr>
              <a:t>k</a:t>
            </a:r>
            <a:r>
              <a:rPr lang="en-US" sz="1800">
                <a:solidFill>
                  <a:schemeClr val="dk1"/>
                </a:solidFill>
              </a:rPr>
              <a:t>)</a:t>
            </a:r>
            <a:endParaRPr sz="2100"/>
          </a:p>
        </p:txBody>
      </p:sp>
      <p:sp>
        <p:nvSpPr>
          <p:cNvPr id="574" name="Google Shape;574;g3fbd3ed65c2_0_590"/>
          <p:cNvSpPr/>
          <p:nvPr/>
        </p:nvSpPr>
        <p:spPr>
          <a:xfrm>
            <a:off x="1838325" y="3474825"/>
            <a:ext cx="9071700" cy="840300"/>
          </a:xfrm>
          <a:prstGeom prst="roundRect">
            <a:avLst>
              <a:gd fmla="val 5517" name="adj"/>
            </a:avLst>
          </a:prstGeom>
          <a:solidFill>
            <a:srgbClr val="FFFFFF"/>
          </a:solidFill>
          <a:ln cap="flat" cmpd="sng" w="14275">
            <a:solidFill>
              <a:srgbClr val="0B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g3fbd3ed65c2_0_590"/>
          <p:cNvSpPr/>
          <p:nvPr/>
        </p:nvSpPr>
        <p:spPr>
          <a:xfrm>
            <a:off x="1906775" y="3502800"/>
            <a:ext cx="11784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725">
                <a:solidFill>
                  <a:srgbClr val="1478D4"/>
                </a:solidFill>
              </a:rPr>
              <a:t>Bước 1</a:t>
            </a:r>
            <a:endParaRPr sz="1100"/>
          </a:p>
        </p:txBody>
      </p:sp>
      <p:sp>
        <p:nvSpPr>
          <p:cNvPr id="576" name="Google Shape;576;g3fbd3ed65c2_0_590"/>
          <p:cNvSpPr/>
          <p:nvPr/>
        </p:nvSpPr>
        <p:spPr>
          <a:xfrm>
            <a:off x="4230075" y="3502800"/>
            <a:ext cx="42882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950">
                <a:solidFill>
                  <a:srgbClr val="0B2A47"/>
                </a:solidFill>
              </a:rPr>
              <a:t>Khởi tạo WC</a:t>
            </a:r>
            <a:endParaRPr/>
          </a:p>
        </p:txBody>
      </p:sp>
      <p:sp>
        <p:nvSpPr>
          <p:cNvPr id="577" name="Google Shape;577;g3fbd3ed65c2_0_590"/>
          <p:cNvSpPr/>
          <p:nvPr/>
        </p:nvSpPr>
        <p:spPr>
          <a:xfrm>
            <a:off x="3141375" y="3775013"/>
            <a:ext cx="6465600" cy="51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sz="1575">
                <a:solidFill>
                  <a:srgbClr val="292929"/>
                </a:solidFill>
              </a:rPr>
              <a:t>Gom dữ liệu thời tiết thực tế trong suốt thời gian d ngày cho từng chu kỳ </a:t>
            </a:r>
            <a:r>
              <a:rPr i="1" lang="en-US" sz="1575">
                <a:solidFill>
                  <a:srgbClr val="292929"/>
                </a:solidFill>
                <a:latin typeface="Merriweather"/>
                <a:ea typeface="Merriweather"/>
                <a:cs typeface="Merriweather"/>
                <a:sym typeface="Merriweather"/>
              </a:rPr>
              <a:t>p</a:t>
            </a:r>
            <a:r>
              <a:rPr i="1" lang="en-US" sz="1275">
                <a:solidFill>
                  <a:srgbClr val="292929"/>
                </a:solidFill>
                <a:latin typeface="Merriweather"/>
                <a:ea typeface="Merriweather"/>
                <a:cs typeface="Merriweather"/>
                <a:sym typeface="Merriweather"/>
              </a:rPr>
              <a:t>i</a:t>
            </a:r>
            <a:r>
              <a:rPr lang="en-US" sz="1575">
                <a:solidFill>
                  <a:srgbClr val="292929"/>
                </a:solidFill>
              </a:rPr>
              <a:t>, tạo thành tập các điều kiện thời tiết thực tế </a:t>
            </a:r>
            <a:r>
              <a:rPr i="1" lang="en-US" sz="1575">
                <a:solidFill>
                  <a:srgbClr val="292929"/>
                </a:solidFill>
                <a:latin typeface="Merriweather"/>
                <a:ea typeface="Merriweather"/>
                <a:cs typeface="Merriweather"/>
                <a:sym typeface="Merriweather"/>
              </a:rPr>
              <a:t>WC(p</a:t>
            </a:r>
            <a:r>
              <a:rPr i="1" lang="en-US" sz="1275">
                <a:solidFill>
                  <a:srgbClr val="292929"/>
                </a:solidFill>
                <a:latin typeface="Merriweather"/>
                <a:ea typeface="Merriweather"/>
                <a:cs typeface="Merriweather"/>
                <a:sym typeface="Merriweather"/>
              </a:rPr>
              <a:t>i</a:t>
            </a:r>
            <a:r>
              <a:rPr i="1" lang="en-US" sz="1575">
                <a:solidFill>
                  <a:srgbClr val="292929"/>
                </a:solidFill>
                <a:latin typeface="Merriweather"/>
                <a:ea typeface="Merriweather"/>
                <a:cs typeface="Merriweather"/>
                <a:sym typeface="Merriweather"/>
              </a:rPr>
              <a:t>)</a:t>
            </a:r>
            <a:endParaRPr i="1">
              <a:latin typeface="Merriweather"/>
              <a:ea typeface="Merriweather"/>
              <a:cs typeface="Merriweather"/>
              <a:sym typeface="Merriweather"/>
            </a:endParaRPr>
          </a:p>
        </p:txBody>
      </p:sp>
      <p:sp>
        <p:nvSpPr>
          <p:cNvPr id="578" name="Google Shape;578;g3fbd3ed65c2_0_590"/>
          <p:cNvSpPr/>
          <p:nvPr/>
        </p:nvSpPr>
        <p:spPr>
          <a:xfrm>
            <a:off x="1838400" y="4499700"/>
            <a:ext cx="9071700" cy="840300"/>
          </a:xfrm>
          <a:prstGeom prst="roundRect">
            <a:avLst>
              <a:gd fmla="val 5517" name="adj"/>
            </a:avLst>
          </a:prstGeom>
          <a:solidFill>
            <a:srgbClr val="FFFFFF"/>
          </a:solidFill>
          <a:ln cap="flat" cmpd="sng" w="14275">
            <a:solidFill>
              <a:srgbClr val="0B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g3fbd3ed65c2_0_590"/>
          <p:cNvSpPr/>
          <p:nvPr/>
        </p:nvSpPr>
        <p:spPr>
          <a:xfrm>
            <a:off x="1876625" y="4514630"/>
            <a:ext cx="12387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725">
                <a:solidFill>
                  <a:srgbClr val="1478D4"/>
                </a:solidFill>
              </a:rPr>
              <a:t>Bước 2</a:t>
            </a:r>
            <a:endParaRPr sz="1100"/>
          </a:p>
        </p:txBody>
      </p:sp>
      <p:sp>
        <p:nvSpPr>
          <p:cNvPr id="580" name="Google Shape;580;g3fbd3ed65c2_0_590"/>
          <p:cNvSpPr/>
          <p:nvPr/>
        </p:nvSpPr>
        <p:spPr>
          <a:xfrm>
            <a:off x="4635950" y="4514625"/>
            <a:ext cx="35958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950">
                <a:solidFill>
                  <a:srgbClr val="0B2A47"/>
                </a:solidFill>
              </a:rPr>
              <a:t>Ánh xạ sang CWC</a:t>
            </a:r>
            <a:endParaRPr/>
          </a:p>
        </p:txBody>
      </p:sp>
      <p:sp>
        <p:nvSpPr>
          <p:cNvPr id="581" name="Google Shape;581;g3fbd3ed65c2_0_590"/>
          <p:cNvSpPr/>
          <p:nvPr/>
        </p:nvSpPr>
        <p:spPr>
          <a:xfrm>
            <a:off x="3174750" y="4812225"/>
            <a:ext cx="6556800" cy="51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sz="1575">
                <a:solidFill>
                  <a:srgbClr val="292929"/>
                </a:solidFill>
              </a:rPr>
              <a:t>Tra cứu giá trị số thực trong bảng phân loại </a:t>
            </a:r>
            <a:r>
              <a:rPr i="1" lang="en-US" sz="1575">
                <a:solidFill>
                  <a:srgbClr val="292929"/>
                </a:solidFill>
                <a:latin typeface="Merriweather"/>
                <a:ea typeface="Merriweather"/>
                <a:cs typeface="Merriweather"/>
                <a:sym typeface="Merriweather"/>
              </a:rPr>
              <a:t>WCT</a:t>
            </a:r>
            <a:r>
              <a:rPr lang="en-US" sz="1575">
                <a:solidFill>
                  <a:srgbClr val="292929"/>
                </a:solidFill>
              </a:rPr>
              <a:t> để quy đổi thành các tên danh mục tương ứng, tạo thành tập </a:t>
            </a:r>
            <a:r>
              <a:rPr i="1" lang="en-US" sz="1575">
                <a:solidFill>
                  <a:srgbClr val="292929"/>
                </a:solidFill>
                <a:latin typeface="Merriweather"/>
                <a:ea typeface="Merriweather"/>
                <a:cs typeface="Merriweather"/>
                <a:sym typeface="Merriweather"/>
              </a:rPr>
              <a:t>CWC(p</a:t>
            </a:r>
            <a:r>
              <a:rPr i="1" lang="en-US" sz="1275">
                <a:solidFill>
                  <a:srgbClr val="292929"/>
                </a:solidFill>
                <a:latin typeface="Merriweather"/>
                <a:ea typeface="Merriweather"/>
                <a:cs typeface="Merriweather"/>
                <a:sym typeface="Merriweather"/>
              </a:rPr>
              <a:t>i</a:t>
            </a:r>
            <a:r>
              <a:rPr i="1" lang="en-US" sz="1575">
                <a:solidFill>
                  <a:srgbClr val="292929"/>
                </a:solidFill>
                <a:latin typeface="Merriweather"/>
                <a:ea typeface="Merriweather"/>
                <a:cs typeface="Merriweather"/>
                <a:sym typeface="Merriweather"/>
              </a:rPr>
              <a:t>)</a:t>
            </a:r>
            <a:endParaRPr i="1">
              <a:latin typeface="Merriweather"/>
              <a:ea typeface="Merriweather"/>
              <a:cs typeface="Merriweather"/>
              <a:sym typeface="Merriweather"/>
            </a:endParaRPr>
          </a:p>
        </p:txBody>
      </p:sp>
      <p:sp>
        <p:nvSpPr>
          <p:cNvPr id="582" name="Google Shape;582;g3fbd3ed65c2_0_590"/>
          <p:cNvSpPr/>
          <p:nvPr/>
        </p:nvSpPr>
        <p:spPr>
          <a:xfrm>
            <a:off x="1838475" y="5526450"/>
            <a:ext cx="9071700" cy="840300"/>
          </a:xfrm>
          <a:prstGeom prst="roundRect">
            <a:avLst>
              <a:gd fmla="val 5517" name="adj"/>
            </a:avLst>
          </a:prstGeom>
          <a:solidFill>
            <a:srgbClr val="FFFFFF"/>
          </a:solidFill>
          <a:ln cap="flat" cmpd="sng" w="14275">
            <a:solidFill>
              <a:srgbClr val="0B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g3fbd3ed65c2_0_590"/>
          <p:cNvSpPr/>
          <p:nvPr/>
        </p:nvSpPr>
        <p:spPr>
          <a:xfrm>
            <a:off x="1876625" y="5533919"/>
            <a:ext cx="12387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725">
                <a:solidFill>
                  <a:srgbClr val="1478D4"/>
                </a:solidFill>
              </a:rPr>
              <a:t>Bước 3</a:t>
            </a:r>
            <a:endParaRPr sz="1100"/>
          </a:p>
        </p:txBody>
      </p:sp>
      <p:sp>
        <p:nvSpPr>
          <p:cNvPr id="584" name="Google Shape;584;g3fbd3ed65c2_0_590"/>
          <p:cNvSpPr/>
          <p:nvPr/>
        </p:nvSpPr>
        <p:spPr>
          <a:xfrm>
            <a:off x="4095075" y="5491050"/>
            <a:ext cx="45582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950">
                <a:solidFill>
                  <a:srgbClr val="0B2A47"/>
                </a:solidFill>
              </a:rPr>
              <a:t>Tính chỉ số CP tích luỹ</a:t>
            </a:r>
            <a:endParaRPr/>
          </a:p>
        </p:txBody>
      </p:sp>
      <p:sp>
        <p:nvSpPr>
          <p:cNvPr id="585" name="Google Shape;585;g3fbd3ed65c2_0_590"/>
          <p:cNvSpPr/>
          <p:nvPr/>
        </p:nvSpPr>
        <p:spPr>
          <a:xfrm>
            <a:off x="3326175" y="5814300"/>
            <a:ext cx="6096000" cy="51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sz="1575">
                <a:solidFill>
                  <a:srgbClr val="292929"/>
                </a:solidFill>
              </a:rPr>
              <a:t>Đối chiếu </a:t>
            </a:r>
            <a:r>
              <a:rPr i="1" lang="en-US" sz="1575">
                <a:solidFill>
                  <a:srgbClr val="292929"/>
                </a:solidFill>
                <a:latin typeface="Merriweather"/>
                <a:ea typeface="Merriweather"/>
                <a:cs typeface="Merriweather"/>
                <a:sym typeface="Merriweather"/>
              </a:rPr>
              <a:t>CWC(p</a:t>
            </a:r>
            <a:r>
              <a:rPr i="1" lang="en-US" sz="1275">
                <a:solidFill>
                  <a:srgbClr val="292929"/>
                </a:solidFill>
                <a:latin typeface="Merriweather"/>
                <a:ea typeface="Merriweather"/>
                <a:cs typeface="Merriweather"/>
                <a:sym typeface="Merriweather"/>
              </a:rPr>
              <a:t>i</a:t>
            </a:r>
            <a:r>
              <a:rPr i="1" lang="en-US" sz="1575">
                <a:solidFill>
                  <a:srgbClr val="292929"/>
                </a:solidFill>
                <a:latin typeface="Merriweather"/>
                <a:ea typeface="Merriweather"/>
                <a:cs typeface="Merriweather"/>
                <a:sym typeface="Merriweather"/>
              </a:rPr>
              <a:t>)</a:t>
            </a:r>
            <a:r>
              <a:rPr lang="en-US" sz="1575">
                <a:solidFill>
                  <a:srgbClr val="292929"/>
                </a:solidFill>
              </a:rPr>
              <a:t> của từng chu kỳ với dữ liệu quá khứ tích lũy </a:t>
            </a:r>
            <a:r>
              <a:rPr i="1" lang="en-US" sz="1575">
                <a:solidFill>
                  <a:srgbClr val="292929"/>
                </a:solidFill>
                <a:latin typeface="Merriweather"/>
                <a:ea typeface="Merriweather"/>
                <a:cs typeface="Merriweather"/>
                <a:sym typeface="Merriweather"/>
              </a:rPr>
              <a:t>(P</a:t>
            </a:r>
            <a:r>
              <a:rPr i="1" lang="en-US" sz="1275">
                <a:solidFill>
                  <a:srgbClr val="292929"/>
                </a:solidFill>
                <a:latin typeface="Merriweather"/>
                <a:ea typeface="Merriweather"/>
                <a:cs typeface="Merriweather"/>
                <a:sym typeface="Merriweather"/>
              </a:rPr>
              <a:t>set</a:t>
            </a:r>
            <a:r>
              <a:rPr i="1" lang="en-US" sz="1575">
                <a:solidFill>
                  <a:srgbClr val="292929"/>
                </a:solidFill>
                <a:latin typeface="Merriweather"/>
                <a:ea typeface="Merriweather"/>
                <a:cs typeface="Merriweather"/>
                <a:sym typeface="Merriweather"/>
              </a:rPr>
              <a:t>)</a:t>
            </a:r>
            <a:r>
              <a:rPr lang="en-US" sz="1575">
                <a:solidFill>
                  <a:srgbClr val="292929"/>
                </a:solidFill>
              </a:rPr>
              <a:t> để tính tỷ lệ </a:t>
            </a:r>
            <a:r>
              <a:rPr i="1" lang="en-US" sz="1575">
                <a:solidFill>
                  <a:srgbClr val="292929"/>
                </a:solidFill>
                <a:latin typeface="Merriweather"/>
                <a:ea typeface="Merriweather"/>
                <a:cs typeface="Merriweather"/>
                <a:sym typeface="Merriweather"/>
              </a:rPr>
              <a:t>CP(p</a:t>
            </a:r>
            <a:r>
              <a:rPr i="1" lang="en-US" sz="1275">
                <a:solidFill>
                  <a:srgbClr val="292929"/>
                </a:solidFill>
                <a:latin typeface="Merriweather"/>
                <a:ea typeface="Merriweather"/>
                <a:cs typeface="Merriweather"/>
                <a:sym typeface="Merriweather"/>
              </a:rPr>
              <a:t>i</a:t>
            </a:r>
            <a:r>
              <a:rPr i="1" lang="en-US" sz="1575">
                <a:solidFill>
                  <a:srgbClr val="292929"/>
                </a:solidFill>
                <a:latin typeface="Merriweather"/>
                <a:ea typeface="Merriweather"/>
                <a:cs typeface="Merriweather"/>
                <a:sym typeface="Merriweather"/>
              </a:rPr>
              <a:t> / P</a:t>
            </a:r>
            <a:r>
              <a:rPr i="1" lang="en-US" sz="1275">
                <a:solidFill>
                  <a:srgbClr val="292929"/>
                </a:solidFill>
                <a:latin typeface="Merriweather"/>
                <a:ea typeface="Merriweather"/>
                <a:cs typeface="Merriweather"/>
                <a:sym typeface="Merriweather"/>
              </a:rPr>
              <a:t>set</a:t>
            </a:r>
            <a:r>
              <a:rPr i="1" lang="en-US" sz="1575">
                <a:solidFill>
                  <a:srgbClr val="292929"/>
                </a:solidFill>
                <a:latin typeface="Merriweather"/>
                <a:ea typeface="Merriweather"/>
                <a:cs typeface="Merriweather"/>
                <a:sym typeface="Merriweather"/>
              </a:rPr>
              <a:t>)</a:t>
            </a:r>
            <a:r>
              <a:rPr lang="en-US" sz="1575">
                <a:solidFill>
                  <a:srgbClr val="292929"/>
                </a:solidFill>
              </a:rPr>
              <a:t> và cập nhật </a:t>
            </a:r>
            <a:r>
              <a:rPr i="1" lang="en-US" sz="1575">
                <a:solidFill>
                  <a:srgbClr val="292929"/>
                </a:solidFill>
                <a:latin typeface="Merriweather"/>
                <a:ea typeface="Merriweather"/>
                <a:cs typeface="Merriweather"/>
                <a:sym typeface="Merriweather"/>
              </a:rPr>
              <a:t>P</a:t>
            </a:r>
            <a:r>
              <a:rPr i="1" lang="en-US" sz="1275">
                <a:solidFill>
                  <a:srgbClr val="292929"/>
                </a:solidFill>
                <a:latin typeface="Merriweather"/>
                <a:ea typeface="Merriweather"/>
                <a:cs typeface="Merriweather"/>
                <a:sym typeface="Merriweather"/>
              </a:rPr>
              <a:t>set</a:t>
            </a:r>
            <a:endParaRPr i="1" sz="1100">
              <a:latin typeface="Merriweather"/>
              <a:ea typeface="Merriweather"/>
              <a:cs typeface="Merriweather"/>
              <a:sym typeface="Merriweath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590" name="Shape 590"/>
        <p:cNvGrpSpPr/>
        <p:nvPr/>
      </p:nvGrpSpPr>
      <p:grpSpPr>
        <a:xfrm>
          <a:off x="0" y="0"/>
          <a:ext cx="0" cy="0"/>
          <a:chOff x="0" y="0"/>
          <a:chExt cx="0" cy="0"/>
        </a:xfrm>
      </p:grpSpPr>
      <p:sp>
        <p:nvSpPr>
          <p:cNvPr id="591" name="Google Shape;591;p12"/>
          <p:cNvSpPr/>
          <p:nvPr/>
        </p:nvSpPr>
        <p:spPr>
          <a:xfrm>
            <a:off x="0" y="0"/>
            <a:ext cx="12192000" cy="66675"/>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2"/>
          <p:cNvSpPr/>
          <p:nvPr/>
        </p:nvSpPr>
        <p:spPr>
          <a:xfrm>
            <a:off x="0" y="66675"/>
            <a:ext cx="12192000" cy="47625"/>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2"/>
          <p:cNvSpPr/>
          <p:nvPr/>
        </p:nvSpPr>
        <p:spPr>
          <a:xfrm>
            <a:off x="0" y="0"/>
            <a:ext cx="85725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4" name="Google Shape;594;p12"/>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595" name="Google Shape;595;p12"/>
          <p:cNvSpPr/>
          <p:nvPr/>
        </p:nvSpPr>
        <p:spPr>
          <a:xfrm>
            <a:off x="409575" y="952500"/>
            <a:ext cx="19050" cy="59055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2"/>
          <p:cNvSpPr/>
          <p:nvPr/>
        </p:nvSpPr>
        <p:spPr>
          <a:xfrm>
            <a:off x="66675" y="1962150"/>
            <a:ext cx="714375" cy="2476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597" name="Google Shape;597;p12"/>
          <p:cNvSpPr/>
          <p:nvPr/>
        </p:nvSpPr>
        <p:spPr>
          <a:xfrm>
            <a:off x="114300" y="3476625"/>
            <a:ext cx="628650" cy="295275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2"/>
          <p:cNvSpPr/>
          <p:nvPr/>
        </p:nvSpPr>
        <p:spPr>
          <a:xfrm>
            <a:off x="171450" y="35909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599" name="Google Shape;599;p12"/>
          <p:cNvSpPr/>
          <p:nvPr/>
        </p:nvSpPr>
        <p:spPr>
          <a:xfrm>
            <a:off x="171450" y="40576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600" name="Google Shape;600;p12"/>
          <p:cNvSpPr/>
          <p:nvPr/>
        </p:nvSpPr>
        <p:spPr>
          <a:xfrm>
            <a:off x="171450" y="452437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601" name="Google Shape;601;p12"/>
          <p:cNvSpPr/>
          <p:nvPr/>
        </p:nvSpPr>
        <p:spPr>
          <a:xfrm>
            <a:off x="114300" y="4953000"/>
            <a:ext cx="628650" cy="40005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2"/>
          <p:cNvSpPr/>
          <p:nvPr/>
        </p:nvSpPr>
        <p:spPr>
          <a:xfrm>
            <a:off x="171450" y="499110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04</a:t>
            </a:r>
            <a:endParaRPr/>
          </a:p>
        </p:txBody>
      </p:sp>
      <p:sp>
        <p:nvSpPr>
          <p:cNvPr id="603" name="Google Shape;603;p12"/>
          <p:cNvSpPr/>
          <p:nvPr/>
        </p:nvSpPr>
        <p:spPr>
          <a:xfrm>
            <a:off x="171450" y="54578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604" name="Google Shape;604;p12"/>
          <p:cNvSpPr/>
          <p:nvPr/>
        </p:nvSpPr>
        <p:spPr>
          <a:xfrm>
            <a:off x="171450" y="59245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605" name="Google Shape;605;p12"/>
          <p:cNvSpPr/>
          <p:nvPr/>
        </p:nvSpPr>
        <p:spPr>
          <a:xfrm>
            <a:off x="1123950" y="6467475"/>
            <a:ext cx="10648950"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2"/>
          <p:cNvSpPr/>
          <p:nvPr/>
        </p:nvSpPr>
        <p:spPr>
          <a:xfrm>
            <a:off x="1143000" y="6553200"/>
            <a:ext cx="609600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607" name="Google Shape;607;p12"/>
          <p:cNvSpPr/>
          <p:nvPr/>
        </p:nvSpPr>
        <p:spPr>
          <a:xfrm>
            <a:off x="7810500" y="6553200"/>
            <a:ext cx="285750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608" name="Google Shape;608;p12"/>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14</a:t>
            </a:r>
            <a:endParaRPr/>
          </a:p>
        </p:txBody>
      </p:sp>
      <p:sp>
        <p:nvSpPr>
          <p:cNvPr id="609" name="Google Shape;609;p12"/>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400">
                <a:solidFill>
                  <a:srgbClr val="1F603A"/>
                </a:solidFill>
              </a:rPr>
              <a:t>Thiết lập thực nghiệm</a:t>
            </a:r>
            <a:endParaRPr b="1" sz="2400"/>
          </a:p>
        </p:txBody>
      </p:sp>
      <p:sp>
        <p:nvSpPr>
          <p:cNvPr id="610" name="Google Shape;610;p12"/>
          <p:cNvSpPr/>
          <p:nvPr/>
        </p:nvSpPr>
        <p:spPr>
          <a:xfrm>
            <a:off x="9620250" y="371475"/>
            <a:ext cx="200025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4</a:t>
            </a:r>
            <a:endParaRPr/>
          </a:p>
        </p:txBody>
      </p:sp>
      <p:sp>
        <p:nvSpPr>
          <p:cNvPr id="611" name="Google Shape;611;p12"/>
          <p:cNvSpPr/>
          <p:nvPr/>
        </p:nvSpPr>
        <p:spPr>
          <a:xfrm>
            <a:off x="1143000" y="847725"/>
            <a:ext cx="10620375"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2"/>
          <p:cNvSpPr/>
          <p:nvPr/>
        </p:nvSpPr>
        <p:spPr>
          <a:xfrm>
            <a:off x="1143000" y="1104900"/>
            <a:ext cx="10620300" cy="100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rPr>
              <a:t>Bối cảnh thực hiện: Dịch vụ Tư vấn Nông nghiệp Tích hợp (IAAS)</a:t>
            </a:r>
            <a:r>
              <a:rPr lang="en-US" sz="2400">
                <a:solidFill>
                  <a:schemeClr val="dk1"/>
                </a:solidFill>
              </a:rPr>
              <a:t> trực thuộc Cục Khí tượng Ấn Độ (IMD) </a:t>
            </a:r>
            <a:endParaRPr sz="2400"/>
          </a:p>
        </p:txBody>
      </p:sp>
      <p:graphicFrame>
        <p:nvGraphicFramePr>
          <p:cNvPr id="613" name="Google Shape;613;p12"/>
          <p:cNvGraphicFramePr/>
          <p:nvPr/>
        </p:nvGraphicFramePr>
        <p:xfrm>
          <a:off x="1138213" y="2236000"/>
          <a:ext cx="3000000" cy="3000000"/>
        </p:xfrm>
        <a:graphic>
          <a:graphicData uri="http://schemas.openxmlformats.org/drawingml/2006/table">
            <a:tbl>
              <a:tblPr>
                <a:noFill/>
                <a:tableStyleId>{2005C6F8-0E9F-4D0F-8A03-0A1289535377}</a:tableStyleId>
              </a:tblPr>
              <a:tblGrid>
                <a:gridCol w="2830875"/>
                <a:gridCol w="7789525"/>
              </a:tblGrid>
              <a:tr h="476250">
                <a:tc>
                  <a:txBody>
                    <a:bodyPr/>
                    <a:lstStyle/>
                    <a:p>
                      <a:pPr indent="0" lvl="0" marL="0" marR="0" rtl="0" algn="l">
                        <a:spcBef>
                          <a:spcPts val="0"/>
                        </a:spcBef>
                        <a:spcAft>
                          <a:spcPts val="0"/>
                        </a:spcAft>
                        <a:buClr>
                          <a:srgbClr val="FFFFFF"/>
                        </a:buClr>
                        <a:buSzPts val="1725"/>
                        <a:buFont typeface="Arial"/>
                        <a:buNone/>
                      </a:pPr>
                      <a:r>
                        <a:rPr b="1" lang="en-US" sz="2400">
                          <a:solidFill>
                            <a:srgbClr val="FFFFFF"/>
                          </a:solidFill>
                          <a:latin typeface="Arial"/>
                          <a:ea typeface="Arial"/>
                          <a:cs typeface="Arial"/>
                          <a:sym typeface="Arial"/>
                        </a:rPr>
                        <a:t>Hạng mục</a:t>
                      </a:r>
                      <a:endParaRPr sz="2400"/>
                    </a:p>
                  </a:txBody>
                  <a:tcPr marT="45725" marB="45725" marR="91450" marL="91450">
                    <a:solidFill>
                      <a:srgbClr val="0B2A47"/>
                    </a:solidFill>
                  </a:tcPr>
                </a:tc>
                <a:tc>
                  <a:txBody>
                    <a:bodyPr/>
                    <a:lstStyle/>
                    <a:p>
                      <a:pPr indent="0" lvl="0" marL="0" marR="0" rtl="0" algn="l">
                        <a:spcBef>
                          <a:spcPts val="0"/>
                        </a:spcBef>
                        <a:spcAft>
                          <a:spcPts val="0"/>
                        </a:spcAft>
                        <a:buClr>
                          <a:srgbClr val="FFFFFF"/>
                        </a:buClr>
                        <a:buSzPts val="1725"/>
                        <a:buFont typeface="Arial"/>
                        <a:buNone/>
                      </a:pPr>
                      <a:r>
                        <a:rPr b="1" lang="en-US" sz="2400">
                          <a:solidFill>
                            <a:srgbClr val="FFFFFF"/>
                          </a:solidFill>
                          <a:latin typeface="Arial"/>
                          <a:ea typeface="Arial"/>
                          <a:cs typeface="Arial"/>
                          <a:sym typeface="Arial"/>
                        </a:rPr>
                        <a:t>Thiết lập</a:t>
                      </a:r>
                      <a:endParaRPr sz="2400"/>
                    </a:p>
                  </a:txBody>
                  <a:tcPr marT="45725" marB="45725" marR="91450" marL="91450">
                    <a:solidFill>
                      <a:srgbClr val="0B2A47"/>
                    </a:solidFill>
                  </a:tcPr>
                </a:tc>
              </a:tr>
              <a:tr h="476250">
                <a:tc>
                  <a:txBody>
                    <a:bodyPr/>
                    <a:lstStyle/>
                    <a:p>
                      <a:pPr indent="0" lvl="0" marL="0" marR="0" rtl="0" algn="l">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Địa điểm</a:t>
                      </a:r>
                      <a:endParaRPr sz="2400"/>
                    </a:p>
                  </a:txBody>
                  <a:tcPr marT="45725" marB="45725" marR="91450" marL="91450"/>
                </a:tc>
                <a:tc>
                  <a:txBody>
                    <a:bodyPr/>
                    <a:lstStyle/>
                    <a:p>
                      <a:pPr indent="0" lvl="0" marL="0" marR="0" rtl="0" algn="l">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Trạm Rajendranagar, Hyderabad, Ấn Độ</a:t>
                      </a:r>
                      <a:endParaRPr sz="2400"/>
                    </a:p>
                  </a:txBody>
                  <a:tcPr marT="45725" marB="45725" marR="91450" marL="91450"/>
                </a:tc>
              </a:tr>
              <a:tr h="476250">
                <a:tc>
                  <a:txBody>
                    <a:bodyPr/>
                    <a:lstStyle/>
                    <a:p>
                      <a:pPr indent="0" lvl="0" marL="0" marR="0" rtl="0" algn="l">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Khoảng thời gian</a:t>
                      </a:r>
                      <a:endParaRPr sz="2400"/>
                    </a:p>
                  </a:txBody>
                  <a:tcPr marT="45725" marB="45725" marR="91450" marL="91450">
                    <a:solidFill>
                      <a:srgbClr val="FBFCFD"/>
                    </a:solidFill>
                  </a:tcPr>
                </a:tc>
                <a:tc>
                  <a:txBody>
                    <a:bodyPr/>
                    <a:lstStyle/>
                    <a:p>
                      <a:pPr indent="0" lvl="0" marL="0" marR="0" rtl="0" algn="l">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30 năm, 1986–2015</a:t>
                      </a:r>
                      <a:endParaRPr sz="2400"/>
                    </a:p>
                  </a:txBody>
                  <a:tcPr marT="45725" marB="45725" marR="91450" marL="91450">
                    <a:solidFill>
                      <a:srgbClr val="FBFCFD"/>
                    </a:solidFill>
                  </a:tcPr>
                </a:tc>
              </a:tr>
              <a:tr h="476250">
                <a:tc>
                  <a:txBody>
                    <a:bodyPr/>
                    <a:lstStyle/>
                    <a:p>
                      <a:pPr indent="0" lvl="0" marL="0" marR="0" rtl="0" algn="l">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Biến thời tiết</a:t>
                      </a:r>
                      <a:endParaRPr sz="2400"/>
                    </a:p>
                  </a:txBody>
                  <a:tcPr marT="45725" marB="45725" marR="91450" marL="91450"/>
                </a:tc>
                <a:tc>
                  <a:txBody>
                    <a:bodyPr/>
                    <a:lstStyle/>
                    <a:p>
                      <a:pPr indent="0" lvl="0" marL="0" marR="0" rtl="0" algn="l">
                        <a:spcBef>
                          <a:spcPts val="0"/>
                        </a:spcBef>
                        <a:spcAft>
                          <a:spcPts val="0"/>
                        </a:spcAft>
                        <a:buClr>
                          <a:srgbClr val="292929"/>
                        </a:buClr>
                        <a:buSzPts val="1725"/>
                        <a:buFont typeface="Arial"/>
                        <a:buNone/>
                      </a:pPr>
                      <a:r>
                        <a:rPr lang="en-US" sz="2400">
                          <a:solidFill>
                            <a:srgbClr val="292929"/>
                          </a:solidFill>
                        </a:rPr>
                        <a:t>Thời tiết, Độ ẩm, Lượng mưa</a:t>
                      </a:r>
                      <a:endParaRPr sz="2400"/>
                    </a:p>
                  </a:txBody>
                  <a:tcPr marT="45725" marB="45725" marR="91450" marL="91450"/>
                </a:tc>
              </a:tr>
              <a:tr h="476250">
                <a:tc>
                  <a:txBody>
                    <a:bodyPr/>
                    <a:lstStyle/>
                    <a:p>
                      <a:pPr indent="0" lvl="0" marL="0" marR="0" rtl="0" algn="l">
                        <a:spcBef>
                          <a:spcPts val="0"/>
                        </a:spcBef>
                        <a:spcAft>
                          <a:spcPts val="0"/>
                        </a:spcAft>
                        <a:buClr>
                          <a:srgbClr val="292929"/>
                        </a:buClr>
                        <a:buSzPts val="1725"/>
                        <a:buFont typeface="Arial"/>
                        <a:buNone/>
                      </a:pPr>
                      <a:r>
                        <a:rPr lang="en-US" sz="2400">
                          <a:solidFill>
                            <a:srgbClr val="292929"/>
                          </a:solidFill>
                        </a:rPr>
                        <a:t>Thời gian</a:t>
                      </a:r>
                      <a:endParaRPr sz="2400"/>
                    </a:p>
                  </a:txBody>
                  <a:tcPr marT="45725" marB="45725" marR="91450" marL="91450">
                    <a:solidFill>
                      <a:srgbClr val="FBFCFD"/>
                    </a:solidFill>
                  </a:tcPr>
                </a:tc>
                <a:tc>
                  <a:txBody>
                    <a:bodyPr/>
                    <a:lstStyle/>
                    <a:p>
                      <a:pPr indent="0" lvl="0" marL="0" marR="0" rtl="0" algn="l">
                        <a:spcBef>
                          <a:spcPts val="0"/>
                        </a:spcBef>
                        <a:spcAft>
                          <a:spcPts val="0"/>
                        </a:spcAft>
                        <a:buClr>
                          <a:srgbClr val="292929"/>
                        </a:buClr>
                        <a:buSzPts val="1725"/>
                        <a:buFont typeface="Arial"/>
                        <a:buNone/>
                      </a:pPr>
                      <a:r>
                        <a:rPr lang="en-US" sz="2400">
                          <a:solidFill>
                            <a:srgbClr val="292929"/>
                          </a:solidFill>
                        </a:rPr>
                        <a:t>Ngắn hạn (d=1) và Trung hạn (d=5)</a:t>
                      </a:r>
                      <a:endParaRPr sz="2400"/>
                    </a:p>
                  </a:txBody>
                  <a:tcPr marT="45725" marB="45725" marR="91450" marL="91450">
                    <a:solidFill>
                      <a:srgbClr val="FBFCFD"/>
                    </a:solidFill>
                  </a:tcPr>
                </a:tc>
              </a:tr>
              <a:tr h="476250">
                <a:tc>
                  <a:txBody>
                    <a:bodyPr/>
                    <a:lstStyle/>
                    <a:p>
                      <a:pPr indent="0" lvl="0" marL="0" marR="0" rtl="0" algn="l">
                        <a:spcBef>
                          <a:spcPts val="0"/>
                        </a:spcBef>
                        <a:spcAft>
                          <a:spcPts val="0"/>
                        </a:spcAft>
                        <a:buClr>
                          <a:srgbClr val="292929"/>
                        </a:buClr>
                        <a:buSzPts val="1725"/>
                        <a:buFont typeface="Arial"/>
                        <a:buNone/>
                      </a:pPr>
                      <a:r>
                        <a:rPr lang="en-US" sz="2400">
                          <a:solidFill>
                            <a:srgbClr val="292929"/>
                          </a:solidFill>
                        </a:rPr>
                        <a:t>Chu kỳ xem xét</a:t>
                      </a:r>
                      <a:endParaRPr sz="2400"/>
                    </a:p>
                  </a:txBody>
                  <a:tcPr marT="45725" marB="45725" marR="91450" marL="91450"/>
                </a:tc>
                <a:tc>
                  <a:txBody>
                    <a:bodyPr/>
                    <a:lstStyle/>
                    <a:p>
                      <a:pPr indent="0" lvl="0" marL="0" marR="0" rtl="0" algn="l">
                        <a:spcBef>
                          <a:spcPts val="0"/>
                        </a:spcBef>
                        <a:spcAft>
                          <a:spcPts val="0"/>
                        </a:spcAft>
                        <a:buClr>
                          <a:srgbClr val="292929"/>
                        </a:buClr>
                        <a:buSzPts val="1725"/>
                        <a:buFont typeface="Arial"/>
                        <a:buNone/>
                      </a:pPr>
                      <a:r>
                        <a:rPr lang="en-US" sz="2400">
                          <a:solidFill>
                            <a:srgbClr val="292929"/>
                          </a:solidFill>
                        </a:rPr>
                        <a:t>Theo năm, Theo mùa vụ, Theo giai đoạn sinh trưởng</a:t>
                      </a:r>
                      <a:endParaRPr sz="2400"/>
                    </a:p>
                  </a:txBody>
                  <a:tcPr marT="45725" marB="45725" marR="91450" marL="9145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618" name="Shape 618"/>
        <p:cNvGrpSpPr/>
        <p:nvPr/>
      </p:nvGrpSpPr>
      <p:grpSpPr>
        <a:xfrm>
          <a:off x="0" y="0"/>
          <a:ext cx="0" cy="0"/>
          <a:chOff x="0" y="0"/>
          <a:chExt cx="0" cy="0"/>
        </a:xfrm>
      </p:grpSpPr>
      <p:sp>
        <p:nvSpPr>
          <p:cNvPr id="619" name="Google Shape;619;p13"/>
          <p:cNvSpPr/>
          <p:nvPr/>
        </p:nvSpPr>
        <p:spPr>
          <a:xfrm>
            <a:off x="0" y="0"/>
            <a:ext cx="12192000" cy="66675"/>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3"/>
          <p:cNvSpPr/>
          <p:nvPr/>
        </p:nvSpPr>
        <p:spPr>
          <a:xfrm>
            <a:off x="0" y="66675"/>
            <a:ext cx="12192000" cy="47625"/>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3"/>
          <p:cNvSpPr/>
          <p:nvPr/>
        </p:nvSpPr>
        <p:spPr>
          <a:xfrm>
            <a:off x="0" y="0"/>
            <a:ext cx="85725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2" name="Google Shape;622;p13"/>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623" name="Google Shape;623;p13"/>
          <p:cNvSpPr/>
          <p:nvPr/>
        </p:nvSpPr>
        <p:spPr>
          <a:xfrm>
            <a:off x="409575" y="952500"/>
            <a:ext cx="19050" cy="59055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3"/>
          <p:cNvSpPr/>
          <p:nvPr/>
        </p:nvSpPr>
        <p:spPr>
          <a:xfrm>
            <a:off x="66675" y="1962150"/>
            <a:ext cx="714375" cy="2476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625" name="Google Shape;625;p13"/>
          <p:cNvSpPr/>
          <p:nvPr/>
        </p:nvSpPr>
        <p:spPr>
          <a:xfrm>
            <a:off x="114300" y="3476625"/>
            <a:ext cx="628650" cy="295275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3"/>
          <p:cNvSpPr/>
          <p:nvPr/>
        </p:nvSpPr>
        <p:spPr>
          <a:xfrm>
            <a:off x="171450" y="35909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627" name="Google Shape;627;p13"/>
          <p:cNvSpPr/>
          <p:nvPr/>
        </p:nvSpPr>
        <p:spPr>
          <a:xfrm>
            <a:off x="171450" y="40576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628" name="Google Shape;628;p13"/>
          <p:cNvSpPr/>
          <p:nvPr/>
        </p:nvSpPr>
        <p:spPr>
          <a:xfrm>
            <a:off x="171450" y="452437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629" name="Google Shape;629;p13"/>
          <p:cNvSpPr/>
          <p:nvPr/>
        </p:nvSpPr>
        <p:spPr>
          <a:xfrm>
            <a:off x="114300" y="4953000"/>
            <a:ext cx="628650" cy="40005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3"/>
          <p:cNvSpPr/>
          <p:nvPr/>
        </p:nvSpPr>
        <p:spPr>
          <a:xfrm>
            <a:off x="171450" y="499110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04</a:t>
            </a:r>
            <a:endParaRPr/>
          </a:p>
        </p:txBody>
      </p:sp>
      <p:sp>
        <p:nvSpPr>
          <p:cNvPr id="631" name="Google Shape;631;p13"/>
          <p:cNvSpPr/>
          <p:nvPr/>
        </p:nvSpPr>
        <p:spPr>
          <a:xfrm>
            <a:off x="171450" y="54578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632" name="Google Shape;632;p13"/>
          <p:cNvSpPr/>
          <p:nvPr/>
        </p:nvSpPr>
        <p:spPr>
          <a:xfrm>
            <a:off x="171450" y="59245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633" name="Google Shape;633;p13"/>
          <p:cNvSpPr/>
          <p:nvPr/>
        </p:nvSpPr>
        <p:spPr>
          <a:xfrm>
            <a:off x="1123950" y="6467475"/>
            <a:ext cx="10648950"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3"/>
          <p:cNvSpPr/>
          <p:nvPr/>
        </p:nvSpPr>
        <p:spPr>
          <a:xfrm>
            <a:off x="1143000" y="6553200"/>
            <a:ext cx="609600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635" name="Google Shape;635;p13"/>
          <p:cNvSpPr/>
          <p:nvPr/>
        </p:nvSpPr>
        <p:spPr>
          <a:xfrm>
            <a:off x="7810500" y="6553200"/>
            <a:ext cx="285750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636" name="Google Shape;636;p13"/>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15</a:t>
            </a:r>
            <a:endParaRPr/>
          </a:p>
        </p:txBody>
      </p:sp>
      <p:sp>
        <p:nvSpPr>
          <p:cNvPr id="637" name="Google Shape;637;p13"/>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400">
                <a:solidFill>
                  <a:srgbClr val="1F603A"/>
                </a:solidFill>
              </a:rPr>
              <a:t>So sánh trước và sau: WC số thực với CWC</a:t>
            </a:r>
            <a:endParaRPr b="1" sz="2400"/>
          </a:p>
        </p:txBody>
      </p:sp>
      <p:sp>
        <p:nvSpPr>
          <p:cNvPr id="638" name="Google Shape;638;p13"/>
          <p:cNvSpPr/>
          <p:nvPr/>
        </p:nvSpPr>
        <p:spPr>
          <a:xfrm>
            <a:off x="9620250" y="371475"/>
            <a:ext cx="200025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4</a:t>
            </a:r>
            <a:endParaRPr/>
          </a:p>
        </p:txBody>
      </p:sp>
      <p:sp>
        <p:nvSpPr>
          <p:cNvPr id="639" name="Google Shape;639;p13"/>
          <p:cNvSpPr/>
          <p:nvPr/>
        </p:nvSpPr>
        <p:spPr>
          <a:xfrm>
            <a:off x="1143000" y="847725"/>
            <a:ext cx="10620375"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3"/>
          <p:cNvSpPr/>
          <p:nvPr/>
        </p:nvSpPr>
        <p:spPr>
          <a:xfrm>
            <a:off x="1143000" y="1104900"/>
            <a:ext cx="1062030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950">
                <a:solidFill>
                  <a:srgbClr val="0B2A47"/>
                </a:solidFill>
              </a:rPr>
              <a:t>Bảng kết quả so sánh:</a:t>
            </a:r>
            <a:endParaRPr/>
          </a:p>
        </p:txBody>
      </p:sp>
      <p:graphicFrame>
        <p:nvGraphicFramePr>
          <p:cNvPr id="641" name="Google Shape;641;p13"/>
          <p:cNvGraphicFramePr/>
          <p:nvPr/>
        </p:nvGraphicFramePr>
        <p:xfrm>
          <a:off x="1143000" y="1762125"/>
          <a:ext cx="3000000" cy="3000000"/>
        </p:xfrm>
        <a:graphic>
          <a:graphicData uri="http://schemas.openxmlformats.org/drawingml/2006/table">
            <a:tbl>
              <a:tblPr>
                <a:noFill/>
                <a:tableStyleId>{2005C6F8-0E9F-4D0F-8A03-0A1289535377}</a:tableStyleId>
              </a:tblPr>
              <a:tblGrid>
                <a:gridCol w="1089200"/>
                <a:gridCol w="3003100"/>
                <a:gridCol w="3322050"/>
                <a:gridCol w="3206050"/>
              </a:tblGrid>
              <a:tr h="476250">
                <a:tc>
                  <a:txBody>
                    <a:bodyPr/>
                    <a:lstStyle/>
                    <a:p>
                      <a:pPr indent="0" lvl="0" marL="0" marR="0" rtl="0" algn="l">
                        <a:spcBef>
                          <a:spcPts val="0"/>
                        </a:spcBef>
                        <a:spcAft>
                          <a:spcPts val="0"/>
                        </a:spcAft>
                        <a:buClr>
                          <a:srgbClr val="FFFFFF"/>
                        </a:buClr>
                        <a:buSzPts val="1725"/>
                        <a:buFont typeface="Arial"/>
                        <a:buNone/>
                      </a:pPr>
                      <a:r>
                        <a:rPr b="1" lang="en-US" sz="2400">
                          <a:solidFill>
                            <a:srgbClr val="FFFFFF"/>
                          </a:solidFill>
                          <a:latin typeface="Arial"/>
                          <a:ea typeface="Arial"/>
                          <a:cs typeface="Arial"/>
                          <a:sym typeface="Arial"/>
                        </a:rPr>
                        <a:t>n</a:t>
                      </a:r>
                      <a:endParaRPr sz="2400"/>
                    </a:p>
                  </a:txBody>
                  <a:tcPr marT="45725" marB="45725" marR="91450" marL="91450">
                    <a:solidFill>
                      <a:srgbClr val="1478D4"/>
                    </a:solidFill>
                  </a:tcPr>
                </a:tc>
                <a:tc>
                  <a:txBody>
                    <a:bodyPr/>
                    <a:lstStyle/>
                    <a:p>
                      <a:pPr indent="0" lvl="0" marL="0" marR="0" rtl="0" algn="ctr">
                        <a:spcBef>
                          <a:spcPts val="0"/>
                        </a:spcBef>
                        <a:spcAft>
                          <a:spcPts val="0"/>
                        </a:spcAft>
                        <a:buClr>
                          <a:srgbClr val="FFFFFF"/>
                        </a:buClr>
                        <a:buSzPts val="1725"/>
                        <a:buFont typeface="Arial"/>
                        <a:buNone/>
                      </a:pPr>
                      <a:r>
                        <a:rPr b="1" lang="en-US" sz="2400">
                          <a:solidFill>
                            <a:srgbClr val="FFFFFF"/>
                          </a:solidFill>
                          <a:latin typeface="Arial"/>
                          <a:ea typeface="Arial"/>
                          <a:cs typeface="Arial"/>
                          <a:sym typeface="Arial"/>
                        </a:rPr>
                        <a:t>WC số thực (%)</a:t>
                      </a:r>
                      <a:endParaRPr sz="2400"/>
                    </a:p>
                  </a:txBody>
                  <a:tcPr marT="45725" marB="45725" marR="91450" marL="91450">
                    <a:solidFill>
                      <a:srgbClr val="1478D4"/>
                    </a:solidFill>
                  </a:tcPr>
                </a:tc>
                <a:tc>
                  <a:txBody>
                    <a:bodyPr/>
                    <a:lstStyle/>
                    <a:p>
                      <a:pPr indent="0" lvl="0" marL="0" marR="0" rtl="0" algn="ctr">
                        <a:spcBef>
                          <a:spcPts val="0"/>
                        </a:spcBef>
                        <a:spcAft>
                          <a:spcPts val="0"/>
                        </a:spcAft>
                        <a:buClr>
                          <a:srgbClr val="FFFFFF"/>
                        </a:buClr>
                        <a:buSzPts val="1725"/>
                        <a:buFont typeface="Arial"/>
                        <a:buNone/>
                      </a:pPr>
                      <a:r>
                        <a:rPr b="1" lang="en-US" sz="2400">
                          <a:solidFill>
                            <a:srgbClr val="FFFFFF"/>
                          </a:solidFill>
                          <a:latin typeface="Arial"/>
                          <a:ea typeface="Arial"/>
                          <a:cs typeface="Arial"/>
                          <a:sym typeface="Arial"/>
                        </a:rPr>
                        <a:t>CWC danh mục (%)</a:t>
                      </a:r>
                      <a:endParaRPr sz="2400"/>
                    </a:p>
                  </a:txBody>
                  <a:tcPr marT="45725" marB="45725" marR="91450" marL="91450">
                    <a:solidFill>
                      <a:srgbClr val="1478D4"/>
                    </a:solidFill>
                  </a:tcPr>
                </a:tc>
                <a:tc>
                  <a:txBody>
                    <a:bodyPr/>
                    <a:lstStyle/>
                    <a:p>
                      <a:pPr indent="0" lvl="0" marL="0" marR="0" rtl="0" algn="ctr">
                        <a:spcBef>
                          <a:spcPts val="0"/>
                        </a:spcBef>
                        <a:spcAft>
                          <a:spcPts val="0"/>
                        </a:spcAft>
                        <a:buClr>
                          <a:srgbClr val="FFFFFF"/>
                        </a:buClr>
                        <a:buSzPts val="1725"/>
                        <a:buFont typeface="Arial"/>
                        <a:buNone/>
                      </a:pPr>
                      <a:r>
                        <a:rPr b="1" lang="en-US" sz="2400">
                          <a:solidFill>
                            <a:srgbClr val="FFFFFF"/>
                          </a:solidFill>
                          <a:latin typeface="Arial"/>
                          <a:ea typeface="Arial"/>
                          <a:cs typeface="Arial"/>
                          <a:sym typeface="Arial"/>
                        </a:rPr>
                        <a:t>Hiệu quả (+ điểm %)</a:t>
                      </a:r>
                      <a:endParaRPr sz="2400"/>
                    </a:p>
                  </a:txBody>
                  <a:tcPr marT="45725" marB="45725" marR="91450" marL="91450">
                    <a:solidFill>
                      <a:srgbClr val="1478D4"/>
                    </a:solidFill>
                  </a:tcPr>
                </a:tc>
              </a:tr>
              <a:tr h="476250">
                <a:tc>
                  <a:txBody>
                    <a:bodyPr/>
                    <a:lstStyle/>
                    <a:p>
                      <a:pPr indent="0" lvl="0" marL="0" marR="0" rtl="0" algn="l">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1</a:t>
                      </a:r>
                      <a:endParaRPr sz="2400"/>
                    </a:p>
                  </a:txBody>
                  <a:tcPr marT="45725" marB="45725" marR="91450" marL="91450"/>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98%</a:t>
                      </a:r>
                      <a:endParaRPr sz="2400"/>
                    </a:p>
                  </a:txBody>
                  <a:tcPr marT="45725" marB="45725" marR="91450" marL="91450"/>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100%</a:t>
                      </a:r>
                      <a:endParaRPr sz="2400"/>
                    </a:p>
                  </a:txBody>
                  <a:tcPr marT="45725" marB="45725" marR="91450" marL="91450"/>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+2</a:t>
                      </a:r>
                      <a:endParaRPr sz="2400"/>
                    </a:p>
                  </a:txBody>
                  <a:tcPr marT="45725" marB="45725" marR="91450" marL="91450"/>
                </a:tc>
              </a:tr>
              <a:tr h="476250">
                <a:tc>
                  <a:txBody>
                    <a:bodyPr/>
                    <a:lstStyle/>
                    <a:p>
                      <a:pPr indent="0" lvl="0" marL="0" marR="0" rtl="0" algn="l">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2</a:t>
                      </a:r>
                      <a:endParaRPr sz="2400"/>
                    </a:p>
                  </a:txBody>
                  <a:tcPr marT="45725" marB="45725" marR="91450" marL="91450">
                    <a:solidFill>
                      <a:srgbClr val="FBFCFD"/>
                    </a:solidFill>
                  </a:tcPr>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20%</a:t>
                      </a:r>
                      <a:endParaRPr sz="2400"/>
                    </a:p>
                  </a:txBody>
                  <a:tcPr marT="45725" marB="45725" marR="91450" marL="91450">
                    <a:solidFill>
                      <a:srgbClr val="FBFCFD"/>
                    </a:solidFill>
                  </a:tcPr>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99%</a:t>
                      </a:r>
                      <a:endParaRPr sz="2400"/>
                    </a:p>
                  </a:txBody>
                  <a:tcPr marT="45725" marB="45725" marR="91450" marL="91450">
                    <a:solidFill>
                      <a:srgbClr val="FBFCFD"/>
                    </a:solidFill>
                  </a:tcPr>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+79</a:t>
                      </a:r>
                      <a:endParaRPr sz="2400"/>
                    </a:p>
                  </a:txBody>
                  <a:tcPr marT="45725" marB="45725" marR="91450" marL="91450">
                    <a:solidFill>
                      <a:srgbClr val="FBFCFD"/>
                    </a:solidFill>
                  </a:tcPr>
                </a:tc>
              </a:tr>
              <a:tr h="476250">
                <a:tc>
                  <a:txBody>
                    <a:bodyPr/>
                    <a:lstStyle/>
                    <a:p>
                      <a:pPr indent="0" lvl="0" marL="0" marR="0" rtl="0" algn="l">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3</a:t>
                      </a:r>
                      <a:endParaRPr sz="2400"/>
                    </a:p>
                  </a:txBody>
                  <a:tcPr marT="45725" marB="45725" marR="91450" marL="91450"/>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0%</a:t>
                      </a:r>
                      <a:endParaRPr sz="2400"/>
                    </a:p>
                  </a:txBody>
                  <a:tcPr marT="45725" marB="45725" marR="91450" marL="91450"/>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96%</a:t>
                      </a:r>
                      <a:endParaRPr sz="2400"/>
                    </a:p>
                  </a:txBody>
                  <a:tcPr marT="45725" marB="45725" marR="91450" marL="91450"/>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+96</a:t>
                      </a:r>
                      <a:endParaRPr sz="2400"/>
                    </a:p>
                  </a:txBody>
                  <a:tcPr marT="45725" marB="45725" marR="91450" marL="91450"/>
                </a:tc>
              </a:tr>
              <a:tr h="476250">
                <a:tc>
                  <a:txBody>
                    <a:bodyPr/>
                    <a:lstStyle/>
                    <a:p>
                      <a:pPr indent="0" lvl="0" marL="0" marR="0" rtl="0" algn="l">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4</a:t>
                      </a:r>
                      <a:endParaRPr sz="2400"/>
                    </a:p>
                  </a:txBody>
                  <a:tcPr marT="45725" marB="45725" marR="91450" marL="91450">
                    <a:solidFill>
                      <a:srgbClr val="FBFCFD"/>
                    </a:solidFill>
                  </a:tcPr>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0%</a:t>
                      </a:r>
                      <a:endParaRPr sz="2400"/>
                    </a:p>
                  </a:txBody>
                  <a:tcPr marT="45725" marB="45725" marR="91450" marL="91450">
                    <a:solidFill>
                      <a:srgbClr val="FBFCFD"/>
                    </a:solidFill>
                  </a:tcPr>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87%</a:t>
                      </a:r>
                      <a:endParaRPr sz="2400"/>
                    </a:p>
                  </a:txBody>
                  <a:tcPr marT="45725" marB="45725" marR="91450" marL="91450">
                    <a:solidFill>
                      <a:srgbClr val="FBFCFD"/>
                    </a:solidFill>
                  </a:tcPr>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+87</a:t>
                      </a:r>
                      <a:endParaRPr sz="2400"/>
                    </a:p>
                  </a:txBody>
                  <a:tcPr marT="45725" marB="45725" marR="91450" marL="91450">
                    <a:solidFill>
                      <a:srgbClr val="FBFCFD"/>
                    </a:solidFill>
                  </a:tcPr>
                </a:tc>
              </a:tr>
              <a:tr h="476250">
                <a:tc>
                  <a:txBody>
                    <a:bodyPr/>
                    <a:lstStyle/>
                    <a:p>
                      <a:pPr indent="0" lvl="0" marL="0" marR="0" rtl="0" algn="l">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5</a:t>
                      </a:r>
                      <a:endParaRPr sz="2400"/>
                    </a:p>
                  </a:txBody>
                  <a:tcPr marT="45725" marB="45725" marR="91450" marL="91450"/>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0%</a:t>
                      </a:r>
                      <a:endParaRPr sz="2400"/>
                    </a:p>
                  </a:txBody>
                  <a:tcPr marT="45725" marB="45725" marR="91450" marL="91450"/>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81%</a:t>
                      </a:r>
                      <a:endParaRPr sz="2400"/>
                    </a:p>
                  </a:txBody>
                  <a:tcPr marT="45725" marB="45725" marR="91450" marL="91450"/>
                </a:tc>
                <a:tc>
                  <a:txBody>
                    <a:bodyPr/>
                    <a:lstStyle/>
                    <a:p>
                      <a:pPr indent="0" lvl="0" marL="0" marR="0" rtl="0" algn="ctr">
                        <a:spcBef>
                          <a:spcPts val="0"/>
                        </a:spcBef>
                        <a:spcAft>
                          <a:spcPts val="0"/>
                        </a:spcAft>
                        <a:buClr>
                          <a:srgbClr val="292929"/>
                        </a:buClr>
                        <a:buSzPts val="1725"/>
                        <a:buFont typeface="Arial"/>
                        <a:buNone/>
                      </a:pPr>
                      <a:r>
                        <a:rPr b="0" lang="en-US" sz="2400">
                          <a:solidFill>
                            <a:srgbClr val="292929"/>
                          </a:solidFill>
                          <a:latin typeface="Arial"/>
                          <a:ea typeface="Arial"/>
                          <a:cs typeface="Arial"/>
                          <a:sym typeface="Arial"/>
                        </a:rPr>
                        <a:t>+81</a:t>
                      </a:r>
                      <a:endParaRPr sz="2400"/>
                    </a:p>
                  </a:txBody>
                  <a:tcPr marT="45725" marB="45725" marR="91450" marL="91450"/>
                </a:tc>
              </a:tr>
            </a:tbl>
          </a:graphicData>
        </a:graphic>
      </p:graphicFrame>
      <p:sp>
        <p:nvSpPr>
          <p:cNvPr id="642" name="Google Shape;642;p13"/>
          <p:cNvSpPr/>
          <p:nvPr/>
        </p:nvSpPr>
        <p:spPr>
          <a:xfrm>
            <a:off x="1143038" y="5069000"/>
            <a:ext cx="10620300" cy="762000"/>
          </a:xfrm>
          <a:prstGeom prst="roundRect">
            <a:avLst>
              <a:gd fmla="val 10000" name="adj"/>
            </a:avLst>
          </a:prstGeom>
          <a:solidFill>
            <a:srgbClr val="EAF5EC"/>
          </a:solidFill>
          <a:ln cap="flat" cmpd="sng" w="14275">
            <a:solidFill>
              <a:srgbClr val="1F60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3"/>
          <p:cNvSpPr/>
          <p:nvPr/>
        </p:nvSpPr>
        <p:spPr>
          <a:xfrm>
            <a:off x="1381125" y="5181600"/>
            <a:ext cx="10144200" cy="32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400">
                <a:solidFill>
                  <a:srgbClr val="1F603A"/>
                </a:solidFill>
                <a:latin typeface="Arial"/>
                <a:ea typeface="Arial"/>
                <a:cs typeface="Arial"/>
                <a:sym typeface="Arial"/>
              </a:rPr>
              <a:t>Khi n ≥ 3,</a:t>
            </a:r>
            <a:r>
              <a:rPr b="1" lang="en-US" sz="2400">
                <a:solidFill>
                  <a:srgbClr val="1F603A"/>
                </a:solidFill>
              </a:rPr>
              <a:t> WC về 0%</a:t>
            </a:r>
            <a:r>
              <a:rPr b="1" i="0" lang="en-US" sz="2400">
                <a:solidFill>
                  <a:srgbClr val="1F603A"/>
                </a:solidFill>
                <a:latin typeface="Arial"/>
                <a:ea typeface="Arial"/>
                <a:cs typeface="Arial"/>
                <a:sym typeface="Arial"/>
              </a:rPr>
              <a:t>, còn CWC vẫn đạt trên 80%</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648" name="Shape 648"/>
        <p:cNvGrpSpPr/>
        <p:nvPr/>
      </p:nvGrpSpPr>
      <p:grpSpPr>
        <a:xfrm>
          <a:off x="0" y="0"/>
          <a:ext cx="0" cy="0"/>
          <a:chOff x="0" y="0"/>
          <a:chExt cx="0" cy="0"/>
        </a:xfrm>
      </p:grpSpPr>
      <p:sp>
        <p:nvSpPr>
          <p:cNvPr id="649" name="Google Shape;649;p14"/>
          <p:cNvSpPr/>
          <p:nvPr/>
        </p:nvSpPr>
        <p:spPr>
          <a:xfrm>
            <a:off x="0" y="0"/>
            <a:ext cx="12192000" cy="66675"/>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4"/>
          <p:cNvSpPr/>
          <p:nvPr/>
        </p:nvSpPr>
        <p:spPr>
          <a:xfrm>
            <a:off x="0" y="66675"/>
            <a:ext cx="12192000" cy="47625"/>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4"/>
          <p:cNvSpPr/>
          <p:nvPr/>
        </p:nvSpPr>
        <p:spPr>
          <a:xfrm>
            <a:off x="0" y="0"/>
            <a:ext cx="85725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2" name="Google Shape;652;p14"/>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653" name="Google Shape;653;p14"/>
          <p:cNvSpPr/>
          <p:nvPr/>
        </p:nvSpPr>
        <p:spPr>
          <a:xfrm>
            <a:off x="409575" y="952500"/>
            <a:ext cx="19050" cy="59055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4"/>
          <p:cNvSpPr/>
          <p:nvPr/>
        </p:nvSpPr>
        <p:spPr>
          <a:xfrm>
            <a:off x="66675" y="1962150"/>
            <a:ext cx="714375" cy="2476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655" name="Google Shape;655;p14"/>
          <p:cNvSpPr/>
          <p:nvPr/>
        </p:nvSpPr>
        <p:spPr>
          <a:xfrm>
            <a:off x="114300" y="3476625"/>
            <a:ext cx="628650" cy="295275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4"/>
          <p:cNvSpPr/>
          <p:nvPr/>
        </p:nvSpPr>
        <p:spPr>
          <a:xfrm>
            <a:off x="171450" y="35909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657" name="Google Shape;657;p14"/>
          <p:cNvSpPr/>
          <p:nvPr/>
        </p:nvSpPr>
        <p:spPr>
          <a:xfrm>
            <a:off x="171450" y="40576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658" name="Google Shape;658;p14"/>
          <p:cNvSpPr/>
          <p:nvPr/>
        </p:nvSpPr>
        <p:spPr>
          <a:xfrm>
            <a:off x="171450" y="452437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659" name="Google Shape;659;p14"/>
          <p:cNvSpPr/>
          <p:nvPr/>
        </p:nvSpPr>
        <p:spPr>
          <a:xfrm>
            <a:off x="114300" y="4953000"/>
            <a:ext cx="628650" cy="40005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4"/>
          <p:cNvSpPr/>
          <p:nvPr/>
        </p:nvSpPr>
        <p:spPr>
          <a:xfrm>
            <a:off x="171450" y="499110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04</a:t>
            </a:r>
            <a:endParaRPr/>
          </a:p>
        </p:txBody>
      </p:sp>
      <p:sp>
        <p:nvSpPr>
          <p:cNvPr id="661" name="Google Shape;661;p14"/>
          <p:cNvSpPr/>
          <p:nvPr/>
        </p:nvSpPr>
        <p:spPr>
          <a:xfrm>
            <a:off x="171450" y="54578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662" name="Google Shape;662;p14"/>
          <p:cNvSpPr/>
          <p:nvPr/>
        </p:nvSpPr>
        <p:spPr>
          <a:xfrm>
            <a:off x="171450" y="59245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663" name="Google Shape;663;p14"/>
          <p:cNvSpPr/>
          <p:nvPr/>
        </p:nvSpPr>
        <p:spPr>
          <a:xfrm>
            <a:off x="1123950" y="6467475"/>
            <a:ext cx="10648950"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4"/>
          <p:cNvSpPr/>
          <p:nvPr/>
        </p:nvSpPr>
        <p:spPr>
          <a:xfrm>
            <a:off x="1143000" y="6553200"/>
            <a:ext cx="609600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665" name="Google Shape;665;p14"/>
          <p:cNvSpPr/>
          <p:nvPr/>
        </p:nvSpPr>
        <p:spPr>
          <a:xfrm>
            <a:off x="7810500" y="6553200"/>
            <a:ext cx="285750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666" name="Google Shape;666;p14"/>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16</a:t>
            </a:r>
            <a:endParaRPr/>
          </a:p>
        </p:txBody>
      </p:sp>
      <p:sp>
        <p:nvSpPr>
          <p:cNvPr id="667" name="Google Shape;667;p14"/>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1F603A"/>
                </a:solidFill>
              </a:rPr>
              <a:t>Kết quả Chu kỳ theo năm</a:t>
            </a:r>
            <a:endParaRPr b="1" sz="2400"/>
          </a:p>
        </p:txBody>
      </p:sp>
      <p:sp>
        <p:nvSpPr>
          <p:cNvPr id="668" name="Google Shape;668;p14"/>
          <p:cNvSpPr/>
          <p:nvPr/>
        </p:nvSpPr>
        <p:spPr>
          <a:xfrm>
            <a:off x="9620250" y="371475"/>
            <a:ext cx="200025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4</a:t>
            </a:r>
            <a:endParaRPr/>
          </a:p>
        </p:txBody>
      </p:sp>
      <p:sp>
        <p:nvSpPr>
          <p:cNvPr id="669" name="Google Shape;669;p14"/>
          <p:cNvSpPr/>
          <p:nvPr/>
        </p:nvSpPr>
        <p:spPr>
          <a:xfrm>
            <a:off x="1143000" y="847725"/>
            <a:ext cx="10620375"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670" name="Google Shape;670;p14"/>
          <p:cNvGraphicFramePr/>
          <p:nvPr/>
        </p:nvGraphicFramePr>
        <p:xfrm>
          <a:off x="1315300" y="857250"/>
          <a:ext cx="3000000" cy="3000000"/>
        </p:xfrm>
        <a:graphic>
          <a:graphicData uri="http://schemas.openxmlformats.org/drawingml/2006/table">
            <a:tbl>
              <a:tblPr>
                <a:noFill/>
                <a:tableStyleId>{2005C6F8-0E9F-4D0F-8A03-0A1289535377}</a:tableStyleId>
              </a:tblPr>
              <a:tblGrid>
                <a:gridCol w="2447175"/>
                <a:gridCol w="1806025"/>
                <a:gridCol w="1854775"/>
                <a:gridCol w="1822825"/>
                <a:gridCol w="2110600"/>
              </a:tblGrid>
              <a:tr h="580450">
                <a:tc>
                  <a:txBody>
                    <a:bodyPr/>
                    <a:lstStyle/>
                    <a:p>
                      <a:pPr indent="0" lvl="0" marL="0" rtl="0" algn="l">
                        <a:spcBef>
                          <a:spcPts val="0"/>
                        </a:spcBef>
                        <a:spcAft>
                          <a:spcPts val="0"/>
                        </a:spcAft>
                        <a:buNone/>
                      </a:pPr>
                      <a:r>
                        <a:rPr b="1" lang="en-US" sz="2000">
                          <a:solidFill>
                            <a:schemeClr val="lt1"/>
                          </a:solidFill>
                        </a:rPr>
                        <a:t>Cấu hình CWC</a:t>
                      </a:r>
                      <a:endParaRPr b="1" sz="2000">
                        <a:solidFill>
                          <a:schemeClr val="lt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solidFill>
                      <a:srgbClr val="1478D4"/>
                    </a:solidFill>
                  </a:tcPr>
                </a:tc>
                <a:tc>
                  <a:txBody>
                    <a:bodyPr/>
                    <a:lstStyle/>
                    <a:p>
                      <a:pPr indent="0" lvl="0" marL="0" rtl="0" algn="l">
                        <a:spcBef>
                          <a:spcPts val="0"/>
                        </a:spcBef>
                        <a:spcAft>
                          <a:spcPts val="0"/>
                        </a:spcAft>
                        <a:buNone/>
                      </a:pPr>
                      <a:r>
                        <a:rPr b="1" lang="en-US" sz="2000">
                          <a:solidFill>
                            <a:schemeClr val="lt1"/>
                          </a:solidFill>
                        </a:rPr>
                        <a:t>Chu kỳ 3 (p3​)</a:t>
                      </a:r>
                      <a:endParaRPr b="1" sz="2000">
                        <a:solidFill>
                          <a:schemeClr val="lt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solidFill>
                      <a:srgbClr val="1478D4"/>
                    </a:solidFill>
                  </a:tcPr>
                </a:tc>
                <a:tc>
                  <a:txBody>
                    <a:bodyPr/>
                    <a:lstStyle/>
                    <a:p>
                      <a:pPr indent="0" lvl="0" marL="0" rtl="0" algn="l">
                        <a:spcBef>
                          <a:spcPts val="0"/>
                        </a:spcBef>
                        <a:spcAft>
                          <a:spcPts val="0"/>
                        </a:spcAft>
                        <a:buNone/>
                      </a:pPr>
                      <a:r>
                        <a:rPr b="1" lang="en-US" sz="2000">
                          <a:solidFill>
                            <a:schemeClr val="lt1"/>
                          </a:solidFill>
                        </a:rPr>
                        <a:t>Chu kỳ 5 (p5​)</a:t>
                      </a:r>
                      <a:endParaRPr b="1" sz="2000">
                        <a:solidFill>
                          <a:schemeClr val="lt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solidFill>
                      <a:srgbClr val="1478D4"/>
                    </a:solidFill>
                  </a:tcPr>
                </a:tc>
                <a:tc>
                  <a:txBody>
                    <a:bodyPr/>
                    <a:lstStyle/>
                    <a:p>
                      <a:pPr indent="0" lvl="0" marL="0" rtl="0" algn="l">
                        <a:spcBef>
                          <a:spcPts val="0"/>
                        </a:spcBef>
                        <a:spcAft>
                          <a:spcPts val="0"/>
                        </a:spcAft>
                        <a:buNone/>
                      </a:pPr>
                      <a:r>
                        <a:rPr b="1" lang="en-US" sz="2000">
                          <a:solidFill>
                            <a:schemeClr val="lt1"/>
                          </a:solidFill>
                        </a:rPr>
                        <a:t>Chu kỳ 7 (p7​)</a:t>
                      </a:r>
                      <a:endParaRPr b="1" sz="2000">
                        <a:solidFill>
                          <a:schemeClr val="lt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solidFill>
                      <a:srgbClr val="1478D4"/>
                    </a:solidFill>
                  </a:tcPr>
                </a:tc>
                <a:tc>
                  <a:txBody>
                    <a:bodyPr/>
                    <a:lstStyle/>
                    <a:p>
                      <a:pPr indent="0" lvl="0" marL="0" rtl="0" algn="l">
                        <a:spcBef>
                          <a:spcPts val="0"/>
                        </a:spcBef>
                        <a:spcAft>
                          <a:spcPts val="0"/>
                        </a:spcAft>
                        <a:buNone/>
                      </a:pPr>
                      <a:r>
                        <a:rPr b="1" lang="en-US" sz="2000">
                          <a:solidFill>
                            <a:schemeClr val="lt1"/>
                          </a:solidFill>
                        </a:rPr>
                        <a:t>Chu kỳ 10 (p10​)</a:t>
                      </a:r>
                      <a:endParaRPr b="1" sz="2000">
                        <a:solidFill>
                          <a:schemeClr val="lt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solidFill>
                      <a:srgbClr val="1478D4"/>
                    </a:solidFill>
                  </a:tcPr>
                </a:tc>
              </a:tr>
              <a:tr h="427025">
                <a:tc>
                  <a:txBody>
                    <a:bodyPr/>
                    <a:lstStyle/>
                    <a:p>
                      <a:pPr indent="0" lvl="0" marL="0" rtl="0" algn="l">
                        <a:spcBef>
                          <a:spcPts val="0"/>
                        </a:spcBef>
                        <a:spcAft>
                          <a:spcPts val="0"/>
                        </a:spcAft>
                        <a:buNone/>
                      </a:pPr>
                      <a:r>
                        <a:rPr b="1" lang="en-US" sz="2000"/>
                        <a:t>CWC(1, 1)</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100%</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100%</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100%</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100%</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rgbClr val="C4C7C5"/>
                      </a:solidFill>
                      <a:prstDash val="solid"/>
                      <a:round/>
                      <a:headEnd len="sm" w="sm" type="none"/>
                      <a:tailEnd len="sm" w="sm" type="none"/>
                    </a:lnB>
                  </a:tcPr>
                </a:tc>
              </a:tr>
              <a:tr h="427025">
                <a:tc>
                  <a:txBody>
                    <a:bodyPr/>
                    <a:lstStyle/>
                    <a:p>
                      <a:pPr indent="0" lvl="0" marL="0" rtl="0" algn="l">
                        <a:spcBef>
                          <a:spcPts val="0"/>
                        </a:spcBef>
                        <a:spcAft>
                          <a:spcPts val="0"/>
                        </a:spcAft>
                        <a:buNone/>
                      </a:pPr>
                      <a:r>
                        <a:rPr b="1" lang="en-US" sz="2000"/>
                        <a:t>CWC(2, 1)</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98%</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99%</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100%</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99%</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425300">
                <a:tc>
                  <a:txBody>
                    <a:bodyPr/>
                    <a:lstStyle/>
                    <a:p>
                      <a:pPr indent="0" lvl="0" marL="0" rtl="0" algn="l">
                        <a:spcBef>
                          <a:spcPts val="0"/>
                        </a:spcBef>
                        <a:spcAft>
                          <a:spcPts val="0"/>
                        </a:spcAft>
                        <a:buNone/>
                      </a:pPr>
                      <a:r>
                        <a:rPr b="1" lang="en-US" sz="2000"/>
                        <a:t>CWC(3, 1) (Tối ưu)</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b="1" lang="en-US" sz="2000"/>
                        <a:t>94%</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b="1" lang="en-US" sz="2000"/>
                        <a:t>96%</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b="1" lang="en-US" sz="2000"/>
                        <a:t>99%</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b="1" lang="en-US" sz="2000"/>
                        <a:t>99%</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r>
              <a:tr h="427025">
                <a:tc>
                  <a:txBody>
                    <a:bodyPr/>
                    <a:lstStyle/>
                    <a:p>
                      <a:pPr indent="0" lvl="0" marL="0" rtl="0" algn="l">
                        <a:spcBef>
                          <a:spcPts val="0"/>
                        </a:spcBef>
                        <a:spcAft>
                          <a:spcPts val="0"/>
                        </a:spcAft>
                        <a:buNone/>
                      </a:pPr>
                      <a:r>
                        <a:rPr b="1" lang="en-US" sz="2000"/>
                        <a:t>CWC(4, 1)</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82%</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87%</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98%</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96%</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427025">
                <a:tc>
                  <a:txBody>
                    <a:bodyPr/>
                    <a:lstStyle/>
                    <a:p>
                      <a:pPr indent="0" lvl="0" marL="0" rtl="0" algn="l">
                        <a:spcBef>
                          <a:spcPts val="0"/>
                        </a:spcBef>
                        <a:spcAft>
                          <a:spcPts val="0"/>
                        </a:spcAft>
                        <a:buNone/>
                      </a:pPr>
                      <a:r>
                        <a:rPr b="1" lang="en-US" sz="2000"/>
                        <a:t>CWC(5, 1)</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80%</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81%</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90%</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88%</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427025">
                <a:tc>
                  <a:txBody>
                    <a:bodyPr/>
                    <a:lstStyle/>
                    <a:p>
                      <a:pPr indent="0" lvl="0" marL="0" rtl="0" algn="l">
                        <a:spcBef>
                          <a:spcPts val="0"/>
                        </a:spcBef>
                        <a:spcAft>
                          <a:spcPts val="0"/>
                        </a:spcAft>
                        <a:buNone/>
                      </a:pPr>
                      <a:r>
                        <a:rPr b="1" lang="en-US" sz="2000"/>
                        <a:t>CWC(1, 5)</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100%</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98%</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100%</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100%</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427025">
                <a:tc>
                  <a:txBody>
                    <a:bodyPr/>
                    <a:lstStyle/>
                    <a:p>
                      <a:pPr indent="0" lvl="0" marL="0" rtl="0" algn="l">
                        <a:spcBef>
                          <a:spcPts val="0"/>
                        </a:spcBef>
                        <a:spcAft>
                          <a:spcPts val="0"/>
                        </a:spcAft>
                        <a:buNone/>
                      </a:pPr>
                      <a:r>
                        <a:rPr b="1" lang="en-US" sz="2000"/>
                        <a:t>CWC(2, 5)</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94%</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96%</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97%</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97%</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429325">
                <a:tc>
                  <a:txBody>
                    <a:bodyPr/>
                    <a:lstStyle/>
                    <a:p>
                      <a:pPr indent="0" lvl="0" marL="0" rtl="0" algn="l">
                        <a:spcBef>
                          <a:spcPts val="0"/>
                        </a:spcBef>
                        <a:spcAft>
                          <a:spcPts val="0"/>
                        </a:spcAft>
                        <a:buNone/>
                      </a:pPr>
                      <a:r>
                        <a:rPr b="1" lang="en-US" sz="2000"/>
                        <a:t>CWC(3, 5) (Tối ưu)</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b="1" lang="en-US" sz="2000"/>
                        <a:t>83%</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b="1" lang="en-US" sz="2000"/>
                        <a:t>84%</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b="1" lang="en-US" sz="2000"/>
                        <a:t>95%</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spcBef>
                          <a:spcPts val="0"/>
                        </a:spcBef>
                        <a:spcAft>
                          <a:spcPts val="0"/>
                        </a:spcAft>
                        <a:buNone/>
                      </a:pPr>
                      <a:r>
                        <a:rPr b="1" lang="en-US" sz="2000"/>
                        <a:t>96%</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r>
              <a:tr h="427025">
                <a:tc>
                  <a:txBody>
                    <a:bodyPr/>
                    <a:lstStyle/>
                    <a:p>
                      <a:pPr indent="0" lvl="0" marL="0" rtl="0" algn="l">
                        <a:spcBef>
                          <a:spcPts val="0"/>
                        </a:spcBef>
                        <a:spcAft>
                          <a:spcPts val="0"/>
                        </a:spcAft>
                        <a:buNone/>
                      </a:pPr>
                      <a:r>
                        <a:rPr b="1" lang="en-US" sz="2000"/>
                        <a:t>CWC(4, 5)</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82%</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87%</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90%</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91%</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427025">
                <a:tc>
                  <a:txBody>
                    <a:bodyPr/>
                    <a:lstStyle/>
                    <a:p>
                      <a:pPr indent="0" lvl="0" marL="0" rtl="0" algn="l">
                        <a:spcBef>
                          <a:spcPts val="0"/>
                        </a:spcBef>
                        <a:spcAft>
                          <a:spcPts val="0"/>
                        </a:spcAft>
                        <a:buNone/>
                      </a:pPr>
                      <a:r>
                        <a:rPr b="1" lang="en-US" sz="2000"/>
                        <a:t>CWC(5, 5)</a:t>
                      </a:r>
                      <a:endParaRPr b="1"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60%</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76%</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81%</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spcBef>
                          <a:spcPts val="0"/>
                        </a:spcBef>
                        <a:spcAft>
                          <a:spcPts val="0"/>
                        </a:spcAft>
                        <a:buNone/>
                      </a:pPr>
                      <a:r>
                        <a:rPr lang="en-US" sz="2000"/>
                        <a:t>81%</a:t>
                      </a:r>
                      <a:endParaRPr sz="2000"/>
                    </a:p>
                  </a:txBody>
                  <a:tcPr marT="91425" marB="91425" marR="91425" marL="91425">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675" name="Shape 675"/>
        <p:cNvGrpSpPr/>
        <p:nvPr/>
      </p:nvGrpSpPr>
      <p:grpSpPr>
        <a:xfrm>
          <a:off x="0" y="0"/>
          <a:ext cx="0" cy="0"/>
          <a:chOff x="0" y="0"/>
          <a:chExt cx="0" cy="0"/>
        </a:xfrm>
      </p:grpSpPr>
      <p:sp>
        <p:nvSpPr>
          <p:cNvPr id="676" name="Google Shape;676;h51ca6e53a632996d_0_44"/>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h51ca6e53a632996d_0_44"/>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h51ca6e53a632996d_0_44"/>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9" name="Google Shape;679;h51ca6e53a632996d_0_44"/>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680" name="Google Shape;680;h51ca6e53a632996d_0_44"/>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h51ca6e53a632996d_0_44"/>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682" name="Google Shape;682;h51ca6e53a632996d_0_44"/>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h51ca6e53a632996d_0_44"/>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684" name="Google Shape;684;h51ca6e53a632996d_0_44"/>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685" name="Google Shape;685;h51ca6e53a632996d_0_44"/>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686" name="Google Shape;686;h51ca6e53a632996d_0_44"/>
          <p:cNvSpPr/>
          <p:nvPr/>
        </p:nvSpPr>
        <p:spPr>
          <a:xfrm>
            <a:off x="114300" y="4953000"/>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h51ca6e53a632996d_0_44"/>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04</a:t>
            </a:r>
            <a:endParaRPr/>
          </a:p>
        </p:txBody>
      </p:sp>
      <p:sp>
        <p:nvSpPr>
          <p:cNvPr id="688" name="Google Shape;688;h51ca6e53a632996d_0_44"/>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689" name="Google Shape;689;h51ca6e53a632996d_0_44"/>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690" name="Google Shape;690;h51ca6e53a632996d_0_44"/>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h51ca6e53a632996d_0_44"/>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692" name="Google Shape;692;h51ca6e53a632996d_0_44"/>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693" name="Google Shape;693;h51ca6e53a632996d_0_44"/>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17</a:t>
            </a:r>
            <a:endParaRPr/>
          </a:p>
        </p:txBody>
      </p:sp>
      <p:sp>
        <p:nvSpPr>
          <p:cNvPr id="694" name="Google Shape;694;h51ca6e53a632996d_0_44"/>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1F603A"/>
                </a:solidFill>
              </a:rPr>
              <a:t>Kết quả theo mùa vụ</a:t>
            </a:r>
            <a:endParaRPr b="1" sz="2550">
              <a:solidFill>
                <a:srgbClr val="1F603A"/>
              </a:solidFill>
            </a:endParaRPr>
          </a:p>
        </p:txBody>
      </p:sp>
      <p:sp>
        <p:nvSpPr>
          <p:cNvPr id="695" name="Google Shape;695;h51ca6e53a632996d_0_44"/>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4</a:t>
            </a:r>
            <a:endParaRPr/>
          </a:p>
        </p:txBody>
      </p:sp>
      <p:sp>
        <p:nvSpPr>
          <p:cNvPr id="696" name="Google Shape;696;h51ca6e53a632996d_0_44"/>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697" name="Google Shape;697;h51ca6e53a632996d_0_44"/>
          <p:cNvGraphicFramePr/>
          <p:nvPr/>
        </p:nvGraphicFramePr>
        <p:xfrm>
          <a:off x="1143000" y="857175"/>
          <a:ext cx="3000000" cy="3000000"/>
        </p:xfrm>
        <a:graphic>
          <a:graphicData uri="http://schemas.openxmlformats.org/drawingml/2006/table">
            <a:tbl>
              <a:tblPr>
                <a:noFill/>
                <a:tableStyleId>{2005C6F8-0E9F-4D0F-8A03-0A1289535377}</a:tableStyleId>
              </a:tblPr>
              <a:tblGrid>
                <a:gridCol w="2764450"/>
                <a:gridCol w="1791775"/>
                <a:gridCol w="1791775"/>
                <a:gridCol w="1791775"/>
                <a:gridCol w="2098925"/>
              </a:tblGrid>
              <a:tr h="510025">
                <a:tc>
                  <a:txBody>
                    <a:bodyPr/>
                    <a:lstStyle/>
                    <a:p>
                      <a:pPr indent="0" lvl="0" marL="0" rtl="0" algn="l">
                        <a:lnSpc>
                          <a:spcPct val="115000"/>
                        </a:lnSpc>
                        <a:spcBef>
                          <a:spcPts val="0"/>
                        </a:spcBef>
                        <a:spcAft>
                          <a:spcPts val="0"/>
                        </a:spcAft>
                        <a:buNone/>
                      </a:pPr>
                      <a:r>
                        <a:rPr b="1" lang="en-US" sz="2000">
                          <a:solidFill>
                            <a:schemeClr val="lt1"/>
                          </a:solidFill>
                        </a:rPr>
                        <a:t>Cấu hình CWC</a:t>
                      </a:r>
                      <a:endParaRPr b="1" sz="2000">
                        <a:solidFill>
                          <a:schemeClr val="lt1"/>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1478D4"/>
                    </a:solidFill>
                  </a:tcPr>
                </a:tc>
                <a:tc>
                  <a:txBody>
                    <a:bodyPr/>
                    <a:lstStyle/>
                    <a:p>
                      <a:pPr indent="0" lvl="0" marL="0" rtl="0" algn="l">
                        <a:lnSpc>
                          <a:spcPct val="115000"/>
                        </a:lnSpc>
                        <a:spcBef>
                          <a:spcPts val="0"/>
                        </a:spcBef>
                        <a:spcAft>
                          <a:spcPts val="0"/>
                        </a:spcAft>
                        <a:buNone/>
                      </a:pPr>
                      <a:r>
                        <a:rPr b="1" lang="en-US" sz="2000">
                          <a:solidFill>
                            <a:schemeClr val="lt1"/>
                          </a:solidFill>
                        </a:rPr>
                        <a:t>Mùa 3 (p3​)</a:t>
                      </a:r>
                      <a:endParaRPr b="1" sz="2000">
                        <a:solidFill>
                          <a:schemeClr val="lt1"/>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1478D4"/>
                    </a:solidFill>
                  </a:tcPr>
                </a:tc>
                <a:tc>
                  <a:txBody>
                    <a:bodyPr/>
                    <a:lstStyle/>
                    <a:p>
                      <a:pPr indent="0" lvl="0" marL="0" rtl="0" algn="l">
                        <a:lnSpc>
                          <a:spcPct val="115000"/>
                        </a:lnSpc>
                        <a:spcBef>
                          <a:spcPts val="0"/>
                        </a:spcBef>
                        <a:spcAft>
                          <a:spcPts val="0"/>
                        </a:spcAft>
                        <a:buNone/>
                      </a:pPr>
                      <a:r>
                        <a:rPr b="1" lang="en-US" sz="2000">
                          <a:solidFill>
                            <a:schemeClr val="lt1"/>
                          </a:solidFill>
                        </a:rPr>
                        <a:t>Mùa 5 (p5​)</a:t>
                      </a:r>
                      <a:endParaRPr b="1" sz="2000">
                        <a:solidFill>
                          <a:schemeClr val="lt1"/>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1478D4"/>
                    </a:solidFill>
                  </a:tcPr>
                </a:tc>
                <a:tc>
                  <a:txBody>
                    <a:bodyPr/>
                    <a:lstStyle/>
                    <a:p>
                      <a:pPr indent="0" lvl="0" marL="0" rtl="0" algn="l">
                        <a:lnSpc>
                          <a:spcPct val="115000"/>
                        </a:lnSpc>
                        <a:spcBef>
                          <a:spcPts val="0"/>
                        </a:spcBef>
                        <a:spcAft>
                          <a:spcPts val="0"/>
                        </a:spcAft>
                        <a:buNone/>
                      </a:pPr>
                      <a:r>
                        <a:rPr b="1" lang="en-US" sz="2000">
                          <a:solidFill>
                            <a:schemeClr val="lt1"/>
                          </a:solidFill>
                        </a:rPr>
                        <a:t>Mùa 7 (p7​)</a:t>
                      </a:r>
                      <a:endParaRPr b="1" sz="2000">
                        <a:solidFill>
                          <a:schemeClr val="lt1"/>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1478D4"/>
                    </a:solidFill>
                  </a:tcPr>
                </a:tc>
                <a:tc>
                  <a:txBody>
                    <a:bodyPr/>
                    <a:lstStyle/>
                    <a:p>
                      <a:pPr indent="0" lvl="0" marL="0" rtl="0" algn="l">
                        <a:lnSpc>
                          <a:spcPct val="115000"/>
                        </a:lnSpc>
                        <a:spcBef>
                          <a:spcPts val="0"/>
                        </a:spcBef>
                        <a:spcAft>
                          <a:spcPts val="0"/>
                        </a:spcAft>
                        <a:buNone/>
                      </a:pPr>
                      <a:r>
                        <a:rPr b="1" lang="en-US" sz="2000">
                          <a:solidFill>
                            <a:schemeClr val="lt1"/>
                          </a:solidFill>
                        </a:rPr>
                        <a:t>Mùa 10 (p10​)</a:t>
                      </a:r>
                      <a:endParaRPr b="1" sz="2000">
                        <a:solidFill>
                          <a:schemeClr val="lt1"/>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1478D4"/>
                    </a:solidFill>
                  </a:tcPr>
                </a:tc>
              </a:tr>
              <a:tr h="510025">
                <a:tc>
                  <a:txBody>
                    <a:bodyPr/>
                    <a:lstStyle/>
                    <a:p>
                      <a:pPr indent="0" lvl="0" marL="0" rtl="0" algn="l">
                        <a:lnSpc>
                          <a:spcPct val="115000"/>
                        </a:lnSpc>
                        <a:spcBef>
                          <a:spcPts val="0"/>
                        </a:spcBef>
                        <a:spcAft>
                          <a:spcPts val="0"/>
                        </a:spcAft>
                        <a:buNone/>
                      </a:pPr>
                      <a:r>
                        <a:rPr b="1" lang="en-US" sz="2000">
                          <a:solidFill>
                            <a:srgbClr val="1F1F1F"/>
                          </a:solidFill>
                        </a:rPr>
                        <a:t>CWC(1, 1)</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100%</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100%</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100%</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100%</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510025">
                <a:tc>
                  <a:txBody>
                    <a:bodyPr/>
                    <a:lstStyle/>
                    <a:p>
                      <a:pPr indent="0" lvl="0" marL="0" rtl="0" algn="l">
                        <a:lnSpc>
                          <a:spcPct val="115000"/>
                        </a:lnSpc>
                        <a:spcBef>
                          <a:spcPts val="0"/>
                        </a:spcBef>
                        <a:spcAft>
                          <a:spcPts val="0"/>
                        </a:spcAft>
                        <a:buNone/>
                      </a:pPr>
                      <a:r>
                        <a:rPr b="1" lang="en-US" sz="2000">
                          <a:solidFill>
                            <a:srgbClr val="1F1F1F"/>
                          </a:solidFill>
                        </a:rPr>
                        <a:t>CWC(2, 1)</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90%</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95%</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98%</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100%</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510025">
                <a:tc>
                  <a:txBody>
                    <a:bodyPr/>
                    <a:lstStyle/>
                    <a:p>
                      <a:pPr indent="0" lvl="0" marL="0" rtl="0" algn="l">
                        <a:lnSpc>
                          <a:spcPct val="115000"/>
                        </a:lnSpc>
                        <a:spcBef>
                          <a:spcPts val="0"/>
                        </a:spcBef>
                        <a:spcAft>
                          <a:spcPts val="0"/>
                        </a:spcAft>
                        <a:buNone/>
                      </a:pPr>
                      <a:r>
                        <a:rPr b="1" lang="en-US" sz="2000">
                          <a:solidFill>
                            <a:srgbClr val="1F1F1F"/>
                          </a:solidFill>
                        </a:rPr>
                        <a:t>CWC(3, 1)</a:t>
                      </a:r>
                      <a:r>
                        <a:rPr lang="en-US" sz="2000">
                          <a:solidFill>
                            <a:srgbClr val="1F1F1F"/>
                          </a:solidFill>
                        </a:rPr>
                        <a:t> </a:t>
                      </a:r>
                      <a:r>
                        <a:rPr i="1" lang="en-US" sz="2000">
                          <a:solidFill>
                            <a:srgbClr val="1F1F1F"/>
                          </a:solidFill>
                        </a:rPr>
                        <a:t>(Tối ưu)</a:t>
                      </a:r>
                      <a:endParaRPr i="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lnSpc>
                          <a:spcPct val="115000"/>
                        </a:lnSpc>
                        <a:spcBef>
                          <a:spcPts val="0"/>
                        </a:spcBef>
                        <a:spcAft>
                          <a:spcPts val="0"/>
                        </a:spcAft>
                        <a:buNone/>
                      </a:pPr>
                      <a:r>
                        <a:rPr b="1" lang="en-US" sz="2000">
                          <a:solidFill>
                            <a:srgbClr val="1F1F1F"/>
                          </a:solidFill>
                        </a:rPr>
                        <a:t>82%</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lnSpc>
                          <a:spcPct val="115000"/>
                        </a:lnSpc>
                        <a:spcBef>
                          <a:spcPts val="0"/>
                        </a:spcBef>
                        <a:spcAft>
                          <a:spcPts val="0"/>
                        </a:spcAft>
                        <a:buNone/>
                      </a:pPr>
                      <a:r>
                        <a:rPr b="1" lang="en-US" sz="2000">
                          <a:solidFill>
                            <a:srgbClr val="1F1F1F"/>
                          </a:solidFill>
                        </a:rPr>
                        <a:t>90%</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lnSpc>
                          <a:spcPct val="115000"/>
                        </a:lnSpc>
                        <a:spcBef>
                          <a:spcPts val="0"/>
                        </a:spcBef>
                        <a:spcAft>
                          <a:spcPts val="0"/>
                        </a:spcAft>
                        <a:buNone/>
                      </a:pPr>
                      <a:r>
                        <a:rPr b="1" lang="en-US" sz="2000">
                          <a:solidFill>
                            <a:srgbClr val="1F1F1F"/>
                          </a:solidFill>
                        </a:rPr>
                        <a:t>90%</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lnSpc>
                          <a:spcPct val="115000"/>
                        </a:lnSpc>
                        <a:spcBef>
                          <a:spcPts val="0"/>
                        </a:spcBef>
                        <a:spcAft>
                          <a:spcPts val="0"/>
                        </a:spcAft>
                        <a:buNone/>
                      </a:pPr>
                      <a:r>
                        <a:rPr b="1" lang="en-US" sz="2000">
                          <a:solidFill>
                            <a:srgbClr val="1F1F1F"/>
                          </a:solidFill>
                        </a:rPr>
                        <a:t>100%</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r>
              <a:tr h="510025">
                <a:tc>
                  <a:txBody>
                    <a:bodyPr/>
                    <a:lstStyle/>
                    <a:p>
                      <a:pPr indent="0" lvl="0" marL="0" rtl="0" algn="l">
                        <a:lnSpc>
                          <a:spcPct val="115000"/>
                        </a:lnSpc>
                        <a:spcBef>
                          <a:spcPts val="0"/>
                        </a:spcBef>
                        <a:spcAft>
                          <a:spcPts val="0"/>
                        </a:spcAft>
                        <a:buNone/>
                      </a:pPr>
                      <a:r>
                        <a:rPr b="1" lang="en-US" sz="2000">
                          <a:solidFill>
                            <a:srgbClr val="1F1F1F"/>
                          </a:solidFill>
                        </a:rPr>
                        <a:t>CWC(4, 1)</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74%</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80%</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90%</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97%</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510025">
                <a:tc>
                  <a:txBody>
                    <a:bodyPr/>
                    <a:lstStyle/>
                    <a:p>
                      <a:pPr indent="0" lvl="0" marL="0" rtl="0" algn="l">
                        <a:lnSpc>
                          <a:spcPct val="115000"/>
                        </a:lnSpc>
                        <a:spcBef>
                          <a:spcPts val="0"/>
                        </a:spcBef>
                        <a:spcAft>
                          <a:spcPts val="0"/>
                        </a:spcAft>
                        <a:buNone/>
                      </a:pPr>
                      <a:r>
                        <a:rPr b="1" lang="en-US" sz="2000">
                          <a:solidFill>
                            <a:srgbClr val="1F1F1F"/>
                          </a:solidFill>
                        </a:rPr>
                        <a:t>CWC(5, 1)</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70%</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74%</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88%</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97%</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510025">
                <a:tc>
                  <a:txBody>
                    <a:bodyPr/>
                    <a:lstStyle/>
                    <a:p>
                      <a:pPr indent="0" lvl="0" marL="0" rtl="0" algn="l">
                        <a:lnSpc>
                          <a:spcPct val="115000"/>
                        </a:lnSpc>
                        <a:spcBef>
                          <a:spcPts val="0"/>
                        </a:spcBef>
                        <a:spcAft>
                          <a:spcPts val="0"/>
                        </a:spcAft>
                        <a:buNone/>
                      </a:pPr>
                      <a:r>
                        <a:rPr b="1" lang="en-US" sz="2000">
                          <a:solidFill>
                            <a:srgbClr val="1F1F1F"/>
                          </a:solidFill>
                        </a:rPr>
                        <a:t>CWC(1, 5)</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95%</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97%</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98%</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100%</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510025">
                <a:tc>
                  <a:txBody>
                    <a:bodyPr/>
                    <a:lstStyle/>
                    <a:p>
                      <a:pPr indent="0" lvl="0" marL="0" rtl="0" algn="l">
                        <a:lnSpc>
                          <a:spcPct val="115000"/>
                        </a:lnSpc>
                        <a:spcBef>
                          <a:spcPts val="0"/>
                        </a:spcBef>
                        <a:spcAft>
                          <a:spcPts val="0"/>
                        </a:spcAft>
                        <a:buNone/>
                      </a:pPr>
                      <a:r>
                        <a:rPr b="1" lang="en-US" sz="2000">
                          <a:solidFill>
                            <a:srgbClr val="1F1F1F"/>
                          </a:solidFill>
                        </a:rPr>
                        <a:t>CWC(2, 5)</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82%</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85%</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94%</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94%</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510025">
                <a:tc>
                  <a:txBody>
                    <a:bodyPr/>
                    <a:lstStyle/>
                    <a:p>
                      <a:pPr indent="0" lvl="0" marL="0" rtl="0" algn="l">
                        <a:lnSpc>
                          <a:spcPct val="115000"/>
                        </a:lnSpc>
                        <a:spcBef>
                          <a:spcPts val="0"/>
                        </a:spcBef>
                        <a:spcAft>
                          <a:spcPts val="0"/>
                        </a:spcAft>
                        <a:buNone/>
                      </a:pPr>
                      <a:r>
                        <a:rPr b="1" lang="en-US" sz="2000">
                          <a:solidFill>
                            <a:srgbClr val="1F1F1F"/>
                          </a:solidFill>
                        </a:rPr>
                        <a:t>CWC(3, 5)</a:t>
                      </a:r>
                      <a:r>
                        <a:rPr lang="en-US" sz="2000">
                          <a:solidFill>
                            <a:srgbClr val="1F1F1F"/>
                          </a:solidFill>
                        </a:rPr>
                        <a:t> </a:t>
                      </a:r>
                      <a:r>
                        <a:rPr i="1" lang="en-US" sz="2000">
                          <a:solidFill>
                            <a:srgbClr val="1F1F1F"/>
                          </a:solidFill>
                        </a:rPr>
                        <a:t>(Tối ưu)</a:t>
                      </a:r>
                      <a:endParaRPr i="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lnSpc>
                          <a:spcPct val="115000"/>
                        </a:lnSpc>
                        <a:spcBef>
                          <a:spcPts val="0"/>
                        </a:spcBef>
                        <a:spcAft>
                          <a:spcPts val="0"/>
                        </a:spcAft>
                        <a:buNone/>
                      </a:pPr>
                      <a:r>
                        <a:rPr b="1" lang="en-US" sz="2000">
                          <a:solidFill>
                            <a:srgbClr val="1F1F1F"/>
                          </a:solidFill>
                        </a:rPr>
                        <a:t>76%</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lnSpc>
                          <a:spcPct val="115000"/>
                        </a:lnSpc>
                        <a:spcBef>
                          <a:spcPts val="0"/>
                        </a:spcBef>
                        <a:spcAft>
                          <a:spcPts val="0"/>
                        </a:spcAft>
                        <a:buNone/>
                      </a:pPr>
                      <a:r>
                        <a:rPr b="1" lang="en-US" sz="2000">
                          <a:solidFill>
                            <a:srgbClr val="1F1F1F"/>
                          </a:solidFill>
                        </a:rPr>
                        <a:t>78%</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lnSpc>
                          <a:spcPct val="115000"/>
                        </a:lnSpc>
                        <a:spcBef>
                          <a:spcPts val="0"/>
                        </a:spcBef>
                        <a:spcAft>
                          <a:spcPts val="0"/>
                        </a:spcAft>
                        <a:buNone/>
                      </a:pPr>
                      <a:r>
                        <a:rPr b="1" lang="en-US" sz="2000">
                          <a:solidFill>
                            <a:srgbClr val="1F1F1F"/>
                          </a:solidFill>
                        </a:rPr>
                        <a:t>88%</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c>
                  <a:txBody>
                    <a:bodyPr/>
                    <a:lstStyle/>
                    <a:p>
                      <a:pPr indent="0" lvl="0" marL="0" rtl="0" algn="ctr">
                        <a:lnSpc>
                          <a:spcPct val="115000"/>
                        </a:lnSpc>
                        <a:spcBef>
                          <a:spcPts val="0"/>
                        </a:spcBef>
                        <a:spcAft>
                          <a:spcPts val="0"/>
                        </a:spcAft>
                        <a:buNone/>
                      </a:pPr>
                      <a:r>
                        <a:rPr b="1" lang="en-US" sz="2000">
                          <a:solidFill>
                            <a:srgbClr val="1F1F1F"/>
                          </a:solidFill>
                        </a:rPr>
                        <a:t>90%</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solidFill>
                      <a:srgbClr val="6AA84F"/>
                    </a:solidFill>
                  </a:tcPr>
                </a:tc>
              </a:tr>
              <a:tr h="510025">
                <a:tc>
                  <a:txBody>
                    <a:bodyPr/>
                    <a:lstStyle/>
                    <a:p>
                      <a:pPr indent="0" lvl="0" marL="0" rtl="0" algn="l">
                        <a:lnSpc>
                          <a:spcPct val="115000"/>
                        </a:lnSpc>
                        <a:spcBef>
                          <a:spcPts val="0"/>
                        </a:spcBef>
                        <a:spcAft>
                          <a:spcPts val="0"/>
                        </a:spcAft>
                        <a:buNone/>
                      </a:pPr>
                      <a:r>
                        <a:rPr b="1" lang="en-US" sz="2000">
                          <a:solidFill>
                            <a:srgbClr val="1F1F1F"/>
                          </a:solidFill>
                        </a:rPr>
                        <a:t>CWC(4, 5)</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62%</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70%</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81%</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81%</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r h="510025">
                <a:tc>
                  <a:txBody>
                    <a:bodyPr/>
                    <a:lstStyle/>
                    <a:p>
                      <a:pPr indent="0" lvl="0" marL="0" rtl="0" algn="l">
                        <a:lnSpc>
                          <a:spcPct val="115000"/>
                        </a:lnSpc>
                        <a:spcBef>
                          <a:spcPts val="0"/>
                        </a:spcBef>
                        <a:spcAft>
                          <a:spcPts val="0"/>
                        </a:spcAft>
                        <a:buNone/>
                      </a:pPr>
                      <a:r>
                        <a:rPr b="1" lang="en-US" sz="2000">
                          <a:solidFill>
                            <a:srgbClr val="1F1F1F"/>
                          </a:solidFill>
                        </a:rPr>
                        <a:t>CWC(5, 5)</a:t>
                      </a:r>
                      <a:endParaRPr b="1"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50%</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60%</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78%</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000">
                          <a:solidFill>
                            <a:srgbClr val="1F1F1F"/>
                          </a:solidFill>
                        </a:rPr>
                        <a:t>78%</a:t>
                      </a:r>
                      <a:endParaRPr sz="2000">
                        <a:solidFill>
                          <a:srgbClr val="1F1F1F"/>
                        </a:solidFill>
                      </a:endParaRPr>
                    </a:p>
                  </a:txBody>
                  <a:tcPr marT="76200" marB="76200" marR="114300" marL="114300">
                    <a:lnL cap="flat" cmpd="sng" w="7625">
                      <a:solidFill>
                        <a:srgbClr val="C4C7C5"/>
                      </a:solidFill>
                      <a:prstDash val="solid"/>
                      <a:round/>
                      <a:headEnd len="sm" w="sm" type="none"/>
                      <a:tailEnd len="sm" w="sm" type="none"/>
                    </a:lnL>
                    <a:lnR cap="flat" cmpd="sng" w="7625">
                      <a:solidFill>
                        <a:srgbClr val="C4C7C5"/>
                      </a:solidFill>
                      <a:prstDash val="solid"/>
                      <a:round/>
                      <a:headEnd len="sm" w="sm" type="none"/>
                      <a:tailEnd len="sm" w="sm" type="none"/>
                    </a:lnR>
                    <a:lnT cap="flat" cmpd="sng" w="7625">
                      <a:solidFill>
                        <a:srgbClr val="C4C7C5"/>
                      </a:solidFill>
                      <a:prstDash val="solid"/>
                      <a:round/>
                      <a:headEnd len="sm" w="sm" type="none"/>
                      <a:tailEnd len="sm" w="sm" type="none"/>
                    </a:lnT>
                    <a:lnB cap="flat" cmpd="sng" w="7625">
                      <a:solidFill>
                        <a:srgbClr val="C4C7C5"/>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702" name="Shape 702"/>
        <p:cNvGrpSpPr/>
        <p:nvPr/>
      </p:nvGrpSpPr>
      <p:grpSpPr>
        <a:xfrm>
          <a:off x="0" y="0"/>
          <a:ext cx="0" cy="0"/>
          <a:chOff x="0" y="0"/>
          <a:chExt cx="0" cy="0"/>
        </a:xfrm>
      </p:grpSpPr>
      <p:sp>
        <p:nvSpPr>
          <p:cNvPr id="703" name="Google Shape;703;h51ca6e53a632996d_0_98"/>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h51ca6e53a632996d_0_98"/>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h51ca6e53a632996d_0_98"/>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6" name="Google Shape;706;h51ca6e53a632996d_0_98"/>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707" name="Google Shape;707;h51ca6e53a632996d_0_98"/>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h51ca6e53a632996d_0_98"/>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709" name="Google Shape;709;h51ca6e53a632996d_0_98"/>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h51ca6e53a632996d_0_98"/>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711" name="Google Shape;711;h51ca6e53a632996d_0_98"/>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712" name="Google Shape;712;h51ca6e53a632996d_0_98"/>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713" name="Google Shape;713;h51ca6e53a632996d_0_98"/>
          <p:cNvSpPr/>
          <p:nvPr/>
        </p:nvSpPr>
        <p:spPr>
          <a:xfrm>
            <a:off x="114300" y="4953000"/>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h51ca6e53a632996d_0_98"/>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04</a:t>
            </a:r>
            <a:endParaRPr/>
          </a:p>
        </p:txBody>
      </p:sp>
      <p:sp>
        <p:nvSpPr>
          <p:cNvPr id="715" name="Google Shape;715;h51ca6e53a632996d_0_98"/>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716" name="Google Shape;716;h51ca6e53a632996d_0_98"/>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717" name="Google Shape;717;h51ca6e53a632996d_0_98"/>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h51ca6e53a632996d_0_98"/>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719" name="Google Shape;719;h51ca6e53a632996d_0_98"/>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720" name="Google Shape;720;h51ca6e53a632996d_0_98"/>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18</a:t>
            </a:r>
            <a:endParaRPr/>
          </a:p>
        </p:txBody>
      </p:sp>
      <p:sp>
        <p:nvSpPr>
          <p:cNvPr id="721" name="Google Shape;721;h51ca6e53a632996d_0_98"/>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550">
                <a:solidFill>
                  <a:srgbClr val="1F603A"/>
                </a:solidFill>
              </a:rPr>
              <a:t>Kết quả </a:t>
            </a:r>
            <a:r>
              <a:rPr lang="en-US" sz="2550">
                <a:solidFill>
                  <a:srgbClr val="1F603A"/>
                </a:solidFill>
              </a:rPr>
              <a:t>theo Giai đoạn sinh trưởng của lúa </a:t>
            </a:r>
            <a:endParaRPr sz="2550">
              <a:solidFill>
                <a:srgbClr val="1F603A"/>
              </a:solidFill>
            </a:endParaRPr>
          </a:p>
        </p:txBody>
      </p:sp>
      <p:sp>
        <p:nvSpPr>
          <p:cNvPr id="722" name="Google Shape;722;h51ca6e53a632996d_0_98"/>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4</a:t>
            </a:r>
            <a:endParaRPr/>
          </a:p>
        </p:txBody>
      </p:sp>
      <p:sp>
        <p:nvSpPr>
          <p:cNvPr id="723" name="Google Shape;723;h51ca6e53a632996d_0_98"/>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724" name="Google Shape;724;h51ca6e53a632996d_0_98"/>
          <p:cNvGraphicFramePr/>
          <p:nvPr/>
        </p:nvGraphicFramePr>
        <p:xfrm>
          <a:off x="1057313" y="918338"/>
          <a:ext cx="3000000" cy="3000000"/>
        </p:xfrm>
        <a:graphic>
          <a:graphicData uri="http://schemas.openxmlformats.org/drawingml/2006/table">
            <a:tbl>
              <a:tblPr>
                <a:noFill/>
                <a:tableStyleId>{2005C6F8-0E9F-4D0F-8A03-0A1289535377}</a:tableStyleId>
              </a:tblPr>
              <a:tblGrid>
                <a:gridCol w="1793625"/>
                <a:gridCol w="1447050"/>
                <a:gridCol w="2091975"/>
                <a:gridCol w="2303575"/>
                <a:gridCol w="3498450"/>
              </a:tblGrid>
              <a:tr h="463550">
                <a:tc>
                  <a:txBody>
                    <a:bodyPr/>
                    <a:lstStyle/>
                    <a:p>
                      <a:pPr indent="0" lvl="0" marL="0" rtl="0" algn="l">
                        <a:spcBef>
                          <a:spcPts val="0"/>
                        </a:spcBef>
                        <a:spcAft>
                          <a:spcPts val="0"/>
                        </a:spcAft>
                        <a:buNone/>
                      </a:pPr>
                      <a:r>
                        <a:rPr lang="en-US" sz="1800">
                          <a:solidFill>
                            <a:schemeClr val="lt1"/>
                          </a:solidFill>
                        </a:rPr>
                        <a:t>Cấu hình CWC</a:t>
                      </a:r>
                      <a:endParaRPr sz="1800">
                        <a:solidFill>
                          <a:schemeClr val="lt1"/>
                        </a:solidFill>
                      </a:endParaRPr>
                    </a:p>
                  </a:txBody>
                  <a:tcPr marT="91425" marB="91425" marR="91425" marL="91425">
                    <a:solidFill>
                      <a:srgbClr val="1478D4"/>
                    </a:solidFill>
                  </a:tcPr>
                </a:tc>
                <a:tc>
                  <a:txBody>
                    <a:bodyPr/>
                    <a:lstStyle/>
                    <a:p>
                      <a:pPr indent="0" lvl="0" marL="0" rtl="0" algn="ctr">
                        <a:spcBef>
                          <a:spcPts val="0"/>
                        </a:spcBef>
                        <a:spcAft>
                          <a:spcPts val="0"/>
                        </a:spcAft>
                        <a:buNone/>
                      </a:pPr>
                      <a:r>
                        <a:rPr lang="en-US" sz="1800">
                          <a:solidFill>
                            <a:schemeClr val="lt1"/>
                          </a:solidFill>
                        </a:rPr>
                        <a:t>Chu kỳ</a:t>
                      </a:r>
                      <a:endParaRPr sz="1800">
                        <a:solidFill>
                          <a:schemeClr val="lt1"/>
                        </a:solidFill>
                      </a:endParaRPr>
                    </a:p>
                  </a:txBody>
                  <a:tcPr marT="91425" marB="91425" marR="91425" marL="91425">
                    <a:solidFill>
                      <a:srgbClr val="1478D4"/>
                    </a:solidFill>
                  </a:tcPr>
                </a:tc>
                <a:tc>
                  <a:txBody>
                    <a:bodyPr/>
                    <a:lstStyle/>
                    <a:p>
                      <a:pPr indent="0" lvl="0" marL="0" rtl="0" algn="ctr">
                        <a:spcBef>
                          <a:spcPts val="0"/>
                        </a:spcBef>
                        <a:spcAft>
                          <a:spcPts val="0"/>
                        </a:spcAft>
                        <a:buNone/>
                      </a:pPr>
                      <a:r>
                        <a:rPr lang="en-US" sz="1800">
                          <a:solidFill>
                            <a:schemeClr val="lt1"/>
                          </a:solidFill>
                        </a:rPr>
                        <a:t>Kharif: Trổ hoa</a:t>
                      </a:r>
                      <a:endParaRPr sz="1800">
                        <a:solidFill>
                          <a:schemeClr val="lt1"/>
                        </a:solidFill>
                      </a:endParaRPr>
                    </a:p>
                  </a:txBody>
                  <a:tcPr marT="91425" marB="91425" marR="91425" marL="91425">
                    <a:solidFill>
                      <a:srgbClr val="1478D4"/>
                    </a:solidFill>
                  </a:tcPr>
                </a:tc>
                <a:tc>
                  <a:txBody>
                    <a:bodyPr/>
                    <a:lstStyle/>
                    <a:p>
                      <a:pPr indent="0" lvl="0" marL="0" rtl="0" algn="ctr">
                        <a:spcBef>
                          <a:spcPts val="0"/>
                        </a:spcBef>
                        <a:spcAft>
                          <a:spcPts val="0"/>
                        </a:spcAft>
                        <a:buNone/>
                      </a:pPr>
                      <a:r>
                        <a:rPr lang="en-US" sz="1800">
                          <a:solidFill>
                            <a:schemeClr val="lt1"/>
                          </a:solidFill>
                        </a:rPr>
                        <a:t>Rabi: Trổ hoa</a:t>
                      </a:r>
                      <a:endParaRPr sz="1800">
                        <a:solidFill>
                          <a:schemeClr val="lt1"/>
                        </a:solidFill>
                      </a:endParaRPr>
                    </a:p>
                  </a:txBody>
                  <a:tcPr marT="91425" marB="91425" marR="91425" marL="91425">
                    <a:solidFill>
                      <a:srgbClr val="1478D4"/>
                    </a:solidFill>
                  </a:tcPr>
                </a:tc>
                <a:tc>
                  <a:txBody>
                    <a:bodyPr/>
                    <a:lstStyle/>
                    <a:p>
                      <a:pPr indent="0" lvl="0" marL="0" rtl="0" algn="ctr">
                        <a:spcBef>
                          <a:spcPts val="0"/>
                        </a:spcBef>
                        <a:spcAft>
                          <a:spcPts val="0"/>
                        </a:spcAft>
                        <a:buNone/>
                      </a:pPr>
                      <a:r>
                        <a:rPr lang="en-US" sz="1800">
                          <a:solidFill>
                            <a:schemeClr val="lt1"/>
                          </a:solidFill>
                        </a:rPr>
                        <a:t>So sánh giữa 2 mùa</a:t>
                      </a:r>
                      <a:endParaRPr sz="1800">
                        <a:solidFill>
                          <a:schemeClr val="lt1"/>
                        </a:solidFill>
                      </a:endParaRPr>
                    </a:p>
                  </a:txBody>
                  <a:tcPr marT="91425" marB="91425" marR="91425" marL="91425">
                    <a:solidFill>
                      <a:srgbClr val="1478D4"/>
                    </a:solidFill>
                  </a:tcPr>
                </a:tc>
              </a:tr>
              <a:tr h="508550">
                <a:tc rowSpan="4">
                  <a:txBody>
                    <a:bodyPr/>
                    <a:lstStyle/>
                    <a:p>
                      <a:pPr indent="0" lvl="0" marL="0" rtl="0" algn="l">
                        <a:spcBef>
                          <a:spcPts val="0"/>
                        </a:spcBef>
                        <a:spcAft>
                          <a:spcPts val="0"/>
                        </a:spcAft>
                        <a:buNone/>
                      </a:pPr>
                      <a:r>
                        <a:rPr lang="en-US" sz="1800"/>
                        <a:t>CWC(3, 1)</a:t>
                      </a:r>
                      <a:endParaRPr sz="1800"/>
                    </a:p>
                    <a:p>
                      <a:pPr indent="0" lvl="0" marL="0" rtl="0" algn="l">
                        <a:spcBef>
                          <a:spcPts val="0"/>
                        </a:spcBef>
                        <a:spcAft>
                          <a:spcPts val="0"/>
                        </a:spcAft>
                        <a:buNone/>
                      </a:pPr>
                      <a:r>
                        <a:t/>
                      </a:r>
                      <a:endParaRPr sz="1800"/>
                    </a:p>
                  </a:txBody>
                  <a:tcPr marT="91425" marB="91425" marR="91425" marL="91425" anchor="ctr">
                    <a:solidFill>
                      <a:srgbClr val="FFF8DE"/>
                    </a:solidFill>
                  </a:tcPr>
                </a:tc>
                <a:tc>
                  <a:txBody>
                    <a:bodyPr/>
                    <a:lstStyle/>
                    <a:p>
                      <a:pPr indent="0" lvl="0" marL="0" rtl="0" algn="ctr">
                        <a:spcBef>
                          <a:spcPts val="0"/>
                        </a:spcBef>
                        <a:spcAft>
                          <a:spcPts val="0"/>
                        </a:spcAft>
                        <a:buNone/>
                      </a:pPr>
                      <a:r>
                        <a:rPr lang="en-US" sz="1800"/>
                        <a:t>p3</a:t>
                      </a:r>
                      <a:endParaRPr sz="1800"/>
                    </a:p>
                  </a:txBody>
                  <a:tcPr marT="91425" marB="91425" marR="91425" marL="91425">
                    <a:solidFill>
                      <a:srgbClr val="FFF8DE"/>
                    </a:solidFill>
                  </a:tcPr>
                </a:tc>
                <a:tc>
                  <a:txBody>
                    <a:bodyPr/>
                    <a:lstStyle/>
                    <a:p>
                      <a:pPr indent="0" lvl="0" marL="0" rtl="0" algn="ctr">
                        <a:lnSpc>
                          <a:spcPct val="115000"/>
                        </a:lnSpc>
                        <a:spcBef>
                          <a:spcPts val="0"/>
                        </a:spcBef>
                        <a:spcAft>
                          <a:spcPts val="0"/>
                        </a:spcAft>
                        <a:buNone/>
                      </a:pPr>
                      <a:r>
                        <a:rPr lang="en-US" sz="1800"/>
                        <a:t>58%</a:t>
                      </a:r>
                      <a:endParaRPr sz="1800"/>
                    </a:p>
                  </a:txBody>
                  <a:tcPr marT="91425" marB="91425" marR="91425" marL="91425">
                    <a:solidFill>
                      <a:srgbClr val="FFF8DE"/>
                    </a:solidFill>
                  </a:tcPr>
                </a:tc>
                <a:tc>
                  <a:txBody>
                    <a:bodyPr/>
                    <a:lstStyle/>
                    <a:p>
                      <a:pPr indent="0" lvl="0" marL="0" rtl="0" algn="ctr">
                        <a:lnSpc>
                          <a:spcPct val="115000"/>
                        </a:lnSpc>
                        <a:spcBef>
                          <a:spcPts val="0"/>
                        </a:spcBef>
                        <a:spcAft>
                          <a:spcPts val="0"/>
                        </a:spcAft>
                        <a:buNone/>
                      </a:pPr>
                      <a:r>
                        <a:rPr lang="en-US" sz="1800"/>
                        <a:t>61%</a:t>
                      </a:r>
                      <a:endParaRPr sz="1800"/>
                    </a:p>
                  </a:txBody>
                  <a:tcPr marT="91425" marB="91425" marR="91425" marL="91425">
                    <a:solidFill>
                      <a:srgbClr val="FFF8DE"/>
                    </a:solidFill>
                  </a:tcPr>
                </a:tc>
                <a:tc>
                  <a:txBody>
                    <a:bodyPr/>
                    <a:lstStyle/>
                    <a:p>
                      <a:pPr indent="0" lvl="0" marL="0" rtl="0" algn="ctr">
                        <a:spcBef>
                          <a:spcPts val="0"/>
                        </a:spcBef>
                        <a:spcAft>
                          <a:spcPts val="0"/>
                        </a:spcAft>
                        <a:buNone/>
                      </a:pPr>
                      <a:r>
                        <a:rPr lang="en-US" sz="1800"/>
                        <a:t>Tương đương</a:t>
                      </a:r>
                      <a:endParaRPr sz="1800"/>
                    </a:p>
                  </a:txBody>
                  <a:tcPr marT="91425" marB="91425" marR="91425" marL="91425">
                    <a:solidFill>
                      <a:srgbClr val="FFF8DE"/>
                    </a:solidFill>
                  </a:tcPr>
                </a:tc>
              </a:tr>
              <a:tr h="508550">
                <a:tc vMerge="1"/>
                <a:tc>
                  <a:txBody>
                    <a:bodyPr/>
                    <a:lstStyle/>
                    <a:p>
                      <a:pPr indent="0" lvl="0" marL="0" rtl="0" algn="ctr">
                        <a:spcBef>
                          <a:spcPts val="0"/>
                        </a:spcBef>
                        <a:spcAft>
                          <a:spcPts val="0"/>
                        </a:spcAft>
                        <a:buNone/>
                      </a:pPr>
                      <a:r>
                        <a:rPr lang="en-US" sz="1800"/>
                        <a:t>p5</a:t>
                      </a:r>
                      <a:endParaRPr sz="1800"/>
                    </a:p>
                  </a:txBody>
                  <a:tcPr marT="91425" marB="91425" marR="91425" marL="91425">
                    <a:solidFill>
                      <a:srgbClr val="FFF8DE"/>
                    </a:solidFill>
                  </a:tcPr>
                </a:tc>
                <a:tc>
                  <a:txBody>
                    <a:bodyPr/>
                    <a:lstStyle/>
                    <a:p>
                      <a:pPr indent="0" lvl="0" marL="0" rtl="0" algn="ctr">
                        <a:lnSpc>
                          <a:spcPct val="115000"/>
                        </a:lnSpc>
                        <a:spcBef>
                          <a:spcPts val="0"/>
                        </a:spcBef>
                        <a:spcAft>
                          <a:spcPts val="0"/>
                        </a:spcAft>
                        <a:buNone/>
                      </a:pPr>
                      <a:r>
                        <a:rPr lang="en-US" sz="1800"/>
                        <a:t>76%</a:t>
                      </a:r>
                      <a:endParaRPr sz="1800"/>
                    </a:p>
                  </a:txBody>
                  <a:tcPr marT="91425" marB="91425" marR="91425" marL="91425">
                    <a:solidFill>
                      <a:srgbClr val="FFF8DE"/>
                    </a:solidFill>
                  </a:tcPr>
                </a:tc>
                <a:tc>
                  <a:txBody>
                    <a:bodyPr/>
                    <a:lstStyle/>
                    <a:p>
                      <a:pPr indent="0" lvl="0" marL="0" rtl="0" algn="ctr">
                        <a:lnSpc>
                          <a:spcPct val="115000"/>
                        </a:lnSpc>
                        <a:spcBef>
                          <a:spcPts val="0"/>
                        </a:spcBef>
                        <a:spcAft>
                          <a:spcPts val="0"/>
                        </a:spcAft>
                        <a:buNone/>
                      </a:pPr>
                      <a:r>
                        <a:rPr lang="en-US" sz="1800"/>
                        <a:t>78%</a:t>
                      </a:r>
                      <a:endParaRPr sz="1800"/>
                    </a:p>
                  </a:txBody>
                  <a:tcPr marT="91425" marB="91425" marR="91425" marL="91425">
                    <a:solidFill>
                      <a:srgbClr val="FFF8DE"/>
                    </a:solidFill>
                  </a:tcPr>
                </a:tc>
                <a:tc>
                  <a:txBody>
                    <a:bodyPr/>
                    <a:lstStyle/>
                    <a:p>
                      <a:pPr indent="0" lvl="0" marL="0" rtl="0" algn="ctr">
                        <a:spcBef>
                          <a:spcPts val="0"/>
                        </a:spcBef>
                        <a:spcAft>
                          <a:spcPts val="0"/>
                        </a:spcAft>
                        <a:buNone/>
                      </a:pPr>
                      <a:r>
                        <a:rPr lang="en-US" sz="1800"/>
                        <a:t>Tương đương</a:t>
                      </a:r>
                      <a:endParaRPr sz="1800"/>
                    </a:p>
                  </a:txBody>
                  <a:tcPr marT="91425" marB="91425" marR="91425" marL="91425">
                    <a:solidFill>
                      <a:srgbClr val="FFF8DE"/>
                    </a:solidFill>
                  </a:tcPr>
                </a:tc>
              </a:tr>
              <a:tr h="508550">
                <a:tc vMerge="1"/>
                <a:tc>
                  <a:txBody>
                    <a:bodyPr/>
                    <a:lstStyle/>
                    <a:p>
                      <a:pPr indent="0" lvl="0" marL="0" rtl="0" algn="ctr">
                        <a:spcBef>
                          <a:spcPts val="0"/>
                        </a:spcBef>
                        <a:spcAft>
                          <a:spcPts val="0"/>
                        </a:spcAft>
                        <a:buNone/>
                      </a:pPr>
                      <a:r>
                        <a:rPr lang="en-US" sz="1800"/>
                        <a:t>p7</a:t>
                      </a:r>
                      <a:endParaRPr sz="1800"/>
                    </a:p>
                  </a:txBody>
                  <a:tcPr marT="91425" marB="91425" marR="91425" marL="91425">
                    <a:solidFill>
                      <a:srgbClr val="FFF8DE"/>
                    </a:solidFill>
                  </a:tcPr>
                </a:tc>
                <a:tc>
                  <a:txBody>
                    <a:bodyPr/>
                    <a:lstStyle/>
                    <a:p>
                      <a:pPr indent="0" lvl="0" marL="0" rtl="0" algn="ctr">
                        <a:lnSpc>
                          <a:spcPct val="115000"/>
                        </a:lnSpc>
                        <a:spcBef>
                          <a:spcPts val="0"/>
                        </a:spcBef>
                        <a:spcAft>
                          <a:spcPts val="0"/>
                        </a:spcAft>
                        <a:buNone/>
                      </a:pPr>
                      <a:r>
                        <a:rPr lang="en-US" sz="1800"/>
                        <a:t>86%</a:t>
                      </a:r>
                      <a:endParaRPr sz="1800"/>
                    </a:p>
                  </a:txBody>
                  <a:tcPr marT="91425" marB="91425" marR="91425" marL="91425">
                    <a:solidFill>
                      <a:srgbClr val="FFF8DE"/>
                    </a:solidFill>
                  </a:tcPr>
                </a:tc>
                <a:tc>
                  <a:txBody>
                    <a:bodyPr/>
                    <a:lstStyle/>
                    <a:p>
                      <a:pPr indent="0" lvl="0" marL="0" rtl="0" algn="ctr">
                        <a:lnSpc>
                          <a:spcPct val="115000"/>
                        </a:lnSpc>
                        <a:spcBef>
                          <a:spcPts val="0"/>
                        </a:spcBef>
                        <a:spcAft>
                          <a:spcPts val="0"/>
                        </a:spcAft>
                        <a:buNone/>
                      </a:pPr>
                      <a:r>
                        <a:rPr lang="en-US" sz="1800"/>
                        <a:t>82%</a:t>
                      </a:r>
                      <a:endParaRPr sz="1800"/>
                    </a:p>
                  </a:txBody>
                  <a:tcPr marT="91425" marB="91425" marR="91425" marL="91425">
                    <a:solidFill>
                      <a:srgbClr val="FFF8DE"/>
                    </a:solidFill>
                  </a:tcPr>
                </a:tc>
                <a:tc>
                  <a:txBody>
                    <a:bodyPr/>
                    <a:lstStyle/>
                    <a:p>
                      <a:pPr indent="0" lvl="0" marL="0" rtl="0" algn="ctr">
                        <a:spcBef>
                          <a:spcPts val="0"/>
                        </a:spcBef>
                        <a:spcAft>
                          <a:spcPts val="0"/>
                        </a:spcAft>
                        <a:buNone/>
                      </a:pPr>
                      <a:r>
                        <a:rPr lang="en-US" sz="1800"/>
                        <a:t>Tương đương</a:t>
                      </a:r>
                      <a:endParaRPr sz="1800"/>
                    </a:p>
                  </a:txBody>
                  <a:tcPr marT="91425" marB="91425" marR="91425" marL="91425">
                    <a:solidFill>
                      <a:srgbClr val="FFF8DE"/>
                    </a:solidFill>
                  </a:tcPr>
                </a:tc>
              </a:tr>
              <a:tr h="508550">
                <a:tc vMerge="1"/>
                <a:tc>
                  <a:txBody>
                    <a:bodyPr/>
                    <a:lstStyle/>
                    <a:p>
                      <a:pPr indent="0" lvl="0" marL="0" rtl="0" algn="ctr">
                        <a:spcBef>
                          <a:spcPts val="0"/>
                        </a:spcBef>
                        <a:spcAft>
                          <a:spcPts val="0"/>
                        </a:spcAft>
                        <a:buNone/>
                      </a:pPr>
                      <a:r>
                        <a:rPr lang="en-US" sz="1800"/>
                        <a:t>p10</a:t>
                      </a:r>
                      <a:endParaRPr sz="1800"/>
                    </a:p>
                  </a:txBody>
                  <a:tcPr marT="91425" marB="91425" marR="91425" marL="91425">
                    <a:solidFill>
                      <a:srgbClr val="FFF8DE"/>
                    </a:solidFill>
                  </a:tcPr>
                </a:tc>
                <a:tc>
                  <a:txBody>
                    <a:bodyPr/>
                    <a:lstStyle/>
                    <a:p>
                      <a:pPr indent="0" lvl="0" marL="0" rtl="0" algn="ctr">
                        <a:lnSpc>
                          <a:spcPct val="115000"/>
                        </a:lnSpc>
                        <a:spcBef>
                          <a:spcPts val="0"/>
                        </a:spcBef>
                        <a:spcAft>
                          <a:spcPts val="0"/>
                        </a:spcAft>
                        <a:buNone/>
                      </a:pPr>
                      <a:r>
                        <a:rPr lang="en-US" sz="1800"/>
                        <a:t>93%</a:t>
                      </a:r>
                      <a:endParaRPr sz="1800"/>
                    </a:p>
                  </a:txBody>
                  <a:tcPr marT="91425" marB="91425" marR="91425" marL="91425">
                    <a:solidFill>
                      <a:srgbClr val="FFF8DE"/>
                    </a:solidFill>
                  </a:tcPr>
                </a:tc>
                <a:tc>
                  <a:txBody>
                    <a:bodyPr/>
                    <a:lstStyle/>
                    <a:p>
                      <a:pPr indent="0" lvl="0" marL="0" rtl="0" algn="ctr">
                        <a:lnSpc>
                          <a:spcPct val="115000"/>
                        </a:lnSpc>
                        <a:spcBef>
                          <a:spcPts val="0"/>
                        </a:spcBef>
                        <a:spcAft>
                          <a:spcPts val="0"/>
                        </a:spcAft>
                        <a:buNone/>
                      </a:pPr>
                      <a:r>
                        <a:rPr lang="en-US" sz="1800"/>
                        <a:t>84%</a:t>
                      </a:r>
                      <a:endParaRPr sz="1800"/>
                    </a:p>
                  </a:txBody>
                  <a:tcPr marT="91425" marB="91425" marR="91425" marL="91425">
                    <a:solidFill>
                      <a:srgbClr val="FFF8DE"/>
                    </a:solidFill>
                  </a:tcPr>
                </a:tc>
                <a:tc>
                  <a:txBody>
                    <a:bodyPr/>
                    <a:lstStyle/>
                    <a:p>
                      <a:pPr indent="0" lvl="0" marL="0" rtl="0" algn="ctr">
                        <a:spcBef>
                          <a:spcPts val="0"/>
                        </a:spcBef>
                        <a:spcAft>
                          <a:spcPts val="0"/>
                        </a:spcAft>
                        <a:buNone/>
                      </a:pPr>
                      <a:r>
                        <a:rPr lang="en-US" sz="1800"/>
                        <a:t>Kharif cao hơn</a:t>
                      </a:r>
                      <a:endParaRPr sz="1800"/>
                    </a:p>
                  </a:txBody>
                  <a:tcPr marT="91425" marB="91425" marR="91425" marL="91425">
                    <a:solidFill>
                      <a:srgbClr val="FFF8DE"/>
                    </a:solidFill>
                  </a:tcPr>
                </a:tc>
              </a:tr>
              <a:tr h="508550">
                <a:tc rowSpan="4">
                  <a:txBody>
                    <a:bodyPr/>
                    <a:lstStyle/>
                    <a:p>
                      <a:pPr indent="0" lvl="0" marL="0" rtl="0" algn="l">
                        <a:spcBef>
                          <a:spcPts val="0"/>
                        </a:spcBef>
                        <a:spcAft>
                          <a:spcPts val="0"/>
                        </a:spcAft>
                        <a:buNone/>
                      </a:pPr>
                      <a:r>
                        <a:rPr lang="en-US" sz="1800"/>
                        <a:t>CWC(3, 5)</a:t>
                      </a:r>
                      <a:endParaRPr sz="1800"/>
                    </a:p>
                    <a:p>
                      <a:pPr indent="0" lvl="0" marL="0" rtl="0" algn="l">
                        <a:spcBef>
                          <a:spcPts val="0"/>
                        </a:spcBef>
                        <a:spcAft>
                          <a:spcPts val="0"/>
                        </a:spcAft>
                        <a:buNone/>
                      </a:pPr>
                      <a:r>
                        <a:t/>
                      </a:r>
                      <a:endParaRPr sz="1800"/>
                    </a:p>
                  </a:txBody>
                  <a:tcPr marT="91425" marB="91425" marR="91425" marL="91425" anchor="ctr">
                    <a:solidFill>
                      <a:srgbClr val="D9EAD3"/>
                    </a:solidFill>
                  </a:tcPr>
                </a:tc>
                <a:tc>
                  <a:txBody>
                    <a:bodyPr/>
                    <a:lstStyle/>
                    <a:p>
                      <a:pPr indent="0" lvl="0" marL="0" rtl="0" algn="ctr">
                        <a:spcBef>
                          <a:spcPts val="0"/>
                        </a:spcBef>
                        <a:spcAft>
                          <a:spcPts val="0"/>
                        </a:spcAft>
                        <a:buNone/>
                      </a:pPr>
                      <a:r>
                        <a:rPr lang="en-US" sz="1800"/>
                        <a:t>p3</a:t>
                      </a:r>
                      <a:endParaRPr sz="1800"/>
                    </a:p>
                  </a:txBody>
                  <a:tcPr marT="91425" marB="91425" marR="91425" marL="91425">
                    <a:solidFill>
                      <a:srgbClr val="D9EAD3"/>
                    </a:solidFill>
                  </a:tcPr>
                </a:tc>
                <a:tc>
                  <a:txBody>
                    <a:bodyPr/>
                    <a:lstStyle/>
                    <a:p>
                      <a:pPr indent="0" lvl="0" marL="0" rtl="0" algn="ctr">
                        <a:lnSpc>
                          <a:spcPct val="115000"/>
                        </a:lnSpc>
                        <a:spcBef>
                          <a:spcPts val="0"/>
                        </a:spcBef>
                        <a:spcAft>
                          <a:spcPts val="0"/>
                        </a:spcAft>
                        <a:buNone/>
                      </a:pPr>
                      <a:r>
                        <a:rPr lang="en-US" sz="1800"/>
                        <a:t>53%</a:t>
                      </a:r>
                      <a:endParaRPr sz="1800"/>
                    </a:p>
                  </a:txBody>
                  <a:tcPr marT="91425" marB="91425" marR="91425" marL="91425">
                    <a:solidFill>
                      <a:srgbClr val="D9EAD3"/>
                    </a:solidFill>
                  </a:tcPr>
                </a:tc>
                <a:tc>
                  <a:txBody>
                    <a:bodyPr/>
                    <a:lstStyle/>
                    <a:p>
                      <a:pPr indent="0" lvl="0" marL="0" rtl="0" algn="ctr">
                        <a:lnSpc>
                          <a:spcPct val="115000"/>
                        </a:lnSpc>
                        <a:spcBef>
                          <a:spcPts val="0"/>
                        </a:spcBef>
                        <a:spcAft>
                          <a:spcPts val="0"/>
                        </a:spcAft>
                        <a:buNone/>
                      </a:pPr>
                      <a:r>
                        <a:rPr lang="en-US" sz="1800"/>
                        <a:t>22%</a:t>
                      </a:r>
                      <a:endParaRPr sz="1800"/>
                    </a:p>
                  </a:txBody>
                  <a:tcPr marT="91425" marB="91425" marR="91425" marL="91425">
                    <a:solidFill>
                      <a:srgbClr val="D9EAD3"/>
                    </a:solidFill>
                  </a:tcPr>
                </a:tc>
                <a:tc>
                  <a:txBody>
                    <a:bodyPr/>
                    <a:lstStyle/>
                    <a:p>
                      <a:pPr indent="0" lvl="0" marL="0" rtl="0" algn="ctr">
                        <a:spcBef>
                          <a:spcPts val="0"/>
                        </a:spcBef>
                        <a:spcAft>
                          <a:spcPts val="0"/>
                        </a:spcAft>
                        <a:buNone/>
                      </a:pPr>
                      <a:r>
                        <a:rPr lang="en-US" sz="1800"/>
                        <a:t>Kharif vượt trội ở chu kỳ sớm</a:t>
                      </a:r>
                      <a:endParaRPr sz="1800"/>
                    </a:p>
                  </a:txBody>
                  <a:tcPr marT="91425" marB="91425" marR="91425" marL="91425">
                    <a:solidFill>
                      <a:srgbClr val="D9EAD3"/>
                    </a:solidFill>
                  </a:tcPr>
                </a:tc>
              </a:tr>
              <a:tr h="508550">
                <a:tc vMerge="1"/>
                <a:tc>
                  <a:txBody>
                    <a:bodyPr/>
                    <a:lstStyle/>
                    <a:p>
                      <a:pPr indent="0" lvl="0" marL="0" rtl="0" algn="ctr">
                        <a:spcBef>
                          <a:spcPts val="0"/>
                        </a:spcBef>
                        <a:spcAft>
                          <a:spcPts val="0"/>
                        </a:spcAft>
                        <a:buNone/>
                      </a:pPr>
                      <a:r>
                        <a:rPr lang="en-US" sz="1800"/>
                        <a:t>p5</a:t>
                      </a:r>
                      <a:endParaRPr sz="1800"/>
                    </a:p>
                  </a:txBody>
                  <a:tcPr marT="91425" marB="91425" marR="91425" marL="91425">
                    <a:solidFill>
                      <a:srgbClr val="D9EAD3"/>
                    </a:solidFill>
                  </a:tcPr>
                </a:tc>
                <a:tc>
                  <a:txBody>
                    <a:bodyPr/>
                    <a:lstStyle/>
                    <a:p>
                      <a:pPr indent="0" lvl="0" marL="0" rtl="0" algn="ctr">
                        <a:lnSpc>
                          <a:spcPct val="115000"/>
                        </a:lnSpc>
                        <a:spcBef>
                          <a:spcPts val="0"/>
                        </a:spcBef>
                        <a:spcAft>
                          <a:spcPts val="0"/>
                        </a:spcAft>
                        <a:buNone/>
                      </a:pPr>
                      <a:r>
                        <a:rPr lang="en-US" sz="1800"/>
                        <a:t>62%</a:t>
                      </a:r>
                      <a:endParaRPr sz="1800"/>
                    </a:p>
                  </a:txBody>
                  <a:tcPr marT="91425" marB="91425" marR="91425" marL="91425">
                    <a:solidFill>
                      <a:srgbClr val="D9EAD3"/>
                    </a:solidFill>
                  </a:tcPr>
                </a:tc>
                <a:tc>
                  <a:txBody>
                    <a:bodyPr/>
                    <a:lstStyle/>
                    <a:p>
                      <a:pPr indent="0" lvl="0" marL="0" rtl="0" algn="ctr">
                        <a:lnSpc>
                          <a:spcPct val="115000"/>
                        </a:lnSpc>
                        <a:spcBef>
                          <a:spcPts val="0"/>
                        </a:spcBef>
                        <a:spcAft>
                          <a:spcPts val="0"/>
                        </a:spcAft>
                        <a:buNone/>
                      </a:pPr>
                      <a:r>
                        <a:rPr lang="en-US" sz="1800"/>
                        <a:t>54%</a:t>
                      </a:r>
                      <a:endParaRPr sz="1800"/>
                    </a:p>
                  </a:txBody>
                  <a:tcPr marT="91425" marB="91425" marR="91425" marL="91425">
                    <a:solidFill>
                      <a:srgbClr val="D9EAD3"/>
                    </a:solidFill>
                  </a:tcPr>
                </a:tc>
                <a:tc>
                  <a:txBody>
                    <a:bodyPr/>
                    <a:lstStyle/>
                    <a:p>
                      <a:pPr indent="0" lvl="0" marL="0" rtl="0" algn="ctr">
                        <a:spcBef>
                          <a:spcPts val="0"/>
                        </a:spcBef>
                        <a:spcAft>
                          <a:spcPts val="0"/>
                        </a:spcAft>
                        <a:buNone/>
                      </a:pPr>
                      <a:r>
                        <a:rPr lang="en-US" sz="1800"/>
                        <a:t>Kharif cao hơn nhẹ</a:t>
                      </a:r>
                      <a:endParaRPr sz="1800"/>
                    </a:p>
                  </a:txBody>
                  <a:tcPr marT="91425" marB="91425" marR="91425" marL="91425">
                    <a:solidFill>
                      <a:srgbClr val="D9EAD3"/>
                    </a:solidFill>
                  </a:tcPr>
                </a:tc>
              </a:tr>
              <a:tr h="508550">
                <a:tc vMerge="1"/>
                <a:tc>
                  <a:txBody>
                    <a:bodyPr/>
                    <a:lstStyle/>
                    <a:p>
                      <a:pPr indent="0" lvl="0" marL="0" rtl="0" algn="ctr">
                        <a:spcBef>
                          <a:spcPts val="0"/>
                        </a:spcBef>
                        <a:spcAft>
                          <a:spcPts val="0"/>
                        </a:spcAft>
                        <a:buNone/>
                      </a:pPr>
                      <a:r>
                        <a:rPr lang="en-US" sz="1800"/>
                        <a:t>p7</a:t>
                      </a:r>
                      <a:endParaRPr sz="1800"/>
                    </a:p>
                  </a:txBody>
                  <a:tcPr marT="91425" marB="91425" marR="91425" marL="91425">
                    <a:solidFill>
                      <a:srgbClr val="D9EAD3"/>
                    </a:solidFill>
                  </a:tcPr>
                </a:tc>
                <a:tc>
                  <a:txBody>
                    <a:bodyPr/>
                    <a:lstStyle/>
                    <a:p>
                      <a:pPr indent="0" lvl="0" marL="0" rtl="0" algn="ctr">
                        <a:lnSpc>
                          <a:spcPct val="115000"/>
                        </a:lnSpc>
                        <a:spcBef>
                          <a:spcPts val="0"/>
                        </a:spcBef>
                        <a:spcAft>
                          <a:spcPts val="0"/>
                        </a:spcAft>
                        <a:buNone/>
                      </a:pPr>
                      <a:r>
                        <a:rPr lang="en-US" sz="1800"/>
                        <a:t>78%</a:t>
                      </a:r>
                      <a:endParaRPr sz="1800"/>
                    </a:p>
                  </a:txBody>
                  <a:tcPr marT="91425" marB="91425" marR="91425" marL="91425">
                    <a:solidFill>
                      <a:srgbClr val="D9EAD3"/>
                    </a:solidFill>
                  </a:tcPr>
                </a:tc>
                <a:tc>
                  <a:txBody>
                    <a:bodyPr/>
                    <a:lstStyle/>
                    <a:p>
                      <a:pPr indent="0" lvl="0" marL="0" rtl="0" algn="ctr">
                        <a:lnSpc>
                          <a:spcPct val="115000"/>
                        </a:lnSpc>
                        <a:spcBef>
                          <a:spcPts val="0"/>
                        </a:spcBef>
                        <a:spcAft>
                          <a:spcPts val="0"/>
                        </a:spcAft>
                        <a:buNone/>
                      </a:pPr>
                      <a:r>
                        <a:rPr lang="en-US" sz="1800"/>
                        <a:t>61%</a:t>
                      </a:r>
                      <a:endParaRPr sz="1800"/>
                    </a:p>
                  </a:txBody>
                  <a:tcPr marT="91425" marB="91425" marR="91425" marL="91425">
                    <a:solidFill>
                      <a:srgbClr val="D9EAD3"/>
                    </a:solidFill>
                  </a:tcPr>
                </a:tc>
                <a:tc>
                  <a:txBody>
                    <a:bodyPr/>
                    <a:lstStyle/>
                    <a:p>
                      <a:pPr indent="0" lvl="0" marL="0" rtl="0" algn="ctr">
                        <a:spcBef>
                          <a:spcPts val="0"/>
                        </a:spcBef>
                        <a:spcAft>
                          <a:spcPts val="0"/>
                        </a:spcAft>
                        <a:buNone/>
                      </a:pPr>
                      <a:r>
                        <a:rPr lang="en-US" sz="1800"/>
                        <a:t>Kharif cao hơn</a:t>
                      </a:r>
                      <a:endParaRPr sz="1800"/>
                    </a:p>
                  </a:txBody>
                  <a:tcPr marT="91425" marB="91425" marR="91425" marL="91425">
                    <a:solidFill>
                      <a:srgbClr val="D9EAD3"/>
                    </a:solidFill>
                  </a:tcPr>
                </a:tc>
              </a:tr>
              <a:tr h="508550">
                <a:tc vMerge="1"/>
                <a:tc>
                  <a:txBody>
                    <a:bodyPr/>
                    <a:lstStyle/>
                    <a:p>
                      <a:pPr indent="0" lvl="0" marL="0" rtl="0" algn="ctr">
                        <a:spcBef>
                          <a:spcPts val="0"/>
                        </a:spcBef>
                        <a:spcAft>
                          <a:spcPts val="0"/>
                        </a:spcAft>
                        <a:buNone/>
                      </a:pPr>
                      <a:r>
                        <a:rPr lang="en-US" sz="1800"/>
                        <a:t>p10</a:t>
                      </a:r>
                      <a:endParaRPr sz="1800"/>
                    </a:p>
                  </a:txBody>
                  <a:tcPr marT="91425" marB="91425" marR="91425" marL="91425">
                    <a:solidFill>
                      <a:srgbClr val="D9EAD3"/>
                    </a:solidFill>
                  </a:tcPr>
                </a:tc>
                <a:tc>
                  <a:txBody>
                    <a:bodyPr/>
                    <a:lstStyle/>
                    <a:p>
                      <a:pPr indent="0" lvl="0" marL="0" rtl="0" algn="ctr">
                        <a:lnSpc>
                          <a:spcPct val="115000"/>
                        </a:lnSpc>
                        <a:spcBef>
                          <a:spcPts val="0"/>
                        </a:spcBef>
                        <a:spcAft>
                          <a:spcPts val="0"/>
                        </a:spcAft>
                        <a:buNone/>
                      </a:pPr>
                      <a:r>
                        <a:rPr lang="en-US" sz="1800"/>
                        <a:t>80%</a:t>
                      </a:r>
                      <a:endParaRPr sz="1800"/>
                    </a:p>
                  </a:txBody>
                  <a:tcPr marT="91425" marB="91425" marR="91425" marL="91425">
                    <a:solidFill>
                      <a:srgbClr val="D9EAD3"/>
                    </a:solidFill>
                  </a:tcPr>
                </a:tc>
                <a:tc>
                  <a:txBody>
                    <a:bodyPr/>
                    <a:lstStyle/>
                    <a:p>
                      <a:pPr indent="0" lvl="0" marL="0" rtl="0" algn="ctr">
                        <a:lnSpc>
                          <a:spcPct val="115000"/>
                        </a:lnSpc>
                        <a:spcBef>
                          <a:spcPts val="0"/>
                        </a:spcBef>
                        <a:spcAft>
                          <a:spcPts val="0"/>
                        </a:spcAft>
                        <a:buNone/>
                      </a:pPr>
                      <a:r>
                        <a:rPr lang="en-US" sz="1800"/>
                        <a:t>70%</a:t>
                      </a:r>
                      <a:endParaRPr sz="1800"/>
                    </a:p>
                  </a:txBody>
                  <a:tcPr marT="91425" marB="91425" marR="91425" marL="91425">
                    <a:solidFill>
                      <a:srgbClr val="D9EAD3"/>
                    </a:solidFill>
                  </a:tcPr>
                </a:tc>
                <a:tc>
                  <a:txBody>
                    <a:bodyPr/>
                    <a:lstStyle/>
                    <a:p>
                      <a:pPr indent="0" lvl="0" marL="0" rtl="0" algn="ctr">
                        <a:spcBef>
                          <a:spcPts val="0"/>
                        </a:spcBef>
                        <a:spcAft>
                          <a:spcPts val="0"/>
                        </a:spcAft>
                        <a:buNone/>
                      </a:pPr>
                      <a:r>
                        <a:rPr lang="en-US" sz="1800"/>
                        <a:t>Kharif cao hơn</a:t>
                      </a:r>
                      <a:endParaRPr sz="1800"/>
                    </a:p>
                  </a:txBody>
                  <a:tcPr marT="91425" marB="91425" marR="91425" marL="91425">
                    <a:solidFill>
                      <a:srgbClr val="D9EAD3"/>
                    </a:solidFill>
                  </a:tcPr>
                </a:tc>
              </a:tr>
              <a:tr h="508550">
                <a:tc>
                  <a:txBody>
                    <a:bodyPr/>
                    <a:lstStyle/>
                    <a:p>
                      <a:pPr indent="0" lvl="0" marL="0" rtl="0" algn="l">
                        <a:spcBef>
                          <a:spcPts val="0"/>
                        </a:spcBef>
                        <a:spcAft>
                          <a:spcPts val="0"/>
                        </a:spcAft>
                        <a:buNone/>
                      </a:pPr>
                      <a:r>
                        <a:rPr lang="en-US" sz="1800"/>
                        <a:t>CWC(5, 1)</a:t>
                      </a:r>
                      <a:endParaRPr sz="1800"/>
                    </a:p>
                  </a:txBody>
                  <a:tcPr marT="91425" marB="91425" marR="91425" marL="91425">
                    <a:solidFill>
                      <a:srgbClr val="CFE2F3"/>
                    </a:solidFill>
                  </a:tcPr>
                </a:tc>
                <a:tc>
                  <a:txBody>
                    <a:bodyPr/>
                    <a:lstStyle/>
                    <a:p>
                      <a:pPr indent="0" lvl="0" marL="0" rtl="0" algn="ctr">
                        <a:spcBef>
                          <a:spcPts val="0"/>
                        </a:spcBef>
                        <a:spcAft>
                          <a:spcPts val="0"/>
                        </a:spcAft>
                        <a:buNone/>
                      </a:pPr>
                      <a:r>
                        <a:rPr lang="en-US" sz="1800"/>
                        <a:t>p10</a:t>
                      </a:r>
                      <a:endParaRPr sz="1800"/>
                    </a:p>
                  </a:txBody>
                  <a:tcPr marT="91425" marB="91425" marR="91425" marL="91425">
                    <a:solidFill>
                      <a:srgbClr val="CFE2F3"/>
                    </a:solidFill>
                  </a:tcPr>
                </a:tc>
                <a:tc>
                  <a:txBody>
                    <a:bodyPr/>
                    <a:lstStyle/>
                    <a:p>
                      <a:pPr indent="0" lvl="0" marL="0" rtl="0" algn="ctr">
                        <a:lnSpc>
                          <a:spcPct val="115000"/>
                        </a:lnSpc>
                        <a:spcBef>
                          <a:spcPts val="0"/>
                        </a:spcBef>
                        <a:spcAft>
                          <a:spcPts val="0"/>
                        </a:spcAft>
                        <a:buNone/>
                      </a:pPr>
                      <a:r>
                        <a:rPr lang="en-US" sz="1800"/>
                        <a:t>78%</a:t>
                      </a:r>
                      <a:endParaRPr sz="1800"/>
                    </a:p>
                  </a:txBody>
                  <a:tcPr marT="91425" marB="91425" marR="91425" marL="91425">
                    <a:solidFill>
                      <a:srgbClr val="CFE2F3"/>
                    </a:solidFill>
                  </a:tcPr>
                </a:tc>
                <a:tc>
                  <a:txBody>
                    <a:bodyPr/>
                    <a:lstStyle/>
                    <a:p>
                      <a:pPr indent="0" lvl="0" marL="0" rtl="0" algn="ctr">
                        <a:lnSpc>
                          <a:spcPct val="115000"/>
                        </a:lnSpc>
                        <a:spcBef>
                          <a:spcPts val="0"/>
                        </a:spcBef>
                        <a:spcAft>
                          <a:spcPts val="0"/>
                        </a:spcAft>
                        <a:buNone/>
                      </a:pPr>
                      <a:r>
                        <a:rPr lang="en-US" sz="1800"/>
                        <a:t>76%</a:t>
                      </a:r>
                      <a:endParaRPr sz="1800"/>
                    </a:p>
                  </a:txBody>
                  <a:tcPr marT="91425" marB="91425" marR="91425" marL="91425">
                    <a:solidFill>
                      <a:srgbClr val="CFE2F3"/>
                    </a:solidFill>
                  </a:tcPr>
                </a:tc>
                <a:tc>
                  <a:txBody>
                    <a:bodyPr/>
                    <a:lstStyle/>
                    <a:p>
                      <a:pPr indent="0" lvl="0" marL="0" rtl="0" algn="ctr">
                        <a:spcBef>
                          <a:spcPts val="0"/>
                        </a:spcBef>
                        <a:spcAft>
                          <a:spcPts val="0"/>
                        </a:spcAft>
                        <a:buNone/>
                      </a:pPr>
                      <a:r>
                        <a:rPr lang="en-US" sz="1800"/>
                        <a:t>Ổn định ở mức cao</a:t>
                      </a:r>
                      <a:endParaRPr sz="1800"/>
                    </a:p>
                  </a:txBody>
                  <a:tcPr marT="91425" marB="91425" marR="91425" marL="91425">
                    <a:solidFill>
                      <a:srgbClr val="CFE2F3"/>
                    </a:solidFill>
                  </a:tcPr>
                </a:tc>
              </a:tr>
              <a:tr h="508550">
                <a:tc>
                  <a:txBody>
                    <a:bodyPr/>
                    <a:lstStyle/>
                    <a:p>
                      <a:pPr indent="0" lvl="0" marL="0" rtl="0" algn="l">
                        <a:spcBef>
                          <a:spcPts val="0"/>
                        </a:spcBef>
                        <a:spcAft>
                          <a:spcPts val="0"/>
                        </a:spcAft>
                        <a:buNone/>
                      </a:pPr>
                      <a:r>
                        <a:rPr lang="en-US" sz="1800"/>
                        <a:t>CWC(5, 5)</a:t>
                      </a:r>
                      <a:endParaRPr sz="1800"/>
                    </a:p>
                  </a:txBody>
                  <a:tcPr marT="91425" marB="91425" marR="91425" marL="91425">
                    <a:solidFill>
                      <a:srgbClr val="F4CCCC"/>
                    </a:solidFill>
                  </a:tcPr>
                </a:tc>
                <a:tc>
                  <a:txBody>
                    <a:bodyPr/>
                    <a:lstStyle/>
                    <a:p>
                      <a:pPr indent="0" lvl="0" marL="0" rtl="0" algn="ctr">
                        <a:spcBef>
                          <a:spcPts val="0"/>
                        </a:spcBef>
                        <a:spcAft>
                          <a:spcPts val="0"/>
                        </a:spcAft>
                        <a:buNone/>
                      </a:pPr>
                      <a:r>
                        <a:rPr lang="en-US" sz="1800"/>
                        <a:t>p10</a:t>
                      </a:r>
                      <a:endParaRPr sz="1800"/>
                    </a:p>
                  </a:txBody>
                  <a:tcPr marT="91425" marB="91425" marR="91425" marL="91425">
                    <a:solidFill>
                      <a:srgbClr val="F4CCCC"/>
                    </a:solidFill>
                  </a:tcPr>
                </a:tc>
                <a:tc>
                  <a:txBody>
                    <a:bodyPr/>
                    <a:lstStyle/>
                    <a:p>
                      <a:pPr indent="0" lvl="0" marL="0" rtl="0" algn="ctr">
                        <a:lnSpc>
                          <a:spcPct val="115000"/>
                        </a:lnSpc>
                        <a:spcBef>
                          <a:spcPts val="0"/>
                        </a:spcBef>
                        <a:spcAft>
                          <a:spcPts val="0"/>
                        </a:spcAft>
                        <a:buNone/>
                      </a:pPr>
                      <a:r>
                        <a:rPr lang="en-US" sz="1800"/>
                        <a:t>44%</a:t>
                      </a:r>
                      <a:endParaRPr sz="1800"/>
                    </a:p>
                  </a:txBody>
                  <a:tcPr marT="91425" marB="91425" marR="91425" marL="91425">
                    <a:solidFill>
                      <a:srgbClr val="F4CCCC"/>
                    </a:solidFill>
                  </a:tcPr>
                </a:tc>
                <a:tc>
                  <a:txBody>
                    <a:bodyPr/>
                    <a:lstStyle/>
                    <a:p>
                      <a:pPr indent="0" lvl="0" marL="0" rtl="0" algn="ctr">
                        <a:lnSpc>
                          <a:spcPct val="115000"/>
                        </a:lnSpc>
                        <a:spcBef>
                          <a:spcPts val="0"/>
                        </a:spcBef>
                        <a:spcAft>
                          <a:spcPts val="0"/>
                        </a:spcAft>
                        <a:buNone/>
                      </a:pPr>
                      <a:r>
                        <a:rPr lang="en-US" sz="1800"/>
                        <a:t>50%</a:t>
                      </a:r>
                      <a:endParaRPr sz="1800"/>
                    </a:p>
                  </a:txBody>
                  <a:tcPr marT="91425" marB="91425" marR="91425" marL="91425">
                    <a:solidFill>
                      <a:srgbClr val="F4CCCC"/>
                    </a:solidFill>
                  </a:tcPr>
                </a:tc>
                <a:tc>
                  <a:txBody>
                    <a:bodyPr/>
                    <a:lstStyle/>
                    <a:p>
                      <a:pPr indent="0" lvl="0" marL="0" rtl="0" algn="ctr">
                        <a:spcBef>
                          <a:spcPts val="0"/>
                        </a:spcBef>
                        <a:spcAft>
                          <a:spcPts val="0"/>
                        </a:spcAft>
                        <a:buNone/>
                      </a:pPr>
                      <a:r>
                        <a:rPr lang="en-US" sz="1800"/>
                        <a:t>Giảm do khung 5 ngày, 5 biến</a:t>
                      </a:r>
                      <a:endParaRPr sz="1800"/>
                    </a:p>
                  </a:txBody>
                  <a:tcPr marT="91425" marB="91425" marR="91425" marL="91425">
                    <a:solidFill>
                      <a:srgbClr val="F4CCCC"/>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729" name="Shape 729"/>
        <p:cNvGrpSpPr/>
        <p:nvPr/>
      </p:nvGrpSpPr>
      <p:grpSpPr>
        <a:xfrm>
          <a:off x="0" y="0"/>
          <a:ext cx="0" cy="0"/>
          <a:chOff x="0" y="0"/>
          <a:chExt cx="0" cy="0"/>
        </a:xfrm>
      </p:grpSpPr>
      <p:sp>
        <p:nvSpPr>
          <p:cNvPr id="730" name="Google Shape;730;h51ca6e53a632996d_0_130"/>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h51ca6e53a632996d_0_130"/>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32" name="Google Shape;732;h51ca6e53a632996d_0_130"/>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733" name="Google Shape;733;h51ca6e53a632996d_0_130"/>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h51ca6e53a632996d_0_130"/>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735" name="Google Shape;735;h51ca6e53a632996d_0_130"/>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h51ca6e53a632996d_0_130"/>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737" name="Google Shape;737;h51ca6e53a632996d_0_130"/>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738" name="Google Shape;738;h51ca6e53a632996d_0_130"/>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19</a:t>
            </a:r>
            <a:endParaRPr/>
          </a:p>
        </p:txBody>
      </p:sp>
      <p:sp>
        <p:nvSpPr>
          <p:cNvPr id="739" name="Google Shape;739;h51ca6e53a632996d_0_130"/>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500">
                <a:solidFill>
                  <a:srgbClr val="1F603A"/>
                </a:solidFill>
              </a:rPr>
              <a:t>Đánh giá</a:t>
            </a:r>
            <a:r>
              <a:rPr b="1" lang="en-US" sz="2500">
                <a:solidFill>
                  <a:srgbClr val="1F603A"/>
                </a:solidFill>
              </a:rPr>
              <a:t> thực nghiệm</a:t>
            </a:r>
            <a:endParaRPr b="1" sz="2500"/>
          </a:p>
        </p:txBody>
      </p:sp>
      <p:sp>
        <p:nvSpPr>
          <p:cNvPr id="740" name="Google Shape;740;h51ca6e53a632996d_0_130"/>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5</a:t>
            </a:r>
            <a:endParaRPr/>
          </a:p>
        </p:txBody>
      </p:sp>
      <p:sp>
        <p:nvSpPr>
          <p:cNvPr id="741" name="Google Shape;741;h51ca6e53a632996d_0_130"/>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h51ca6e53a632996d_0_130"/>
          <p:cNvSpPr/>
          <p:nvPr/>
        </p:nvSpPr>
        <p:spPr>
          <a:xfrm>
            <a:off x="1143000" y="1285875"/>
            <a:ext cx="10620300" cy="4905300"/>
          </a:xfrm>
          <a:prstGeom prst="roundRect">
            <a:avLst>
              <a:gd fmla="val 2286" name="adj"/>
            </a:avLst>
          </a:prstGeom>
          <a:solidFill>
            <a:srgbClr val="FFFFFF"/>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h51ca6e53a632996d_0_130"/>
          <p:cNvSpPr/>
          <p:nvPr/>
        </p:nvSpPr>
        <p:spPr>
          <a:xfrm flipH="1">
            <a:off x="1095300" y="1285875"/>
            <a:ext cx="19200" cy="49053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h51ca6e53a632996d_0_130"/>
          <p:cNvSpPr/>
          <p:nvPr/>
        </p:nvSpPr>
        <p:spPr>
          <a:xfrm>
            <a:off x="1428825" y="1478625"/>
            <a:ext cx="10017000" cy="4519800"/>
          </a:xfrm>
          <a:prstGeom prst="rect">
            <a:avLst/>
          </a:prstGeom>
          <a:noFill/>
          <a:ln>
            <a:noFill/>
          </a:ln>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Clr>
                <a:srgbClr val="1F1F1F"/>
              </a:buClr>
              <a:buSzPts val="2400"/>
              <a:buChar char="●"/>
            </a:pPr>
            <a:r>
              <a:rPr b="1" lang="en-US" sz="2400">
                <a:solidFill>
                  <a:srgbClr val="1F1F1F"/>
                </a:solidFill>
              </a:rPr>
              <a:t>CWC vượt trội hoàn toàn so với số thực:</a:t>
            </a:r>
            <a:r>
              <a:rPr lang="en-US" sz="2400">
                <a:solidFill>
                  <a:srgbClr val="1F1F1F"/>
                </a:solidFill>
              </a:rPr>
              <a:t> Số thực (WC) giảm tỷ lệ trùng khớp về 0% khi số biến n &gt;= 3, trong khi phương pháp gom danh mục (CWC) duy trì độ tương đồng 80% – 100%.</a:t>
            </a:r>
            <a:endParaRPr sz="2400">
              <a:solidFill>
                <a:srgbClr val="1F1F1F"/>
              </a:solidFill>
            </a:endParaRPr>
          </a:p>
          <a:p>
            <a:pPr indent="0" lvl="0" marL="0" rtl="0" algn="l">
              <a:lnSpc>
                <a:spcPct val="115000"/>
              </a:lnSpc>
              <a:spcBef>
                <a:spcPts val="0"/>
              </a:spcBef>
              <a:spcAft>
                <a:spcPts val="0"/>
              </a:spcAft>
              <a:buNone/>
            </a:pPr>
            <a:r>
              <a:t/>
            </a:r>
            <a:endParaRPr sz="2400">
              <a:solidFill>
                <a:srgbClr val="1F1F1F"/>
              </a:solidFill>
            </a:endParaRPr>
          </a:p>
          <a:p>
            <a:pPr indent="-381000" lvl="0" marL="457200" rtl="0" algn="l">
              <a:lnSpc>
                <a:spcPct val="115000"/>
              </a:lnSpc>
              <a:spcBef>
                <a:spcPts val="0"/>
              </a:spcBef>
              <a:spcAft>
                <a:spcPts val="0"/>
              </a:spcAft>
              <a:buClr>
                <a:srgbClr val="1F1F1F"/>
              </a:buClr>
              <a:buSzPts val="2400"/>
              <a:buChar char="●"/>
            </a:pPr>
            <a:r>
              <a:rPr b="1" lang="en-US" sz="2400">
                <a:solidFill>
                  <a:srgbClr val="1F1F1F"/>
                </a:solidFill>
              </a:rPr>
              <a:t>Cấu hình 3 biến tối ưu nhất:</a:t>
            </a:r>
            <a:r>
              <a:rPr lang="en-US" sz="2400">
                <a:solidFill>
                  <a:srgbClr val="1F1F1F"/>
                </a:solidFill>
              </a:rPr>
              <a:t> Kết hợp 3 biến thời tiết chủ đạo theo mùa mang lại hiệu quả tái sử dụng cao và sát thực tế nhất.</a:t>
            </a:r>
            <a:endParaRPr sz="2400">
              <a:solidFill>
                <a:srgbClr val="1F1F1F"/>
              </a:solidFill>
            </a:endParaRPr>
          </a:p>
          <a:p>
            <a:pPr indent="0" lvl="0" marL="0" rtl="0" algn="l">
              <a:lnSpc>
                <a:spcPct val="115000"/>
              </a:lnSpc>
              <a:spcBef>
                <a:spcPts val="0"/>
              </a:spcBef>
              <a:spcAft>
                <a:spcPts val="0"/>
              </a:spcAft>
              <a:buNone/>
            </a:pPr>
            <a:r>
              <a:t/>
            </a:r>
            <a:endParaRPr sz="2400">
              <a:solidFill>
                <a:srgbClr val="1F1F1F"/>
              </a:solidFill>
            </a:endParaRPr>
          </a:p>
          <a:p>
            <a:pPr indent="-381000" lvl="0" marL="457200" rtl="0" algn="l">
              <a:lnSpc>
                <a:spcPct val="115000"/>
              </a:lnSpc>
              <a:spcBef>
                <a:spcPts val="0"/>
              </a:spcBef>
              <a:spcAft>
                <a:spcPts val="0"/>
              </a:spcAft>
              <a:buClr>
                <a:srgbClr val="1F1F1F"/>
              </a:buClr>
              <a:buSzPts val="2400"/>
              <a:buChar char="●"/>
            </a:pPr>
            <a:r>
              <a:rPr b="1" lang="en-US" sz="2400">
                <a:solidFill>
                  <a:srgbClr val="1F1F1F"/>
                </a:solidFill>
              </a:rPr>
              <a:t>Tích lũy dữ liệu nhanh chóng:</a:t>
            </a:r>
            <a:r>
              <a:rPr lang="en-US" sz="2400">
                <a:solidFill>
                  <a:srgbClr val="1F1F1F"/>
                </a:solidFill>
              </a:rPr>
              <a:t> Đạt tỷ lệ tái sử dụng 80% – 90% chỉ sau 2 – 3 năm/mùa vụ, và đạt 70% – 80% sau 5 – 7 vụ đối với từng giai đoạn sinh trưởng của lúa.</a:t>
            </a:r>
            <a:endParaRPr sz="2400">
              <a:solidFill>
                <a:srgbClr val="292929"/>
              </a:solidFill>
            </a:endParaRPr>
          </a:p>
        </p:txBody>
      </p:sp>
      <p:sp>
        <p:nvSpPr>
          <p:cNvPr id="745" name="Google Shape;745;h51ca6e53a632996d_0_130"/>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h51ca6e53a632996d_0_130"/>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h51ca6e53a632996d_0_130"/>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748" name="Google Shape;748;h51ca6e53a632996d_0_130"/>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749" name="Google Shape;749;h51ca6e53a632996d_0_130"/>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750" name="Google Shape;750;h51ca6e53a632996d_0_130"/>
          <p:cNvSpPr/>
          <p:nvPr/>
        </p:nvSpPr>
        <p:spPr>
          <a:xfrm>
            <a:off x="114300" y="4953000"/>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h51ca6e53a632996d_0_130"/>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04</a:t>
            </a:r>
            <a:endParaRPr/>
          </a:p>
        </p:txBody>
      </p:sp>
      <p:sp>
        <p:nvSpPr>
          <p:cNvPr id="752" name="Google Shape;752;h51ca6e53a632996d_0_130"/>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753" name="Google Shape;753;h51ca6e53a632996d_0_130"/>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758" name="Shape 758"/>
        <p:cNvGrpSpPr/>
        <p:nvPr/>
      </p:nvGrpSpPr>
      <p:grpSpPr>
        <a:xfrm>
          <a:off x="0" y="0"/>
          <a:ext cx="0" cy="0"/>
          <a:chOff x="0" y="0"/>
          <a:chExt cx="0" cy="0"/>
        </a:xfrm>
      </p:grpSpPr>
      <p:sp>
        <p:nvSpPr>
          <p:cNvPr id="759" name="Google Shape;759;ha90ac7004f693ea_0_29"/>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ha90ac7004f693ea_0_29"/>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61" name="Google Shape;761;ha90ac7004f693ea_0_29"/>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762" name="Google Shape;762;ha90ac7004f693ea_0_29"/>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ha90ac7004f693ea_0_29"/>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764" name="Google Shape;764;ha90ac7004f693ea_0_29"/>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ha90ac7004f693ea_0_29"/>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766" name="Google Shape;766;ha90ac7004f693ea_0_29"/>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767" name="Google Shape;767;ha90ac7004f693ea_0_29"/>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20</a:t>
            </a:r>
            <a:endParaRPr/>
          </a:p>
        </p:txBody>
      </p:sp>
      <p:sp>
        <p:nvSpPr>
          <p:cNvPr id="768" name="Google Shape;768;ha90ac7004f693ea_0_29"/>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500">
                <a:solidFill>
                  <a:srgbClr val="1F603A"/>
                </a:solidFill>
              </a:rPr>
              <a:t>Đánh giá</a:t>
            </a:r>
            <a:r>
              <a:rPr b="1" lang="en-US" sz="2500">
                <a:solidFill>
                  <a:srgbClr val="1F603A"/>
                </a:solidFill>
              </a:rPr>
              <a:t> thực nghiệm</a:t>
            </a:r>
            <a:endParaRPr b="1" sz="2500"/>
          </a:p>
        </p:txBody>
      </p:sp>
      <p:sp>
        <p:nvSpPr>
          <p:cNvPr id="769" name="Google Shape;769;ha90ac7004f693ea_0_29"/>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5</a:t>
            </a:r>
            <a:endParaRPr/>
          </a:p>
        </p:txBody>
      </p:sp>
      <p:sp>
        <p:nvSpPr>
          <p:cNvPr id="770" name="Google Shape;770;ha90ac7004f693ea_0_29"/>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ha90ac7004f693ea_0_29"/>
          <p:cNvSpPr/>
          <p:nvPr/>
        </p:nvSpPr>
        <p:spPr>
          <a:xfrm>
            <a:off x="1143000" y="1285875"/>
            <a:ext cx="10620300" cy="4905300"/>
          </a:xfrm>
          <a:prstGeom prst="roundRect">
            <a:avLst>
              <a:gd fmla="val 2286" name="adj"/>
            </a:avLst>
          </a:prstGeom>
          <a:solidFill>
            <a:srgbClr val="FFFFFF"/>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ha90ac7004f693ea_0_29"/>
          <p:cNvSpPr/>
          <p:nvPr/>
        </p:nvSpPr>
        <p:spPr>
          <a:xfrm flipH="1">
            <a:off x="1095300" y="1285875"/>
            <a:ext cx="19200" cy="49053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ha90ac7004f693ea_0_29"/>
          <p:cNvSpPr/>
          <p:nvPr/>
        </p:nvSpPr>
        <p:spPr>
          <a:xfrm>
            <a:off x="1428825" y="1478625"/>
            <a:ext cx="10017000" cy="4519800"/>
          </a:xfrm>
          <a:prstGeom prst="rect">
            <a:avLst/>
          </a:prstGeom>
          <a:noFill/>
          <a:ln>
            <a:noFill/>
          </a:ln>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Clr>
                <a:srgbClr val="1F1F1F"/>
              </a:buClr>
              <a:buSzPts val="2400"/>
              <a:buChar char="●"/>
            </a:pPr>
            <a:r>
              <a:rPr b="1" lang="en-US" sz="2400">
                <a:solidFill>
                  <a:srgbClr val="1F1F1F"/>
                </a:solidFill>
              </a:rPr>
              <a:t>Đáp ứng tốt đa dạng khung thời gian:</a:t>
            </a:r>
            <a:r>
              <a:rPr lang="en-US" sz="2400">
                <a:solidFill>
                  <a:srgbClr val="1F1F1F"/>
                </a:solidFill>
              </a:rPr>
              <a:t> Áp dụng hiệu quả cho cả dự báo ngắn hạn (d = 1 ngày) lẫn trung hạn (d = 5 ngày).</a:t>
            </a:r>
            <a:endParaRPr sz="2400">
              <a:solidFill>
                <a:srgbClr val="1F1F1F"/>
              </a:solidFill>
            </a:endParaRPr>
          </a:p>
          <a:p>
            <a:pPr indent="0" lvl="0" marL="0" rtl="0" algn="l">
              <a:lnSpc>
                <a:spcPct val="115000"/>
              </a:lnSpc>
              <a:spcBef>
                <a:spcPts val="0"/>
              </a:spcBef>
              <a:spcAft>
                <a:spcPts val="0"/>
              </a:spcAft>
              <a:buNone/>
            </a:pPr>
            <a:r>
              <a:t/>
            </a:r>
            <a:endParaRPr sz="2400">
              <a:solidFill>
                <a:srgbClr val="1F1F1F"/>
              </a:solidFill>
            </a:endParaRPr>
          </a:p>
          <a:p>
            <a:pPr indent="-381000" lvl="0" marL="457200" rtl="0" algn="l">
              <a:lnSpc>
                <a:spcPct val="115000"/>
              </a:lnSpc>
              <a:spcBef>
                <a:spcPts val="0"/>
              </a:spcBef>
              <a:spcAft>
                <a:spcPts val="0"/>
              </a:spcAft>
              <a:buClr>
                <a:srgbClr val="1F1F1F"/>
              </a:buClr>
              <a:buSzPts val="2400"/>
              <a:buChar char="●"/>
            </a:pPr>
            <a:r>
              <a:rPr b="1" lang="en-US" sz="2400">
                <a:solidFill>
                  <a:srgbClr val="1F1F1F"/>
                </a:solidFill>
              </a:rPr>
              <a:t>Nâng cao hiệu quả DSS:</a:t>
            </a:r>
            <a:r>
              <a:rPr lang="en-US" sz="2400">
                <a:solidFill>
                  <a:srgbClr val="1F1F1F"/>
                </a:solidFill>
              </a:rPr>
              <a:t> Giảm khối lượng công việc trùng lặp của chuyên gia, tiết kiệm chi phí vận hành và chuẩn hóa chất lượng khuyến nghị nông nghiệp.</a:t>
            </a:r>
            <a:endParaRPr sz="2400">
              <a:solidFill>
                <a:srgbClr val="1F1F1F"/>
              </a:solidFill>
            </a:endParaRPr>
          </a:p>
          <a:p>
            <a:pPr indent="0" lvl="0" marL="0" marR="0" rtl="0" algn="l">
              <a:spcBef>
                <a:spcPts val="0"/>
              </a:spcBef>
              <a:spcAft>
                <a:spcPts val="0"/>
              </a:spcAft>
              <a:buNone/>
            </a:pPr>
            <a:r>
              <a:t/>
            </a:r>
            <a:endParaRPr sz="2400">
              <a:solidFill>
                <a:srgbClr val="292929"/>
              </a:solidFill>
            </a:endParaRPr>
          </a:p>
        </p:txBody>
      </p:sp>
      <p:sp>
        <p:nvSpPr>
          <p:cNvPr id="774" name="Google Shape;774;ha90ac7004f693ea_0_29"/>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ha90ac7004f693ea_0_29"/>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ha90ac7004f693ea_0_29"/>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777" name="Google Shape;777;ha90ac7004f693ea_0_29"/>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778" name="Google Shape;778;ha90ac7004f693ea_0_29"/>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779" name="Google Shape;779;ha90ac7004f693ea_0_29"/>
          <p:cNvSpPr/>
          <p:nvPr/>
        </p:nvSpPr>
        <p:spPr>
          <a:xfrm>
            <a:off x="114300" y="4953000"/>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ha90ac7004f693ea_0_29"/>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04</a:t>
            </a:r>
            <a:endParaRPr/>
          </a:p>
        </p:txBody>
      </p:sp>
      <p:sp>
        <p:nvSpPr>
          <p:cNvPr id="781" name="Google Shape;781;ha90ac7004f693ea_0_29"/>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782" name="Google Shape;782;ha90ac7004f693ea_0_29"/>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787" name="Shape 787"/>
        <p:cNvGrpSpPr/>
        <p:nvPr/>
      </p:nvGrpSpPr>
      <p:grpSpPr>
        <a:xfrm>
          <a:off x="0" y="0"/>
          <a:ext cx="0" cy="0"/>
          <a:chOff x="0" y="0"/>
          <a:chExt cx="0" cy="0"/>
        </a:xfrm>
      </p:grpSpPr>
      <p:sp>
        <p:nvSpPr>
          <p:cNvPr id="788" name="Google Shape;788;p16"/>
          <p:cNvSpPr/>
          <p:nvPr/>
        </p:nvSpPr>
        <p:spPr>
          <a:xfrm>
            <a:off x="0" y="0"/>
            <a:ext cx="12192000" cy="66675"/>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6"/>
          <p:cNvSpPr/>
          <p:nvPr/>
        </p:nvSpPr>
        <p:spPr>
          <a:xfrm>
            <a:off x="0" y="66675"/>
            <a:ext cx="12192000" cy="47625"/>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6"/>
          <p:cNvSpPr/>
          <p:nvPr/>
        </p:nvSpPr>
        <p:spPr>
          <a:xfrm>
            <a:off x="0" y="0"/>
            <a:ext cx="85725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91" name="Google Shape;791;p16"/>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792" name="Google Shape;792;p16"/>
          <p:cNvSpPr/>
          <p:nvPr/>
        </p:nvSpPr>
        <p:spPr>
          <a:xfrm>
            <a:off x="409575" y="952500"/>
            <a:ext cx="19050" cy="59055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6"/>
          <p:cNvSpPr/>
          <p:nvPr/>
        </p:nvSpPr>
        <p:spPr>
          <a:xfrm>
            <a:off x="66675" y="1962150"/>
            <a:ext cx="714375" cy="2476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794" name="Google Shape;794;p16"/>
          <p:cNvSpPr/>
          <p:nvPr/>
        </p:nvSpPr>
        <p:spPr>
          <a:xfrm>
            <a:off x="114300" y="3476625"/>
            <a:ext cx="628650" cy="295275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6"/>
          <p:cNvSpPr/>
          <p:nvPr/>
        </p:nvSpPr>
        <p:spPr>
          <a:xfrm>
            <a:off x="171450" y="35909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796" name="Google Shape;796;p16"/>
          <p:cNvSpPr/>
          <p:nvPr/>
        </p:nvSpPr>
        <p:spPr>
          <a:xfrm>
            <a:off x="171450" y="40576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797" name="Google Shape;797;p16"/>
          <p:cNvSpPr/>
          <p:nvPr/>
        </p:nvSpPr>
        <p:spPr>
          <a:xfrm>
            <a:off x="171450" y="452437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798" name="Google Shape;798;p16"/>
          <p:cNvSpPr/>
          <p:nvPr/>
        </p:nvSpPr>
        <p:spPr>
          <a:xfrm>
            <a:off x="171450" y="499110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799" name="Google Shape;799;p16"/>
          <p:cNvSpPr/>
          <p:nvPr/>
        </p:nvSpPr>
        <p:spPr>
          <a:xfrm>
            <a:off x="114300" y="5419725"/>
            <a:ext cx="628650" cy="40005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6"/>
          <p:cNvSpPr/>
          <p:nvPr/>
        </p:nvSpPr>
        <p:spPr>
          <a:xfrm>
            <a:off x="171450" y="54578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05</a:t>
            </a:r>
            <a:endParaRPr/>
          </a:p>
        </p:txBody>
      </p:sp>
      <p:sp>
        <p:nvSpPr>
          <p:cNvPr id="801" name="Google Shape;801;p16"/>
          <p:cNvSpPr/>
          <p:nvPr/>
        </p:nvSpPr>
        <p:spPr>
          <a:xfrm>
            <a:off x="171450" y="59245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06</a:t>
            </a:r>
            <a:endParaRPr/>
          </a:p>
        </p:txBody>
      </p:sp>
      <p:sp>
        <p:nvSpPr>
          <p:cNvPr id="802" name="Google Shape;802;p16"/>
          <p:cNvSpPr/>
          <p:nvPr/>
        </p:nvSpPr>
        <p:spPr>
          <a:xfrm>
            <a:off x="1123950" y="6467475"/>
            <a:ext cx="10648950"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6"/>
          <p:cNvSpPr/>
          <p:nvPr/>
        </p:nvSpPr>
        <p:spPr>
          <a:xfrm>
            <a:off x="1143000" y="6553200"/>
            <a:ext cx="609600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804" name="Google Shape;804;p16"/>
          <p:cNvSpPr/>
          <p:nvPr/>
        </p:nvSpPr>
        <p:spPr>
          <a:xfrm>
            <a:off x="7810500" y="6553200"/>
            <a:ext cx="285750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805" name="Google Shape;805;p16"/>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21</a:t>
            </a:r>
            <a:endParaRPr/>
          </a:p>
        </p:txBody>
      </p:sp>
      <p:sp>
        <p:nvSpPr>
          <p:cNvPr id="806" name="Google Shape;806;p16"/>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550">
                <a:solidFill>
                  <a:srgbClr val="1F603A"/>
                </a:solidFill>
              </a:rPr>
              <a:t>Đánh giá: ưu </a:t>
            </a:r>
            <a:r>
              <a:rPr b="1" lang="en-US" sz="2550">
                <a:solidFill>
                  <a:srgbClr val="1F603A"/>
                </a:solidFill>
              </a:rPr>
              <a:t>điểm và hạn chế</a:t>
            </a:r>
            <a:endParaRPr b="1"/>
          </a:p>
        </p:txBody>
      </p:sp>
      <p:sp>
        <p:nvSpPr>
          <p:cNvPr id="807" name="Google Shape;807;p16"/>
          <p:cNvSpPr/>
          <p:nvPr/>
        </p:nvSpPr>
        <p:spPr>
          <a:xfrm>
            <a:off x="9620250" y="371475"/>
            <a:ext cx="200025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5</a:t>
            </a:r>
            <a:endParaRPr/>
          </a:p>
        </p:txBody>
      </p:sp>
      <p:sp>
        <p:nvSpPr>
          <p:cNvPr id="808" name="Google Shape;808;p16"/>
          <p:cNvSpPr/>
          <p:nvPr/>
        </p:nvSpPr>
        <p:spPr>
          <a:xfrm>
            <a:off x="1143000" y="847725"/>
            <a:ext cx="10620375"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6"/>
          <p:cNvSpPr/>
          <p:nvPr/>
        </p:nvSpPr>
        <p:spPr>
          <a:xfrm>
            <a:off x="1143000" y="1285875"/>
            <a:ext cx="5136300" cy="4280100"/>
          </a:xfrm>
          <a:prstGeom prst="roundRect">
            <a:avLst>
              <a:gd fmla="val 2286" name="adj"/>
            </a:avLst>
          </a:prstGeom>
          <a:solidFill>
            <a:srgbClr val="FFFFFF"/>
          </a:solidFill>
          <a:ln cap="flat" cmpd="sng" w="14525">
            <a:solidFill>
              <a:srgbClr val="D9E1E6"/>
            </a:solidFill>
            <a:prstDash val="solid"/>
            <a:round/>
            <a:headEnd len="sm" w="sm" type="none"/>
            <a:tailEnd len="sm" w="sm" type="none"/>
          </a:ln>
        </p:spPr>
        <p:txBody>
          <a:bodyPr anchorCtr="0" anchor="ctr" bIns="93025" lIns="93025" spcFirstLastPara="1" rIns="93025" wrap="square" tIns="93025">
            <a:noAutofit/>
          </a:bodyPr>
          <a:lstStyle/>
          <a:p>
            <a:pPr indent="0" lvl="0" marL="0" rtl="0" algn="l">
              <a:spcBef>
                <a:spcPts val="0"/>
              </a:spcBef>
              <a:spcAft>
                <a:spcPts val="0"/>
              </a:spcAft>
              <a:buNone/>
            </a:pPr>
            <a:r>
              <a:t/>
            </a:r>
            <a:endParaRPr/>
          </a:p>
        </p:txBody>
      </p:sp>
      <p:sp>
        <p:nvSpPr>
          <p:cNvPr id="810" name="Google Shape;810;p16"/>
          <p:cNvSpPr/>
          <p:nvPr/>
        </p:nvSpPr>
        <p:spPr>
          <a:xfrm>
            <a:off x="1143000" y="1285875"/>
            <a:ext cx="58200" cy="3941100"/>
          </a:xfrm>
          <a:prstGeom prst="rect">
            <a:avLst/>
          </a:prstGeom>
          <a:solidFill>
            <a:srgbClr val="1F603A"/>
          </a:solidFill>
          <a:ln>
            <a:noFill/>
          </a:ln>
        </p:spPr>
        <p:txBody>
          <a:bodyPr anchorCtr="0" anchor="ctr" bIns="93025" lIns="93025" spcFirstLastPara="1" rIns="93025" wrap="square" tIns="93025">
            <a:noAutofit/>
          </a:bodyPr>
          <a:lstStyle/>
          <a:p>
            <a:pPr indent="0" lvl="0" marL="0" rtl="0" algn="l">
              <a:spcBef>
                <a:spcPts val="0"/>
              </a:spcBef>
              <a:spcAft>
                <a:spcPts val="0"/>
              </a:spcAft>
              <a:buNone/>
            </a:pPr>
            <a:r>
              <a:t/>
            </a:r>
            <a:endParaRPr/>
          </a:p>
        </p:txBody>
      </p:sp>
      <p:sp>
        <p:nvSpPr>
          <p:cNvPr id="811" name="Google Shape;811;p16"/>
          <p:cNvSpPr/>
          <p:nvPr/>
        </p:nvSpPr>
        <p:spPr>
          <a:xfrm>
            <a:off x="1356208" y="1460318"/>
            <a:ext cx="4768200" cy="329400"/>
          </a:xfrm>
          <a:prstGeom prst="rect">
            <a:avLst/>
          </a:prstGeom>
          <a:noFill/>
          <a:ln>
            <a:noFill/>
          </a:ln>
        </p:spPr>
        <p:txBody>
          <a:bodyPr anchorCtr="0" anchor="t" bIns="46500" lIns="93025" spcFirstLastPara="1" rIns="93025" wrap="square" tIns="46500">
            <a:noAutofit/>
          </a:bodyPr>
          <a:lstStyle/>
          <a:p>
            <a:pPr indent="0" lvl="0" marL="0" marR="0" rtl="0" algn="l">
              <a:spcBef>
                <a:spcPts val="0"/>
              </a:spcBef>
              <a:spcAft>
                <a:spcPts val="0"/>
              </a:spcAft>
              <a:buNone/>
            </a:pPr>
            <a:r>
              <a:rPr b="1" i="0" lang="en-US" sz="2060">
                <a:solidFill>
                  <a:srgbClr val="1F603A"/>
                </a:solidFill>
                <a:latin typeface="Arial"/>
                <a:ea typeface="Arial"/>
                <a:cs typeface="Arial"/>
                <a:sym typeface="Arial"/>
              </a:rPr>
              <a:t>Ưu điểm</a:t>
            </a:r>
            <a:endParaRPr sz="1424"/>
          </a:p>
        </p:txBody>
      </p:sp>
      <p:sp>
        <p:nvSpPr>
          <p:cNvPr id="812" name="Google Shape;812;p16"/>
          <p:cNvSpPr/>
          <p:nvPr/>
        </p:nvSpPr>
        <p:spPr>
          <a:xfrm>
            <a:off x="1356200" y="1886725"/>
            <a:ext cx="4646100" cy="3027900"/>
          </a:xfrm>
          <a:prstGeom prst="rect">
            <a:avLst/>
          </a:prstGeom>
          <a:noFill/>
          <a:ln>
            <a:noFill/>
          </a:ln>
        </p:spPr>
        <p:txBody>
          <a:bodyPr anchorCtr="0" anchor="t" bIns="46500" lIns="93025" spcFirstLastPara="1" rIns="93025" wrap="square" tIns="46500">
            <a:noAutofit/>
          </a:bodyPr>
          <a:lstStyle/>
          <a:p>
            <a:pPr indent="0" lvl="0" marL="0" marR="0" rtl="0" algn="l">
              <a:spcBef>
                <a:spcPts val="0"/>
              </a:spcBef>
              <a:spcAft>
                <a:spcPts val="0"/>
              </a:spcAft>
              <a:buNone/>
            </a:pPr>
            <a:r>
              <a:rPr b="0" i="0" lang="en-US" sz="2400">
                <a:solidFill>
                  <a:srgbClr val="292929"/>
                </a:solidFill>
                <a:latin typeface="Arial"/>
                <a:ea typeface="Arial"/>
                <a:cs typeface="Arial"/>
                <a:sym typeface="Arial"/>
              </a:rPr>
              <a:t>Định lượng được khả năng tái sử dụng.</a:t>
            </a:r>
            <a:endParaRPr sz="2400"/>
          </a:p>
          <a:p>
            <a:pPr indent="0" lvl="0" marL="0" marR="0" rtl="0" algn="l">
              <a:spcBef>
                <a:spcPts val="0"/>
              </a:spcBef>
              <a:spcAft>
                <a:spcPts val="0"/>
              </a:spcAft>
              <a:buNone/>
            </a:pPr>
            <a:r>
              <a:t/>
            </a:r>
            <a:endParaRPr b="0" i="0" sz="2400">
              <a:solidFill>
                <a:srgbClr val="292929"/>
              </a:solidFill>
              <a:latin typeface="Arial"/>
              <a:ea typeface="Arial"/>
              <a:cs typeface="Arial"/>
              <a:sym typeface="Arial"/>
            </a:endParaRPr>
          </a:p>
          <a:p>
            <a:pPr indent="0" lvl="0" marL="0" marR="0" rtl="0" algn="l">
              <a:spcBef>
                <a:spcPts val="0"/>
              </a:spcBef>
              <a:spcAft>
                <a:spcPts val="0"/>
              </a:spcAft>
              <a:buNone/>
            </a:pPr>
            <a:r>
              <a:rPr lang="en-US" sz="2400">
                <a:solidFill>
                  <a:srgbClr val="292929"/>
                </a:solidFill>
              </a:rPr>
              <a:t>Thực nghiệm quy mô lớn</a:t>
            </a:r>
            <a:endParaRPr sz="2400">
              <a:solidFill>
                <a:srgbClr val="292929"/>
              </a:solidFill>
            </a:endParaRPr>
          </a:p>
          <a:p>
            <a:pPr indent="0" lvl="0" marL="0" marR="0" rtl="0" algn="l">
              <a:spcBef>
                <a:spcPts val="0"/>
              </a:spcBef>
              <a:spcAft>
                <a:spcPts val="0"/>
              </a:spcAft>
              <a:buNone/>
            </a:pPr>
            <a:r>
              <a:t/>
            </a:r>
            <a:endParaRPr sz="2400">
              <a:solidFill>
                <a:srgbClr val="292929"/>
              </a:solidFill>
            </a:endParaRPr>
          </a:p>
          <a:p>
            <a:pPr indent="0" lvl="0" marL="0" marR="0" rtl="0" algn="l">
              <a:spcBef>
                <a:spcPts val="0"/>
              </a:spcBef>
              <a:spcAft>
                <a:spcPts val="0"/>
              </a:spcAft>
              <a:buNone/>
            </a:pPr>
            <a:r>
              <a:rPr lang="en-US" sz="2400">
                <a:solidFill>
                  <a:srgbClr val="292929"/>
                </a:solidFill>
              </a:rPr>
              <a:t>Khảo sát nhiều biến số, đa chiều</a:t>
            </a:r>
            <a:endParaRPr sz="2400">
              <a:solidFill>
                <a:srgbClr val="292929"/>
              </a:solidFill>
            </a:endParaRPr>
          </a:p>
          <a:p>
            <a:pPr indent="0" lvl="0" marL="0" marR="0" rtl="0" algn="l">
              <a:spcBef>
                <a:spcPts val="0"/>
              </a:spcBef>
              <a:spcAft>
                <a:spcPts val="0"/>
              </a:spcAft>
              <a:buNone/>
            </a:pPr>
            <a:r>
              <a:t/>
            </a:r>
            <a:endParaRPr sz="2400">
              <a:solidFill>
                <a:srgbClr val="292929"/>
              </a:solidFill>
            </a:endParaRPr>
          </a:p>
          <a:p>
            <a:pPr indent="0" lvl="0" marL="0" marR="0" rtl="0" algn="l">
              <a:spcBef>
                <a:spcPts val="0"/>
              </a:spcBef>
              <a:spcAft>
                <a:spcPts val="0"/>
              </a:spcAft>
              <a:buNone/>
            </a:pPr>
            <a:r>
              <a:rPr lang="en-US" sz="2400">
                <a:solidFill>
                  <a:srgbClr val="292929"/>
                </a:solidFill>
              </a:rPr>
              <a:t>Tính ứng dụng cao</a:t>
            </a:r>
            <a:endParaRPr b="1" sz="2400">
              <a:solidFill>
                <a:srgbClr val="292929"/>
              </a:solidFill>
            </a:endParaRPr>
          </a:p>
        </p:txBody>
      </p:sp>
      <p:sp>
        <p:nvSpPr>
          <p:cNvPr id="813" name="Google Shape;813;p16"/>
          <p:cNvSpPr/>
          <p:nvPr/>
        </p:nvSpPr>
        <p:spPr>
          <a:xfrm>
            <a:off x="6699450" y="1279950"/>
            <a:ext cx="5291400" cy="4280100"/>
          </a:xfrm>
          <a:prstGeom prst="roundRect">
            <a:avLst>
              <a:gd fmla="val 2286" name="adj"/>
            </a:avLst>
          </a:prstGeom>
          <a:solidFill>
            <a:srgbClr val="FFFFFF"/>
          </a:solidFill>
          <a:ln cap="flat" cmpd="sng" w="14525">
            <a:solidFill>
              <a:srgbClr val="D9E1E6"/>
            </a:solidFill>
            <a:prstDash val="solid"/>
            <a:round/>
            <a:headEnd len="sm" w="sm" type="none"/>
            <a:tailEnd len="sm" w="sm" type="none"/>
          </a:ln>
        </p:spPr>
        <p:txBody>
          <a:bodyPr anchorCtr="0" anchor="ctr" bIns="93025" lIns="93025" spcFirstLastPara="1" rIns="93025" wrap="square" tIns="93025">
            <a:noAutofit/>
          </a:bodyPr>
          <a:lstStyle/>
          <a:p>
            <a:pPr indent="0" lvl="0" marL="0" rtl="0" algn="l">
              <a:spcBef>
                <a:spcPts val="0"/>
              </a:spcBef>
              <a:spcAft>
                <a:spcPts val="0"/>
              </a:spcAft>
              <a:buNone/>
            </a:pPr>
            <a:r>
              <a:t/>
            </a:r>
            <a:endParaRPr/>
          </a:p>
        </p:txBody>
      </p:sp>
      <p:sp>
        <p:nvSpPr>
          <p:cNvPr id="814" name="Google Shape;814;p16"/>
          <p:cNvSpPr/>
          <p:nvPr/>
        </p:nvSpPr>
        <p:spPr>
          <a:xfrm>
            <a:off x="6641252" y="1260913"/>
            <a:ext cx="58200" cy="3972000"/>
          </a:xfrm>
          <a:prstGeom prst="rect">
            <a:avLst/>
          </a:prstGeom>
          <a:solidFill>
            <a:srgbClr val="D9282F"/>
          </a:solidFill>
          <a:ln>
            <a:noFill/>
          </a:ln>
        </p:spPr>
        <p:txBody>
          <a:bodyPr anchorCtr="0" anchor="ctr" bIns="93025" lIns="93025" spcFirstLastPara="1" rIns="93025" wrap="square" tIns="93025">
            <a:noAutofit/>
          </a:bodyPr>
          <a:lstStyle/>
          <a:p>
            <a:pPr indent="0" lvl="0" marL="0" rtl="0" algn="l">
              <a:spcBef>
                <a:spcPts val="0"/>
              </a:spcBef>
              <a:spcAft>
                <a:spcPts val="0"/>
              </a:spcAft>
              <a:buNone/>
            </a:pPr>
            <a:r>
              <a:t/>
            </a:r>
            <a:endParaRPr/>
          </a:p>
        </p:txBody>
      </p:sp>
      <p:sp>
        <p:nvSpPr>
          <p:cNvPr id="815" name="Google Shape;815;p16"/>
          <p:cNvSpPr/>
          <p:nvPr/>
        </p:nvSpPr>
        <p:spPr>
          <a:xfrm>
            <a:off x="6854449" y="1435356"/>
            <a:ext cx="5010300" cy="329400"/>
          </a:xfrm>
          <a:prstGeom prst="rect">
            <a:avLst/>
          </a:prstGeom>
          <a:noFill/>
          <a:ln>
            <a:noFill/>
          </a:ln>
        </p:spPr>
        <p:txBody>
          <a:bodyPr anchorCtr="0" anchor="t" bIns="46500" lIns="93025" spcFirstLastPara="1" rIns="93025" wrap="square" tIns="46500">
            <a:noAutofit/>
          </a:bodyPr>
          <a:lstStyle/>
          <a:p>
            <a:pPr indent="0" lvl="0" marL="0" marR="0" rtl="0" algn="l">
              <a:spcBef>
                <a:spcPts val="0"/>
              </a:spcBef>
              <a:spcAft>
                <a:spcPts val="0"/>
              </a:spcAft>
              <a:buNone/>
            </a:pPr>
            <a:r>
              <a:rPr b="1" lang="en-US" sz="2060">
                <a:solidFill>
                  <a:srgbClr val="D9282F"/>
                </a:solidFill>
              </a:rPr>
              <a:t>Hạn chế</a:t>
            </a:r>
            <a:endParaRPr sz="1424"/>
          </a:p>
        </p:txBody>
      </p:sp>
      <p:sp>
        <p:nvSpPr>
          <p:cNvPr id="816" name="Google Shape;816;p16"/>
          <p:cNvSpPr/>
          <p:nvPr/>
        </p:nvSpPr>
        <p:spPr>
          <a:xfrm>
            <a:off x="6854450" y="1861775"/>
            <a:ext cx="5136300" cy="3558000"/>
          </a:xfrm>
          <a:prstGeom prst="rect">
            <a:avLst/>
          </a:prstGeom>
          <a:noFill/>
          <a:ln>
            <a:noFill/>
          </a:ln>
        </p:spPr>
        <p:txBody>
          <a:bodyPr anchorCtr="0" anchor="t" bIns="46500" lIns="93025" spcFirstLastPara="1" rIns="93025" wrap="square" tIns="46500">
            <a:noAutofit/>
          </a:bodyPr>
          <a:lstStyle/>
          <a:p>
            <a:pPr indent="0" lvl="0" marL="0" marR="0" rtl="0" algn="l">
              <a:spcBef>
                <a:spcPts val="0"/>
              </a:spcBef>
              <a:spcAft>
                <a:spcPts val="0"/>
              </a:spcAft>
              <a:buNone/>
            </a:pPr>
            <a:r>
              <a:rPr lang="en-US" sz="2300">
                <a:solidFill>
                  <a:srgbClr val="292929"/>
                </a:solidFill>
              </a:rPr>
              <a:t>Phụ thuộc vào bảng phân loại danh mục (WCT) </a:t>
            </a:r>
            <a:endParaRPr sz="2300">
              <a:solidFill>
                <a:srgbClr val="292929"/>
              </a:solidFill>
            </a:endParaRPr>
          </a:p>
          <a:p>
            <a:pPr indent="0" lvl="0" marL="0" marR="0" rtl="0" algn="l">
              <a:spcBef>
                <a:spcPts val="0"/>
              </a:spcBef>
              <a:spcAft>
                <a:spcPts val="0"/>
              </a:spcAft>
              <a:buNone/>
            </a:pPr>
            <a:r>
              <a:t/>
            </a:r>
            <a:endParaRPr sz="2300">
              <a:solidFill>
                <a:srgbClr val="292929"/>
              </a:solidFill>
            </a:endParaRPr>
          </a:p>
          <a:p>
            <a:pPr indent="0" lvl="0" marL="0" marR="0" rtl="0" algn="l">
              <a:spcBef>
                <a:spcPts val="0"/>
              </a:spcBef>
              <a:spcAft>
                <a:spcPts val="0"/>
              </a:spcAft>
              <a:buNone/>
            </a:pPr>
            <a:r>
              <a:rPr lang="en-US" sz="2300">
                <a:solidFill>
                  <a:srgbClr val="292929"/>
                </a:solidFill>
              </a:rPr>
              <a:t>Dữ liệu mới thử nghiệm tại một địa điểm</a:t>
            </a:r>
            <a:endParaRPr sz="2300">
              <a:solidFill>
                <a:srgbClr val="292929"/>
              </a:solidFill>
            </a:endParaRPr>
          </a:p>
          <a:p>
            <a:pPr indent="0" lvl="0" marL="0" marR="0" rtl="0" algn="l">
              <a:spcBef>
                <a:spcPts val="0"/>
              </a:spcBef>
              <a:spcAft>
                <a:spcPts val="0"/>
              </a:spcAft>
              <a:buNone/>
            </a:pPr>
            <a:r>
              <a:t/>
            </a:r>
            <a:endParaRPr sz="2300">
              <a:solidFill>
                <a:srgbClr val="292929"/>
              </a:solidFill>
            </a:endParaRPr>
          </a:p>
          <a:p>
            <a:pPr indent="0" lvl="0" marL="0" marR="0" rtl="0" algn="l">
              <a:spcBef>
                <a:spcPts val="0"/>
              </a:spcBef>
              <a:spcAft>
                <a:spcPts val="0"/>
              </a:spcAft>
              <a:buNone/>
            </a:pPr>
            <a:r>
              <a:rPr lang="en-US" sz="2300">
                <a:solidFill>
                  <a:srgbClr val="292929"/>
                </a:solidFill>
              </a:rPr>
              <a:t>Chưa tích hợp các yếu tố phi thời tiết</a:t>
            </a:r>
            <a:endParaRPr sz="2300">
              <a:solidFill>
                <a:srgbClr val="292929"/>
              </a:solidFill>
            </a:endParaRPr>
          </a:p>
          <a:p>
            <a:pPr indent="0" lvl="0" marL="0" marR="0" rtl="0" algn="l">
              <a:spcBef>
                <a:spcPts val="0"/>
              </a:spcBef>
              <a:spcAft>
                <a:spcPts val="0"/>
              </a:spcAft>
              <a:buNone/>
            </a:pPr>
            <a:r>
              <a:t/>
            </a:r>
            <a:endParaRPr sz="2300">
              <a:solidFill>
                <a:srgbClr val="292929"/>
              </a:solidFill>
            </a:endParaRPr>
          </a:p>
          <a:p>
            <a:pPr indent="0" lvl="0" marL="0" marR="0" rtl="0" algn="l">
              <a:spcBef>
                <a:spcPts val="0"/>
              </a:spcBef>
              <a:spcAft>
                <a:spcPts val="0"/>
              </a:spcAft>
              <a:buNone/>
            </a:pPr>
            <a:r>
              <a:rPr lang="en-US" sz="2300">
                <a:solidFill>
                  <a:srgbClr val="292929"/>
                </a:solidFill>
              </a:rPr>
              <a:t>Hạn chế ở chu kỳ ngắn khi nhiều biến  </a:t>
            </a:r>
            <a:endParaRPr sz="2300">
              <a:solidFill>
                <a:srgbClr val="29292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821" name="Shape 821"/>
        <p:cNvGrpSpPr/>
        <p:nvPr/>
      </p:nvGrpSpPr>
      <p:grpSpPr>
        <a:xfrm>
          <a:off x="0" y="0"/>
          <a:ext cx="0" cy="0"/>
          <a:chOff x="0" y="0"/>
          <a:chExt cx="0" cy="0"/>
        </a:xfrm>
      </p:grpSpPr>
      <p:sp>
        <p:nvSpPr>
          <p:cNvPr id="822" name="Google Shape;822;h51ca6e53a632996d_0_226"/>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h51ca6e53a632996d_0_226"/>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24" name="Google Shape;824;h51ca6e53a632996d_0_226"/>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825" name="Google Shape;825;h51ca6e53a632996d_0_226"/>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h51ca6e53a632996d_0_226"/>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827" name="Google Shape;827;h51ca6e53a632996d_0_226"/>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h51ca6e53a632996d_0_226"/>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829" name="Google Shape;829;h51ca6e53a632996d_0_226"/>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830" name="Google Shape;830;h51ca6e53a632996d_0_226"/>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22</a:t>
            </a:r>
            <a:endParaRPr/>
          </a:p>
        </p:txBody>
      </p:sp>
      <p:sp>
        <p:nvSpPr>
          <p:cNvPr id="831" name="Google Shape;831;h51ca6e53a632996d_0_226"/>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00">
                <a:solidFill>
                  <a:srgbClr val="1F603A"/>
                </a:solidFill>
              </a:rPr>
              <a:t>Đóng góp khoa học</a:t>
            </a:r>
            <a:endParaRPr b="1" sz="2500"/>
          </a:p>
        </p:txBody>
      </p:sp>
      <p:sp>
        <p:nvSpPr>
          <p:cNvPr id="832" name="Google Shape;832;h51ca6e53a632996d_0_226"/>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a:t>
            </a:r>
            <a:r>
              <a:rPr lang="en-US" sz="1200">
                <a:solidFill>
                  <a:srgbClr val="68727A"/>
                </a:solidFill>
              </a:rPr>
              <a:t>5</a:t>
            </a:r>
            <a:endParaRPr/>
          </a:p>
        </p:txBody>
      </p:sp>
      <p:sp>
        <p:nvSpPr>
          <p:cNvPr id="833" name="Google Shape;833;h51ca6e53a632996d_0_226"/>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h51ca6e53a632996d_0_226"/>
          <p:cNvSpPr/>
          <p:nvPr/>
        </p:nvSpPr>
        <p:spPr>
          <a:xfrm>
            <a:off x="1143000" y="1285875"/>
            <a:ext cx="10620300" cy="4905300"/>
          </a:xfrm>
          <a:prstGeom prst="roundRect">
            <a:avLst>
              <a:gd fmla="val 2286" name="adj"/>
            </a:avLst>
          </a:prstGeom>
          <a:solidFill>
            <a:srgbClr val="FFFFFF"/>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h51ca6e53a632996d_0_226"/>
          <p:cNvSpPr/>
          <p:nvPr/>
        </p:nvSpPr>
        <p:spPr>
          <a:xfrm flipH="1">
            <a:off x="1095300" y="1285875"/>
            <a:ext cx="19200" cy="49053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h51ca6e53a632996d_0_226"/>
          <p:cNvSpPr/>
          <p:nvPr/>
        </p:nvSpPr>
        <p:spPr>
          <a:xfrm>
            <a:off x="1428825" y="1478625"/>
            <a:ext cx="10239300" cy="4519800"/>
          </a:xfrm>
          <a:prstGeom prst="rect">
            <a:avLst/>
          </a:prstGeom>
          <a:noFill/>
          <a:ln>
            <a:noFill/>
          </a:ln>
        </p:spPr>
        <p:txBody>
          <a:bodyPr anchorCtr="0" anchor="t" bIns="45700" lIns="91425" spcFirstLastPara="1" rIns="91425" wrap="square" tIns="45700">
            <a:noAutofit/>
          </a:bodyPr>
          <a:lstStyle/>
          <a:p>
            <a:pPr indent="-381000" lvl="0" marL="457200" rtl="0" algn="just">
              <a:lnSpc>
                <a:spcPct val="115000"/>
              </a:lnSpc>
              <a:spcBef>
                <a:spcPts val="0"/>
              </a:spcBef>
              <a:spcAft>
                <a:spcPts val="0"/>
              </a:spcAft>
              <a:buClr>
                <a:srgbClr val="1F1F1F"/>
              </a:buClr>
              <a:buSzPts val="2400"/>
              <a:buChar char="●"/>
            </a:pPr>
            <a:r>
              <a:rPr b="1" lang="en-US" sz="2400">
                <a:solidFill>
                  <a:srgbClr val="1F1F1F"/>
                </a:solidFill>
              </a:rPr>
              <a:t>Đề xuất khái niệm CWC (Category-based Weather Condition):</a:t>
            </a:r>
            <a:r>
              <a:rPr lang="en-US" sz="2400">
                <a:solidFill>
                  <a:srgbClr val="1F1F1F"/>
                </a:solidFill>
              </a:rPr>
              <a:t> Thay thế giá trị số thực bằng phân loại danh mục theo ngữ cảnh chuyên môn, giải quyết triệt để vấn đề không thể tìm thấy điều kiện thời tiết tương đồng trong thực tế.</a:t>
            </a:r>
            <a:endParaRPr sz="2400">
              <a:solidFill>
                <a:srgbClr val="1F1F1F"/>
              </a:solidFill>
            </a:endParaRPr>
          </a:p>
          <a:p>
            <a:pPr indent="0" lvl="0" marL="457200" rtl="0" algn="just">
              <a:lnSpc>
                <a:spcPct val="115000"/>
              </a:lnSpc>
              <a:spcBef>
                <a:spcPts val="0"/>
              </a:spcBef>
              <a:spcAft>
                <a:spcPts val="0"/>
              </a:spcAft>
              <a:buNone/>
            </a:pPr>
            <a:r>
              <a:t/>
            </a:r>
            <a:endParaRPr sz="2400">
              <a:solidFill>
                <a:srgbClr val="1F1F1F"/>
              </a:solidFill>
            </a:endParaRPr>
          </a:p>
          <a:p>
            <a:pPr indent="-381000" lvl="0" marL="457200" rtl="0" algn="just">
              <a:lnSpc>
                <a:spcPct val="115000"/>
              </a:lnSpc>
              <a:spcBef>
                <a:spcPts val="0"/>
              </a:spcBef>
              <a:spcAft>
                <a:spcPts val="0"/>
              </a:spcAft>
              <a:buClr>
                <a:srgbClr val="1F1F1F"/>
              </a:buClr>
              <a:buSzPts val="2400"/>
              <a:buChar char="●"/>
            </a:pPr>
            <a:r>
              <a:rPr b="1" lang="en-US" sz="2400">
                <a:solidFill>
                  <a:srgbClr val="1F1F1F"/>
                </a:solidFill>
              </a:rPr>
              <a:t>Xây dựng khung phương pháp luận và độ đo CP (Coverage Percentage):</a:t>
            </a:r>
            <a:r>
              <a:rPr lang="en-US" sz="2400">
                <a:solidFill>
                  <a:srgbClr val="1F1F1F"/>
                </a:solidFill>
              </a:rPr>
              <a:t> Cung cấp thuật toán và công thức định lượng mức độ tái sử dụng các khuyến nghị nông nghiệp qua các chu kỳ thời gian khác nhau.</a:t>
            </a:r>
            <a:endParaRPr b="1" sz="2400">
              <a:solidFill>
                <a:srgbClr val="1F1F1F"/>
              </a:solidFill>
            </a:endParaRPr>
          </a:p>
        </p:txBody>
      </p:sp>
      <p:sp>
        <p:nvSpPr>
          <p:cNvPr id="837" name="Google Shape;837;h51ca6e53a632996d_0_226"/>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h51ca6e53a632996d_0_226"/>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h51ca6e53a632996d_0_226"/>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840" name="Google Shape;840;h51ca6e53a632996d_0_226"/>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841" name="Google Shape;841;h51ca6e53a632996d_0_226"/>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842" name="Google Shape;842;h51ca6e53a632996d_0_226"/>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843" name="Google Shape;843;h51ca6e53a632996d_0_226"/>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844" name="Google Shape;844;h51ca6e53a632996d_0_226"/>
          <p:cNvSpPr/>
          <p:nvPr/>
        </p:nvSpPr>
        <p:spPr>
          <a:xfrm>
            <a:off x="114300" y="5886450"/>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h51ca6e53a632996d_0_226"/>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06</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850" name="Shape 850"/>
        <p:cNvGrpSpPr/>
        <p:nvPr/>
      </p:nvGrpSpPr>
      <p:grpSpPr>
        <a:xfrm>
          <a:off x="0" y="0"/>
          <a:ext cx="0" cy="0"/>
          <a:chOff x="0" y="0"/>
          <a:chExt cx="0" cy="0"/>
        </a:xfrm>
      </p:grpSpPr>
      <p:sp>
        <p:nvSpPr>
          <p:cNvPr id="851" name="Google Shape;851;ha90ac7004f693ea_0_0"/>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ha90ac7004f693ea_0_0"/>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3" name="Google Shape;853;ha90ac7004f693ea_0_0"/>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854" name="Google Shape;854;ha90ac7004f693ea_0_0"/>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ha90ac7004f693ea_0_0"/>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856" name="Google Shape;856;ha90ac7004f693ea_0_0"/>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ha90ac7004f693ea_0_0"/>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858" name="Google Shape;858;ha90ac7004f693ea_0_0"/>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859" name="Google Shape;859;ha90ac7004f693ea_0_0"/>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23</a:t>
            </a:r>
            <a:endParaRPr/>
          </a:p>
        </p:txBody>
      </p:sp>
      <p:sp>
        <p:nvSpPr>
          <p:cNvPr id="860" name="Google Shape;860;ha90ac7004f693ea_0_0"/>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00">
                <a:solidFill>
                  <a:srgbClr val="1F603A"/>
                </a:solidFill>
              </a:rPr>
              <a:t>Đóng góp khoa học</a:t>
            </a:r>
            <a:endParaRPr b="1" sz="2500"/>
          </a:p>
        </p:txBody>
      </p:sp>
      <p:sp>
        <p:nvSpPr>
          <p:cNvPr id="861" name="Google Shape;861;ha90ac7004f693ea_0_0"/>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a:t>
            </a:r>
            <a:r>
              <a:rPr lang="en-US" sz="1200">
                <a:solidFill>
                  <a:srgbClr val="68727A"/>
                </a:solidFill>
              </a:rPr>
              <a:t>5</a:t>
            </a:r>
            <a:endParaRPr/>
          </a:p>
        </p:txBody>
      </p:sp>
      <p:sp>
        <p:nvSpPr>
          <p:cNvPr id="862" name="Google Shape;862;ha90ac7004f693ea_0_0"/>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ha90ac7004f693ea_0_0"/>
          <p:cNvSpPr/>
          <p:nvPr/>
        </p:nvSpPr>
        <p:spPr>
          <a:xfrm>
            <a:off x="1143000" y="1285875"/>
            <a:ext cx="10620300" cy="4905300"/>
          </a:xfrm>
          <a:prstGeom prst="roundRect">
            <a:avLst>
              <a:gd fmla="val 2286" name="adj"/>
            </a:avLst>
          </a:prstGeom>
          <a:solidFill>
            <a:srgbClr val="FFFFFF"/>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ha90ac7004f693ea_0_0"/>
          <p:cNvSpPr/>
          <p:nvPr/>
        </p:nvSpPr>
        <p:spPr>
          <a:xfrm flipH="1">
            <a:off x="1095300" y="1285875"/>
            <a:ext cx="19200" cy="49053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ha90ac7004f693ea_0_0"/>
          <p:cNvSpPr/>
          <p:nvPr/>
        </p:nvSpPr>
        <p:spPr>
          <a:xfrm>
            <a:off x="1428825" y="1478625"/>
            <a:ext cx="10239300" cy="4519800"/>
          </a:xfrm>
          <a:prstGeom prst="rect">
            <a:avLst/>
          </a:prstGeom>
          <a:noFill/>
          <a:ln>
            <a:noFill/>
          </a:ln>
        </p:spPr>
        <p:txBody>
          <a:bodyPr anchorCtr="0" anchor="t" bIns="45700" lIns="91425" spcFirstLastPara="1" rIns="91425" wrap="square" tIns="45700">
            <a:noAutofit/>
          </a:bodyPr>
          <a:lstStyle/>
          <a:p>
            <a:pPr indent="-381000" lvl="0" marL="457200" rtl="0" algn="just">
              <a:lnSpc>
                <a:spcPct val="115000"/>
              </a:lnSpc>
              <a:spcBef>
                <a:spcPts val="0"/>
              </a:spcBef>
              <a:spcAft>
                <a:spcPts val="0"/>
              </a:spcAft>
              <a:buClr>
                <a:srgbClr val="1F1F1F"/>
              </a:buClr>
              <a:buSzPts val="2400"/>
              <a:buChar char="●"/>
            </a:pPr>
            <a:r>
              <a:rPr b="1" lang="en-US" sz="2400">
                <a:solidFill>
                  <a:srgbClr val="1F1F1F"/>
                </a:solidFill>
              </a:rPr>
              <a:t>Chứng minh thực nghiệm quy mô lớn trên 30 năm dữ liệu:</a:t>
            </a:r>
            <a:r>
              <a:rPr lang="en-US" sz="2400">
                <a:solidFill>
                  <a:srgbClr val="1F1F1F"/>
                </a:solidFill>
              </a:rPr>
              <a:t> Khẳng định tính khả thi của mô hình khi đạt độ phủ 80% – 100%, tìm ra cấu hình 3 biến tối ưu và làm rõ quy luật tích lũy dữ liệu theo năm, mùa vụ và giai đoạn sinh trưởng của cây trồng.</a:t>
            </a:r>
            <a:endParaRPr sz="2400">
              <a:solidFill>
                <a:srgbClr val="1F1F1F"/>
              </a:solidFill>
            </a:endParaRPr>
          </a:p>
          <a:p>
            <a:pPr indent="0" lvl="0" marL="0" rtl="0" algn="just">
              <a:lnSpc>
                <a:spcPct val="115000"/>
              </a:lnSpc>
              <a:spcBef>
                <a:spcPts val="0"/>
              </a:spcBef>
              <a:spcAft>
                <a:spcPts val="0"/>
              </a:spcAft>
              <a:buNone/>
            </a:pPr>
            <a:r>
              <a:t/>
            </a:r>
            <a:endParaRPr sz="2400">
              <a:solidFill>
                <a:srgbClr val="1F1F1F"/>
              </a:solidFill>
            </a:endParaRPr>
          </a:p>
          <a:p>
            <a:pPr indent="-381000" lvl="0" marL="457200" rtl="0" algn="just">
              <a:lnSpc>
                <a:spcPct val="115000"/>
              </a:lnSpc>
              <a:spcBef>
                <a:spcPts val="0"/>
              </a:spcBef>
              <a:spcAft>
                <a:spcPts val="0"/>
              </a:spcAft>
              <a:buClr>
                <a:srgbClr val="1F1F1F"/>
              </a:buClr>
              <a:buSzPts val="2400"/>
              <a:buChar char="●"/>
            </a:pPr>
            <a:r>
              <a:rPr b="1" lang="en-US" sz="2400">
                <a:solidFill>
                  <a:srgbClr val="1F1F1F"/>
                </a:solidFill>
              </a:rPr>
              <a:t>Định hình mô hình vận hành mới cho hệ thống DSS:</a:t>
            </a:r>
            <a:r>
              <a:rPr lang="en-US" sz="2400">
                <a:solidFill>
                  <a:srgbClr val="1F1F1F"/>
                </a:solidFill>
              </a:rPr>
              <a:t> Chuyển đổi từ việc chuyên gia phải soạn khuyến nghị thủ công liên tục sang mô hình chuẩn hóa kho tri thức để tái sử dụng tự động, giúp cắt giảm chi phí và nâng cao chất lượng tư vấn.</a:t>
            </a:r>
            <a:endParaRPr b="1" sz="2400">
              <a:solidFill>
                <a:srgbClr val="1F1F1F"/>
              </a:solidFill>
            </a:endParaRPr>
          </a:p>
        </p:txBody>
      </p:sp>
      <p:sp>
        <p:nvSpPr>
          <p:cNvPr id="866" name="Google Shape;866;ha90ac7004f693ea_0_0"/>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ha90ac7004f693ea_0_0"/>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ha90ac7004f693ea_0_0"/>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869" name="Google Shape;869;ha90ac7004f693ea_0_0"/>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870" name="Google Shape;870;ha90ac7004f693ea_0_0"/>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871" name="Google Shape;871;ha90ac7004f693ea_0_0"/>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872" name="Google Shape;872;ha90ac7004f693ea_0_0"/>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873" name="Google Shape;873;ha90ac7004f693ea_0_0"/>
          <p:cNvSpPr/>
          <p:nvPr/>
        </p:nvSpPr>
        <p:spPr>
          <a:xfrm>
            <a:off x="114300" y="5886450"/>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ha90ac7004f693ea_0_0"/>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06</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879" name="Shape 879"/>
        <p:cNvGrpSpPr/>
        <p:nvPr/>
      </p:nvGrpSpPr>
      <p:grpSpPr>
        <a:xfrm>
          <a:off x="0" y="0"/>
          <a:ext cx="0" cy="0"/>
          <a:chOff x="0" y="0"/>
          <a:chExt cx="0" cy="0"/>
        </a:xfrm>
      </p:grpSpPr>
      <p:sp>
        <p:nvSpPr>
          <p:cNvPr id="880" name="Google Shape;880;ha90ac7004f693ea_0_57"/>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ha90ac7004f693ea_0_57"/>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82" name="Google Shape;882;ha90ac7004f693ea_0_57"/>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883" name="Google Shape;883;ha90ac7004f693ea_0_57"/>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ha90ac7004f693ea_0_57"/>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885" name="Google Shape;885;ha90ac7004f693ea_0_57"/>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ha90ac7004f693ea_0_57"/>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887" name="Google Shape;887;ha90ac7004f693ea_0_57"/>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888" name="Google Shape;888;ha90ac7004f693ea_0_57"/>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24</a:t>
            </a:r>
            <a:endParaRPr/>
          </a:p>
        </p:txBody>
      </p:sp>
      <p:sp>
        <p:nvSpPr>
          <p:cNvPr id="889" name="Google Shape;889;ha90ac7004f693ea_0_57"/>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00">
                <a:solidFill>
                  <a:srgbClr val="1F603A"/>
                </a:solidFill>
              </a:rPr>
              <a:t>Mở rộng</a:t>
            </a:r>
            <a:endParaRPr b="1" sz="2500"/>
          </a:p>
        </p:txBody>
      </p:sp>
      <p:sp>
        <p:nvSpPr>
          <p:cNvPr id="890" name="Google Shape;890;ha90ac7004f693ea_0_57"/>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a:t>
            </a:r>
            <a:r>
              <a:rPr lang="en-US" sz="1200">
                <a:solidFill>
                  <a:srgbClr val="68727A"/>
                </a:solidFill>
              </a:rPr>
              <a:t>6</a:t>
            </a:r>
            <a:endParaRPr/>
          </a:p>
        </p:txBody>
      </p:sp>
      <p:sp>
        <p:nvSpPr>
          <p:cNvPr id="891" name="Google Shape;891;ha90ac7004f693ea_0_57"/>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ha90ac7004f693ea_0_57"/>
          <p:cNvSpPr/>
          <p:nvPr/>
        </p:nvSpPr>
        <p:spPr>
          <a:xfrm>
            <a:off x="1143000" y="1285875"/>
            <a:ext cx="10620300" cy="4905300"/>
          </a:xfrm>
          <a:prstGeom prst="roundRect">
            <a:avLst>
              <a:gd fmla="val 2286" name="adj"/>
            </a:avLst>
          </a:prstGeom>
          <a:solidFill>
            <a:srgbClr val="FFFFFF"/>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ha90ac7004f693ea_0_57"/>
          <p:cNvSpPr/>
          <p:nvPr/>
        </p:nvSpPr>
        <p:spPr>
          <a:xfrm flipH="1">
            <a:off x="1095300" y="1285875"/>
            <a:ext cx="19200" cy="49053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ha90ac7004f693ea_0_57"/>
          <p:cNvSpPr/>
          <p:nvPr/>
        </p:nvSpPr>
        <p:spPr>
          <a:xfrm>
            <a:off x="1428825" y="1478625"/>
            <a:ext cx="10239300" cy="4519800"/>
          </a:xfrm>
          <a:prstGeom prst="rect">
            <a:avLst/>
          </a:prstGeom>
          <a:noFill/>
          <a:ln>
            <a:noFill/>
          </a:ln>
        </p:spPr>
        <p:txBody>
          <a:bodyPr anchorCtr="0" anchor="t" bIns="45700" lIns="91425" spcFirstLastPara="1" rIns="91425" wrap="square" tIns="45700">
            <a:noAutofit/>
          </a:bodyPr>
          <a:lstStyle/>
          <a:p>
            <a:pPr indent="-381000" lvl="0" marL="457200" rtl="0" algn="just">
              <a:lnSpc>
                <a:spcPct val="115000"/>
              </a:lnSpc>
              <a:spcBef>
                <a:spcPts val="0"/>
              </a:spcBef>
              <a:spcAft>
                <a:spcPts val="0"/>
              </a:spcAft>
              <a:buClr>
                <a:srgbClr val="1F1F1F"/>
              </a:buClr>
              <a:buSzPts val="2400"/>
              <a:buChar char="●"/>
            </a:pPr>
            <a:r>
              <a:rPr b="1" lang="en-US" sz="2400">
                <a:solidFill>
                  <a:srgbClr val="1F1F1F"/>
                </a:solidFill>
              </a:rPr>
              <a:t>Làm mượt ranh giới phân lớp (Fuzzy Logic &amp; Soft Boundaries): </a:t>
            </a:r>
            <a:r>
              <a:rPr lang="en-US" sz="2400">
                <a:solidFill>
                  <a:srgbClr val="1F1F1F"/>
                </a:solidFill>
              </a:rPr>
              <a:t>Tích hợp logic mờ (Fuzzy CWC) hoặc hàm khoảng cách tương đồng (như Gower distance, Cosine similarity trên vector thuộc tính) để tính mức độ tương đồng thay vì so khớp tuyệt đối.</a:t>
            </a:r>
            <a:endParaRPr sz="2400">
              <a:solidFill>
                <a:srgbClr val="1F1F1F"/>
              </a:solidFill>
            </a:endParaRPr>
          </a:p>
          <a:p>
            <a:pPr indent="0" lvl="0" marL="0" rtl="0" algn="just">
              <a:lnSpc>
                <a:spcPct val="115000"/>
              </a:lnSpc>
              <a:spcBef>
                <a:spcPts val="0"/>
              </a:spcBef>
              <a:spcAft>
                <a:spcPts val="0"/>
              </a:spcAft>
              <a:buNone/>
            </a:pPr>
            <a:r>
              <a:t/>
            </a:r>
            <a:endParaRPr sz="2400">
              <a:solidFill>
                <a:srgbClr val="1F1F1F"/>
              </a:solidFill>
            </a:endParaRPr>
          </a:p>
          <a:p>
            <a:pPr indent="-381000" lvl="0" marL="457200" rtl="0" algn="just">
              <a:lnSpc>
                <a:spcPct val="115000"/>
              </a:lnSpc>
              <a:spcBef>
                <a:spcPts val="0"/>
              </a:spcBef>
              <a:spcAft>
                <a:spcPts val="0"/>
              </a:spcAft>
              <a:buClr>
                <a:srgbClr val="1F1F1F"/>
              </a:buClr>
              <a:buSzPts val="2400"/>
              <a:buChar char="●"/>
            </a:pPr>
            <a:r>
              <a:rPr b="1" lang="en-US" sz="2400">
                <a:solidFill>
                  <a:srgbClr val="1F1F1F"/>
                </a:solidFill>
              </a:rPr>
              <a:t>Lựa chọn biến thích ứng động (Dynamic Feature Selection theo Mùa vụ):</a:t>
            </a:r>
            <a:r>
              <a:rPr lang="en-US" sz="2400">
                <a:solidFill>
                  <a:srgbClr val="1F1F1F"/>
                </a:solidFill>
              </a:rPr>
              <a:t> Thay vì cố định bộ 3 biến (T_max, T_min, RH_max) xuyên suốt cả năm, xây dựng cơ chế lựa chọn biến động: mùa mưa (RF, RH_max, T_max), mùa lạnh (T_min, RH_min, T_max)</a:t>
            </a:r>
            <a:endParaRPr sz="2400">
              <a:solidFill>
                <a:srgbClr val="1F1F1F"/>
              </a:solidFill>
            </a:endParaRPr>
          </a:p>
          <a:p>
            <a:pPr indent="0" lvl="0" marL="0" rtl="0" algn="just">
              <a:lnSpc>
                <a:spcPct val="115000"/>
              </a:lnSpc>
              <a:spcBef>
                <a:spcPts val="0"/>
              </a:spcBef>
              <a:spcAft>
                <a:spcPts val="0"/>
              </a:spcAft>
              <a:buNone/>
            </a:pPr>
            <a:r>
              <a:t/>
            </a:r>
            <a:endParaRPr b="1" sz="2400">
              <a:solidFill>
                <a:srgbClr val="1F1F1F"/>
              </a:solidFill>
            </a:endParaRPr>
          </a:p>
          <a:p>
            <a:pPr indent="0" lvl="0" marL="0" rtl="0" algn="just">
              <a:lnSpc>
                <a:spcPct val="115000"/>
              </a:lnSpc>
              <a:spcBef>
                <a:spcPts val="0"/>
              </a:spcBef>
              <a:spcAft>
                <a:spcPts val="0"/>
              </a:spcAft>
              <a:buNone/>
            </a:pPr>
            <a:r>
              <a:t/>
            </a:r>
            <a:endParaRPr b="1" sz="2400">
              <a:solidFill>
                <a:srgbClr val="1F1F1F"/>
              </a:solidFill>
            </a:endParaRPr>
          </a:p>
        </p:txBody>
      </p:sp>
      <p:sp>
        <p:nvSpPr>
          <p:cNvPr id="895" name="Google Shape;895;ha90ac7004f693ea_0_57"/>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ha90ac7004f693ea_0_57"/>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ha90ac7004f693ea_0_57"/>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898" name="Google Shape;898;ha90ac7004f693ea_0_57"/>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899" name="Google Shape;899;ha90ac7004f693ea_0_57"/>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900" name="Google Shape;900;ha90ac7004f693ea_0_57"/>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901" name="Google Shape;901;ha90ac7004f693ea_0_57"/>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902" name="Google Shape;902;ha90ac7004f693ea_0_57"/>
          <p:cNvSpPr/>
          <p:nvPr/>
        </p:nvSpPr>
        <p:spPr>
          <a:xfrm>
            <a:off x="114300" y="5886450"/>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ha90ac7004f693ea_0_57"/>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06</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908" name="Shape 908"/>
        <p:cNvGrpSpPr/>
        <p:nvPr/>
      </p:nvGrpSpPr>
      <p:grpSpPr>
        <a:xfrm>
          <a:off x="0" y="0"/>
          <a:ext cx="0" cy="0"/>
          <a:chOff x="0" y="0"/>
          <a:chExt cx="0" cy="0"/>
        </a:xfrm>
      </p:grpSpPr>
      <p:sp>
        <p:nvSpPr>
          <p:cNvPr id="909" name="Google Shape;909;ha90ac7004f693ea_0_90"/>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ha90ac7004f693ea_0_90"/>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11" name="Google Shape;911;ha90ac7004f693ea_0_90"/>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912" name="Google Shape;912;ha90ac7004f693ea_0_90"/>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ha90ac7004f693ea_0_90"/>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914" name="Google Shape;914;ha90ac7004f693ea_0_90"/>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ha90ac7004f693ea_0_90"/>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916" name="Google Shape;916;ha90ac7004f693ea_0_90"/>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917" name="Google Shape;917;ha90ac7004f693ea_0_90"/>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25</a:t>
            </a:r>
            <a:endParaRPr/>
          </a:p>
        </p:txBody>
      </p:sp>
      <p:sp>
        <p:nvSpPr>
          <p:cNvPr id="918" name="Google Shape;918;ha90ac7004f693ea_0_90"/>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00">
                <a:solidFill>
                  <a:srgbClr val="1F603A"/>
                </a:solidFill>
              </a:rPr>
              <a:t>Mở rộng</a:t>
            </a:r>
            <a:endParaRPr b="1" sz="2500"/>
          </a:p>
        </p:txBody>
      </p:sp>
      <p:sp>
        <p:nvSpPr>
          <p:cNvPr id="919" name="Google Shape;919;ha90ac7004f693ea_0_90"/>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a:t>
            </a:r>
            <a:r>
              <a:rPr lang="en-US" sz="1200">
                <a:solidFill>
                  <a:srgbClr val="68727A"/>
                </a:solidFill>
              </a:rPr>
              <a:t>6</a:t>
            </a:r>
            <a:endParaRPr/>
          </a:p>
        </p:txBody>
      </p:sp>
      <p:sp>
        <p:nvSpPr>
          <p:cNvPr id="920" name="Google Shape;920;ha90ac7004f693ea_0_90"/>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ha90ac7004f693ea_0_90"/>
          <p:cNvSpPr/>
          <p:nvPr/>
        </p:nvSpPr>
        <p:spPr>
          <a:xfrm>
            <a:off x="1143000" y="1285875"/>
            <a:ext cx="10620300" cy="4905300"/>
          </a:xfrm>
          <a:prstGeom prst="roundRect">
            <a:avLst>
              <a:gd fmla="val 2286" name="adj"/>
            </a:avLst>
          </a:prstGeom>
          <a:solidFill>
            <a:srgbClr val="FFFFFF"/>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ha90ac7004f693ea_0_90"/>
          <p:cNvSpPr/>
          <p:nvPr/>
        </p:nvSpPr>
        <p:spPr>
          <a:xfrm flipH="1">
            <a:off x="1095300" y="1285875"/>
            <a:ext cx="19200" cy="49053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ha90ac7004f693ea_0_90"/>
          <p:cNvSpPr/>
          <p:nvPr/>
        </p:nvSpPr>
        <p:spPr>
          <a:xfrm>
            <a:off x="1428825" y="1478625"/>
            <a:ext cx="10239300" cy="4519800"/>
          </a:xfrm>
          <a:prstGeom prst="rect">
            <a:avLst/>
          </a:prstGeom>
          <a:noFill/>
          <a:ln>
            <a:noFill/>
          </a:ln>
        </p:spPr>
        <p:txBody>
          <a:bodyPr anchorCtr="0" anchor="t" bIns="45700" lIns="91425" spcFirstLastPara="1" rIns="91425" wrap="square" tIns="45700">
            <a:noAutofit/>
          </a:bodyPr>
          <a:lstStyle/>
          <a:p>
            <a:pPr indent="-381000" lvl="0" marL="457200" rtl="0" algn="just">
              <a:lnSpc>
                <a:spcPct val="115000"/>
              </a:lnSpc>
              <a:spcBef>
                <a:spcPts val="0"/>
              </a:spcBef>
              <a:spcAft>
                <a:spcPts val="0"/>
              </a:spcAft>
              <a:buClr>
                <a:srgbClr val="1F1F1F"/>
              </a:buClr>
              <a:buSzPts val="2400"/>
              <a:buChar char="●"/>
            </a:pPr>
            <a:r>
              <a:rPr b="1" lang="en-US" sz="2400">
                <a:solidFill>
                  <a:srgbClr val="1F1F1F"/>
                </a:solidFill>
              </a:rPr>
              <a:t>Mở rộng không gian &amp; Đánh giá chéo đa vùng khí hậu (Spatial Extension): </a:t>
            </a:r>
            <a:r>
              <a:rPr lang="en-US" sz="2400">
                <a:solidFill>
                  <a:srgbClr val="1F1F1F"/>
                </a:solidFill>
              </a:rPr>
              <a:t>tiến hành thực nghiệm ở nhiều khu vực (ví dụ: Đồng bằng sông Cửu Long, Tây Nguyên hay Duyên hải miền Trung) để mở rộng xem xét giữa các địa phương khác nhau.</a:t>
            </a:r>
            <a:endParaRPr b="1" sz="2400">
              <a:solidFill>
                <a:srgbClr val="1F1F1F"/>
              </a:solidFill>
            </a:endParaRPr>
          </a:p>
          <a:p>
            <a:pPr indent="0" lvl="0" marL="457200" rtl="0" algn="just">
              <a:lnSpc>
                <a:spcPct val="115000"/>
              </a:lnSpc>
              <a:spcBef>
                <a:spcPts val="0"/>
              </a:spcBef>
              <a:spcAft>
                <a:spcPts val="0"/>
              </a:spcAft>
              <a:buNone/>
            </a:pPr>
            <a:r>
              <a:t/>
            </a:r>
            <a:endParaRPr b="1" sz="2400">
              <a:solidFill>
                <a:srgbClr val="1F1F1F"/>
              </a:solidFill>
            </a:endParaRPr>
          </a:p>
          <a:p>
            <a:pPr indent="-381000" lvl="0" marL="457200" rtl="0" algn="just">
              <a:lnSpc>
                <a:spcPct val="115000"/>
              </a:lnSpc>
              <a:spcBef>
                <a:spcPts val="0"/>
              </a:spcBef>
              <a:spcAft>
                <a:spcPts val="0"/>
              </a:spcAft>
              <a:buClr>
                <a:srgbClr val="1F1F1F"/>
              </a:buClr>
              <a:buSzPts val="2400"/>
              <a:buChar char="●"/>
            </a:pPr>
            <a:r>
              <a:rPr b="1" lang="en-US" sz="2400">
                <a:solidFill>
                  <a:srgbClr val="1F1F1F"/>
                </a:solidFill>
              </a:rPr>
              <a:t>Tích hợp yếu tố phi thời tiết vào mô hình CWC mở rộng: </a:t>
            </a:r>
            <a:r>
              <a:rPr lang="en-US" sz="2400">
                <a:solidFill>
                  <a:srgbClr val="1F1F1F"/>
                </a:solidFill>
              </a:rPr>
              <a:t>Bổ sung thêm các chiều thông tin quan trọng trong canh tác như: loại đất, giống cây trồng, tiền sử sâu bệnh cục bộ và chỉ số thực vật viễn thám (NDVI).</a:t>
            </a:r>
            <a:endParaRPr sz="2400">
              <a:solidFill>
                <a:srgbClr val="1F1F1F"/>
              </a:solidFill>
            </a:endParaRPr>
          </a:p>
          <a:p>
            <a:pPr indent="0" lvl="0" marL="0" rtl="0" algn="just">
              <a:lnSpc>
                <a:spcPct val="115000"/>
              </a:lnSpc>
              <a:spcBef>
                <a:spcPts val="0"/>
              </a:spcBef>
              <a:spcAft>
                <a:spcPts val="0"/>
              </a:spcAft>
              <a:buNone/>
            </a:pPr>
            <a:r>
              <a:t/>
            </a:r>
            <a:endParaRPr b="1" sz="2400">
              <a:solidFill>
                <a:srgbClr val="1F1F1F"/>
              </a:solidFill>
            </a:endParaRPr>
          </a:p>
          <a:p>
            <a:pPr indent="0" lvl="0" marL="0" rtl="0" algn="just">
              <a:lnSpc>
                <a:spcPct val="115000"/>
              </a:lnSpc>
              <a:spcBef>
                <a:spcPts val="0"/>
              </a:spcBef>
              <a:spcAft>
                <a:spcPts val="0"/>
              </a:spcAft>
              <a:buNone/>
            </a:pPr>
            <a:r>
              <a:t/>
            </a:r>
            <a:endParaRPr b="1" sz="2400">
              <a:solidFill>
                <a:srgbClr val="1F1F1F"/>
              </a:solidFill>
            </a:endParaRPr>
          </a:p>
        </p:txBody>
      </p:sp>
      <p:sp>
        <p:nvSpPr>
          <p:cNvPr id="924" name="Google Shape;924;ha90ac7004f693ea_0_90"/>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ha90ac7004f693ea_0_90"/>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ha90ac7004f693ea_0_90"/>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927" name="Google Shape;927;ha90ac7004f693ea_0_90"/>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928" name="Google Shape;928;ha90ac7004f693ea_0_90"/>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929" name="Google Shape;929;ha90ac7004f693ea_0_90"/>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930" name="Google Shape;930;ha90ac7004f693ea_0_90"/>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931" name="Google Shape;931;ha90ac7004f693ea_0_90"/>
          <p:cNvSpPr/>
          <p:nvPr/>
        </p:nvSpPr>
        <p:spPr>
          <a:xfrm>
            <a:off x="114300" y="5886450"/>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ha90ac7004f693ea_0_90"/>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06</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937" name="Shape 937"/>
        <p:cNvGrpSpPr/>
        <p:nvPr/>
      </p:nvGrpSpPr>
      <p:grpSpPr>
        <a:xfrm>
          <a:off x="0" y="0"/>
          <a:ext cx="0" cy="0"/>
          <a:chOff x="0" y="0"/>
          <a:chExt cx="0" cy="0"/>
        </a:xfrm>
      </p:grpSpPr>
      <p:sp>
        <p:nvSpPr>
          <p:cNvPr id="938" name="Google Shape;938;ha90ac7004f693ea_0_126"/>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ha90ac7004f693ea_0_126"/>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40" name="Google Shape;940;ha90ac7004f693ea_0_126"/>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941" name="Google Shape;941;ha90ac7004f693ea_0_126"/>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ha90ac7004f693ea_0_126"/>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943" name="Google Shape;943;ha90ac7004f693ea_0_126"/>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ha90ac7004f693ea_0_126"/>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945" name="Google Shape;945;ha90ac7004f693ea_0_126"/>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946" name="Google Shape;946;ha90ac7004f693ea_0_126"/>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26</a:t>
            </a:r>
            <a:endParaRPr/>
          </a:p>
        </p:txBody>
      </p:sp>
      <p:sp>
        <p:nvSpPr>
          <p:cNvPr id="947" name="Google Shape;947;ha90ac7004f693ea_0_126"/>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00">
                <a:solidFill>
                  <a:srgbClr val="1F603A"/>
                </a:solidFill>
              </a:rPr>
              <a:t>Ứng dụng</a:t>
            </a:r>
            <a:endParaRPr b="1" sz="2500"/>
          </a:p>
        </p:txBody>
      </p:sp>
      <p:sp>
        <p:nvSpPr>
          <p:cNvPr id="948" name="Google Shape;948;ha90ac7004f693ea_0_126"/>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a:t>
            </a:r>
            <a:r>
              <a:rPr lang="en-US" sz="1200">
                <a:solidFill>
                  <a:srgbClr val="68727A"/>
                </a:solidFill>
              </a:rPr>
              <a:t>6</a:t>
            </a:r>
            <a:endParaRPr/>
          </a:p>
        </p:txBody>
      </p:sp>
      <p:sp>
        <p:nvSpPr>
          <p:cNvPr id="949" name="Google Shape;949;ha90ac7004f693ea_0_126"/>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ha90ac7004f693ea_0_126"/>
          <p:cNvSpPr/>
          <p:nvPr/>
        </p:nvSpPr>
        <p:spPr>
          <a:xfrm>
            <a:off x="1143000" y="1285875"/>
            <a:ext cx="10620300" cy="4905300"/>
          </a:xfrm>
          <a:prstGeom prst="roundRect">
            <a:avLst>
              <a:gd fmla="val 2286" name="adj"/>
            </a:avLst>
          </a:prstGeom>
          <a:solidFill>
            <a:srgbClr val="FFFFFF"/>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ha90ac7004f693ea_0_126"/>
          <p:cNvSpPr/>
          <p:nvPr/>
        </p:nvSpPr>
        <p:spPr>
          <a:xfrm flipH="1">
            <a:off x="1095300" y="1285875"/>
            <a:ext cx="19200" cy="49053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ha90ac7004f693ea_0_126"/>
          <p:cNvSpPr/>
          <p:nvPr/>
        </p:nvSpPr>
        <p:spPr>
          <a:xfrm>
            <a:off x="1428825" y="1478625"/>
            <a:ext cx="10004400" cy="4519800"/>
          </a:xfrm>
          <a:prstGeom prst="rect">
            <a:avLst/>
          </a:prstGeom>
          <a:noFill/>
          <a:ln>
            <a:noFill/>
          </a:ln>
        </p:spPr>
        <p:txBody>
          <a:bodyPr anchorCtr="0" anchor="t" bIns="45700" lIns="91425" spcFirstLastPara="1" rIns="91425" wrap="square" tIns="45700">
            <a:noAutofit/>
          </a:bodyPr>
          <a:lstStyle/>
          <a:p>
            <a:pPr indent="-381000" lvl="0" marL="457200" rtl="0" algn="just">
              <a:lnSpc>
                <a:spcPct val="115000"/>
              </a:lnSpc>
              <a:spcBef>
                <a:spcPts val="0"/>
              </a:spcBef>
              <a:spcAft>
                <a:spcPts val="0"/>
              </a:spcAft>
              <a:buClr>
                <a:srgbClr val="1F1F1F"/>
              </a:buClr>
              <a:buSzPts val="2400"/>
              <a:buChar char="●"/>
            </a:pPr>
            <a:r>
              <a:rPr b="1" lang="en-US" sz="2400">
                <a:solidFill>
                  <a:srgbClr val="1F1F1F"/>
                </a:solidFill>
              </a:rPr>
              <a:t>Triển khai ứng dụng giao diện thông báo: </a:t>
            </a:r>
            <a:endParaRPr b="1" sz="2400">
              <a:solidFill>
                <a:srgbClr val="1F1F1F"/>
              </a:solidFill>
            </a:endParaRPr>
          </a:p>
          <a:p>
            <a:pPr indent="0" lvl="0" marL="0" rtl="0" algn="just">
              <a:lnSpc>
                <a:spcPct val="115000"/>
              </a:lnSpc>
              <a:spcBef>
                <a:spcPts val="0"/>
              </a:spcBef>
              <a:spcAft>
                <a:spcPts val="0"/>
              </a:spcAft>
              <a:buNone/>
            </a:pPr>
            <a:r>
              <a:t/>
            </a:r>
            <a:endParaRPr b="1" sz="2400">
              <a:solidFill>
                <a:srgbClr val="1F1F1F"/>
              </a:solidFill>
            </a:endParaRPr>
          </a:p>
          <a:p>
            <a:pPr indent="-381000" lvl="1" marL="914400" rtl="0" algn="just">
              <a:lnSpc>
                <a:spcPct val="115000"/>
              </a:lnSpc>
              <a:spcBef>
                <a:spcPts val="0"/>
              </a:spcBef>
              <a:spcAft>
                <a:spcPts val="0"/>
              </a:spcAft>
              <a:buClr>
                <a:srgbClr val="1F1F1F"/>
              </a:buClr>
              <a:buSzPts val="2400"/>
              <a:buAutoNum type="alphaLcPeriod"/>
            </a:pPr>
            <a:r>
              <a:rPr lang="en-US" sz="2400">
                <a:solidFill>
                  <a:srgbClr val="1F1F1F"/>
                </a:solidFill>
              </a:rPr>
              <a:t>Dùng CWC để định danh chính xác gói khuyến nghị cốt lõi từ cơ sở dữ liệu chuyên gia. </a:t>
            </a:r>
            <a:endParaRPr sz="2400">
              <a:solidFill>
                <a:srgbClr val="1F1F1F"/>
              </a:solidFill>
            </a:endParaRPr>
          </a:p>
          <a:p>
            <a:pPr indent="-381000" lvl="1" marL="914400" rtl="0" algn="just">
              <a:lnSpc>
                <a:spcPct val="115000"/>
              </a:lnSpc>
              <a:spcBef>
                <a:spcPts val="0"/>
              </a:spcBef>
              <a:spcAft>
                <a:spcPts val="0"/>
              </a:spcAft>
              <a:buClr>
                <a:srgbClr val="1F1F1F"/>
              </a:buClr>
              <a:buSzPts val="2400"/>
              <a:buAutoNum type="alphaLcPeriod"/>
            </a:pPr>
            <a:r>
              <a:rPr lang="en-US" sz="2400">
                <a:solidFill>
                  <a:srgbClr val="1F1F1F"/>
                </a:solidFill>
              </a:rPr>
              <a:t>Dùng LLM để biên dịch và tùy biến ngôn từ địa phương, văn cảnh cụ thể cho nông dân dễ hiểu qua Zalo bot, SMS hoặc ứng dụng di động.</a:t>
            </a:r>
            <a:endParaRPr sz="2400">
              <a:solidFill>
                <a:srgbClr val="1F1F1F"/>
              </a:solidFill>
            </a:endParaRPr>
          </a:p>
          <a:p>
            <a:pPr indent="0" lvl="0" marL="0" rtl="0" algn="just">
              <a:lnSpc>
                <a:spcPct val="115000"/>
              </a:lnSpc>
              <a:spcBef>
                <a:spcPts val="0"/>
              </a:spcBef>
              <a:spcAft>
                <a:spcPts val="0"/>
              </a:spcAft>
              <a:buNone/>
            </a:pPr>
            <a:r>
              <a:t/>
            </a:r>
            <a:endParaRPr b="1" sz="2400">
              <a:solidFill>
                <a:srgbClr val="1F1F1F"/>
              </a:solidFill>
            </a:endParaRPr>
          </a:p>
          <a:p>
            <a:pPr indent="0" lvl="0" marL="0" rtl="0" algn="just">
              <a:lnSpc>
                <a:spcPct val="115000"/>
              </a:lnSpc>
              <a:spcBef>
                <a:spcPts val="0"/>
              </a:spcBef>
              <a:spcAft>
                <a:spcPts val="0"/>
              </a:spcAft>
              <a:buNone/>
            </a:pPr>
            <a:r>
              <a:t/>
            </a:r>
            <a:endParaRPr b="1" sz="2400">
              <a:solidFill>
                <a:srgbClr val="1F1F1F"/>
              </a:solidFill>
            </a:endParaRPr>
          </a:p>
        </p:txBody>
      </p:sp>
      <p:sp>
        <p:nvSpPr>
          <p:cNvPr id="953" name="Google Shape;953;ha90ac7004f693ea_0_126"/>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ha90ac7004f693ea_0_126"/>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ha90ac7004f693ea_0_126"/>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956" name="Google Shape;956;ha90ac7004f693ea_0_126"/>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957" name="Google Shape;957;ha90ac7004f693ea_0_126"/>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958" name="Google Shape;958;ha90ac7004f693ea_0_126"/>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959" name="Google Shape;959;ha90ac7004f693ea_0_126"/>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960" name="Google Shape;960;ha90ac7004f693ea_0_126"/>
          <p:cNvSpPr/>
          <p:nvPr/>
        </p:nvSpPr>
        <p:spPr>
          <a:xfrm>
            <a:off x="114300" y="5886450"/>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ha90ac7004f693ea_0_126"/>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966" name="Shape 966"/>
        <p:cNvGrpSpPr/>
        <p:nvPr/>
      </p:nvGrpSpPr>
      <p:grpSpPr>
        <a:xfrm>
          <a:off x="0" y="0"/>
          <a:ext cx="0" cy="0"/>
          <a:chOff x="0" y="0"/>
          <a:chExt cx="0" cy="0"/>
        </a:xfrm>
      </p:grpSpPr>
      <p:sp>
        <p:nvSpPr>
          <p:cNvPr id="967" name="Google Shape;967;ha90ac7004f693ea_0_156"/>
          <p:cNvSpPr/>
          <p:nvPr/>
        </p:nvSpPr>
        <p:spPr>
          <a:xfrm>
            <a:off x="0" y="0"/>
            <a:ext cx="12192000" cy="66600"/>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ha90ac7004f693ea_0_156"/>
          <p:cNvSpPr/>
          <p:nvPr/>
        </p:nvSpPr>
        <p:spPr>
          <a:xfrm>
            <a:off x="0" y="66675"/>
            <a:ext cx="12192000" cy="477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69" name="Google Shape;969;ha90ac7004f693ea_0_156"/>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970" name="Google Shape;970;ha90ac7004f693ea_0_156"/>
          <p:cNvSpPr/>
          <p:nvPr/>
        </p:nvSpPr>
        <p:spPr>
          <a:xfrm>
            <a:off x="409575" y="952500"/>
            <a:ext cx="19200" cy="590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ha90ac7004f693ea_0_156"/>
          <p:cNvSpPr/>
          <p:nvPr/>
        </p:nvSpPr>
        <p:spPr>
          <a:xfrm>
            <a:off x="66675" y="1962150"/>
            <a:ext cx="714300" cy="2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972" name="Google Shape;972;ha90ac7004f693ea_0_156"/>
          <p:cNvSpPr/>
          <p:nvPr/>
        </p:nvSpPr>
        <p:spPr>
          <a:xfrm>
            <a:off x="1123950" y="6467475"/>
            <a:ext cx="106491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ha90ac7004f693ea_0_156"/>
          <p:cNvSpPr/>
          <p:nvPr/>
        </p:nvSpPr>
        <p:spPr>
          <a:xfrm>
            <a:off x="1143000" y="6553200"/>
            <a:ext cx="60960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974" name="Google Shape;974;ha90ac7004f693ea_0_156"/>
          <p:cNvSpPr/>
          <p:nvPr/>
        </p:nvSpPr>
        <p:spPr>
          <a:xfrm>
            <a:off x="7810500" y="6553200"/>
            <a:ext cx="2857500" cy="171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975" name="Google Shape;975;ha90ac7004f693ea_0_156"/>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27</a:t>
            </a:r>
            <a:endParaRPr/>
          </a:p>
        </p:txBody>
      </p:sp>
      <p:sp>
        <p:nvSpPr>
          <p:cNvPr id="976" name="Google Shape;976;ha90ac7004f693ea_0_156"/>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00">
                <a:solidFill>
                  <a:srgbClr val="1F603A"/>
                </a:solidFill>
              </a:rPr>
              <a:t>Ứng dụng</a:t>
            </a:r>
            <a:endParaRPr b="1" sz="2500"/>
          </a:p>
        </p:txBody>
      </p:sp>
      <p:sp>
        <p:nvSpPr>
          <p:cNvPr id="977" name="Google Shape;977;ha90ac7004f693ea_0_156"/>
          <p:cNvSpPr/>
          <p:nvPr/>
        </p:nvSpPr>
        <p:spPr>
          <a:xfrm>
            <a:off x="9620250" y="371475"/>
            <a:ext cx="20001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a:t>
            </a:r>
            <a:r>
              <a:rPr lang="en-US" sz="1200">
                <a:solidFill>
                  <a:srgbClr val="68727A"/>
                </a:solidFill>
              </a:rPr>
              <a:t>6</a:t>
            </a:r>
            <a:endParaRPr/>
          </a:p>
        </p:txBody>
      </p:sp>
      <p:sp>
        <p:nvSpPr>
          <p:cNvPr id="978" name="Google Shape;978;ha90ac7004f693ea_0_156"/>
          <p:cNvSpPr/>
          <p:nvPr/>
        </p:nvSpPr>
        <p:spPr>
          <a:xfrm>
            <a:off x="1143000" y="847725"/>
            <a:ext cx="10620300" cy="14400"/>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ha90ac7004f693ea_0_156"/>
          <p:cNvSpPr/>
          <p:nvPr/>
        </p:nvSpPr>
        <p:spPr>
          <a:xfrm>
            <a:off x="1143000" y="1285875"/>
            <a:ext cx="10620300" cy="4905300"/>
          </a:xfrm>
          <a:prstGeom prst="roundRect">
            <a:avLst>
              <a:gd fmla="val 2286" name="adj"/>
            </a:avLst>
          </a:prstGeom>
          <a:solidFill>
            <a:srgbClr val="FFFFFF"/>
          </a:solidFill>
          <a:ln cap="flat" cmpd="sng" w="14275">
            <a:solidFill>
              <a:srgbClr val="D9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ha90ac7004f693ea_0_156"/>
          <p:cNvSpPr/>
          <p:nvPr/>
        </p:nvSpPr>
        <p:spPr>
          <a:xfrm flipH="1">
            <a:off x="1095300" y="1285875"/>
            <a:ext cx="19200" cy="4905300"/>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ha90ac7004f693ea_0_156"/>
          <p:cNvSpPr/>
          <p:nvPr/>
        </p:nvSpPr>
        <p:spPr>
          <a:xfrm>
            <a:off x="1428825" y="1478625"/>
            <a:ext cx="10004400" cy="4712400"/>
          </a:xfrm>
          <a:prstGeom prst="rect">
            <a:avLst/>
          </a:prstGeom>
          <a:noFill/>
          <a:ln>
            <a:noFill/>
          </a:ln>
        </p:spPr>
        <p:txBody>
          <a:bodyPr anchorCtr="0" anchor="t" bIns="45700" lIns="91425" spcFirstLastPara="1" rIns="91425" wrap="square" tIns="45700">
            <a:noAutofit/>
          </a:bodyPr>
          <a:lstStyle/>
          <a:p>
            <a:pPr indent="-381000" lvl="0" marL="457200" rtl="0" algn="just">
              <a:lnSpc>
                <a:spcPct val="115000"/>
              </a:lnSpc>
              <a:spcBef>
                <a:spcPts val="0"/>
              </a:spcBef>
              <a:spcAft>
                <a:spcPts val="0"/>
              </a:spcAft>
              <a:buClr>
                <a:srgbClr val="1F1F1F"/>
              </a:buClr>
              <a:buSzPts val="2400"/>
              <a:buChar char="●"/>
            </a:pPr>
            <a:r>
              <a:rPr b="1" lang="en-US" sz="2400">
                <a:solidFill>
                  <a:srgbClr val="1F1F1F"/>
                </a:solidFill>
              </a:rPr>
              <a:t>Ứng dụng cho các lĩnh vực phụ thuộc thời tiết khác:</a:t>
            </a:r>
            <a:endParaRPr b="1" sz="2400">
              <a:solidFill>
                <a:srgbClr val="1F1F1F"/>
              </a:solidFill>
            </a:endParaRPr>
          </a:p>
          <a:p>
            <a:pPr indent="-381000" lvl="1" marL="914400" rtl="0" algn="just">
              <a:lnSpc>
                <a:spcPct val="115000"/>
              </a:lnSpc>
              <a:spcBef>
                <a:spcPts val="0"/>
              </a:spcBef>
              <a:spcAft>
                <a:spcPts val="0"/>
              </a:spcAft>
              <a:buClr>
                <a:srgbClr val="1F1F1F"/>
              </a:buClr>
              <a:buSzPts val="2400"/>
              <a:buAutoNum type="alphaLcPeriod"/>
            </a:pPr>
            <a:r>
              <a:rPr b="1" lang="en-US" sz="2400">
                <a:solidFill>
                  <a:srgbClr val="1F1F1F"/>
                </a:solidFill>
              </a:rPr>
              <a:t>Quản lý Dịch tễ &amp; Sức khỏe cộng đồng:</a:t>
            </a:r>
            <a:r>
              <a:rPr lang="en-US" sz="2400">
                <a:solidFill>
                  <a:srgbClr val="1F1F1F"/>
                </a:solidFill>
              </a:rPr>
              <a:t> Dự báo và đưa ra khuyến cáo phòng ngừa các bệnh theo mùa (sốt xuất huyết, cúm, bệnh hô hấp) dựa trên ngưỡng thời tiết phân nhóm (nhiệt độ ẩm cao kéo dài).</a:t>
            </a:r>
            <a:r>
              <a:rPr lang="en-US" sz="2400">
                <a:solidFill>
                  <a:srgbClr val="1F1F1F"/>
                </a:solidFill>
              </a:rPr>
              <a:t> </a:t>
            </a:r>
            <a:endParaRPr sz="2400">
              <a:solidFill>
                <a:srgbClr val="1F1F1F"/>
              </a:solidFill>
            </a:endParaRPr>
          </a:p>
          <a:p>
            <a:pPr indent="-381000" lvl="1" marL="914400" rtl="0" algn="just">
              <a:lnSpc>
                <a:spcPct val="115000"/>
              </a:lnSpc>
              <a:spcBef>
                <a:spcPts val="0"/>
              </a:spcBef>
              <a:spcAft>
                <a:spcPts val="0"/>
              </a:spcAft>
              <a:buClr>
                <a:srgbClr val="1F1F1F"/>
              </a:buClr>
              <a:buSzPts val="2400"/>
              <a:buAutoNum type="alphaLcPeriod"/>
            </a:pPr>
            <a:r>
              <a:rPr b="1" lang="en-US" sz="2400">
                <a:solidFill>
                  <a:srgbClr val="1F1F1F"/>
                </a:solidFill>
              </a:rPr>
              <a:t>Điều tiết Lưới điện &amp; Năng lượng tái tạo:</a:t>
            </a:r>
            <a:r>
              <a:rPr lang="en-US" sz="2400">
                <a:solidFill>
                  <a:srgbClr val="1F1F1F"/>
                </a:solidFill>
              </a:rPr>
              <a:t> Tái sử dụng các kịch bản phụ tải điện và dự báo sản lượng điện mặt trời/điện gió theo các nhóm thời tiết định sẵn.</a:t>
            </a:r>
            <a:endParaRPr sz="2400">
              <a:solidFill>
                <a:srgbClr val="1F1F1F"/>
              </a:solidFill>
            </a:endParaRPr>
          </a:p>
          <a:p>
            <a:pPr indent="-381000" lvl="1" marL="914400" rtl="0" algn="just">
              <a:lnSpc>
                <a:spcPct val="115000"/>
              </a:lnSpc>
              <a:spcBef>
                <a:spcPts val="0"/>
              </a:spcBef>
              <a:spcAft>
                <a:spcPts val="0"/>
              </a:spcAft>
              <a:buClr>
                <a:srgbClr val="1F1F1F"/>
              </a:buClr>
              <a:buSzPts val="2400"/>
              <a:buAutoNum type="alphaLcPeriod"/>
            </a:pPr>
            <a:r>
              <a:rPr b="1" lang="en-US" sz="2400">
                <a:solidFill>
                  <a:srgbClr val="1F1F1F"/>
                </a:solidFill>
              </a:rPr>
              <a:t>Logistics &amp; Giao thông đô thị:</a:t>
            </a:r>
            <a:r>
              <a:rPr lang="en-US" sz="2400">
                <a:solidFill>
                  <a:srgbClr val="1F1F1F"/>
                </a:solidFill>
              </a:rPr>
              <a:t> Xây dựng phương án điều phối phân luồng và kế hoạch vận tải tương ứng với các danh mục thời tiết cực đoan (mưa lớn diện rộng, sương mù dày) </a:t>
            </a:r>
            <a:endParaRPr sz="2400">
              <a:solidFill>
                <a:srgbClr val="1F1F1F"/>
              </a:solidFill>
            </a:endParaRPr>
          </a:p>
          <a:p>
            <a:pPr indent="0" lvl="0" marL="0" rtl="0" algn="just">
              <a:lnSpc>
                <a:spcPct val="115000"/>
              </a:lnSpc>
              <a:spcBef>
                <a:spcPts val="0"/>
              </a:spcBef>
              <a:spcAft>
                <a:spcPts val="0"/>
              </a:spcAft>
              <a:buNone/>
            </a:pPr>
            <a:r>
              <a:t/>
            </a:r>
            <a:endParaRPr b="1" sz="2400">
              <a:solidFill>
                <a:srgbClr val="1F1F1F"/>
              </a:solidFill>
            </a:endParaRPr>
          </a:p>
          <a:p>
            <a:pPr indent="0" lvl="0" marL="0" rtl="0" algn="just">
              <a:lnSpc>
                <a:spcPct val="115000"/>
              </a:lnSpc>
              <a:spcBef>
                <a:spcPts val="0"/>
              </a:spcBef>
              <a:spcAft>
                <a:spcPts val="0"/>
              </a:spcAft>
              <a:buNone/>
            </a:pPr>
            <a:r>
              <a:t/>
            </a:r>
            <a:endParaRPr b="1" sz="2400">
              <a:solidFill>
                <a:srgbClr val="1F1F1F"/>
              </a:solidFill>
            </a:endParaRPr>
          </a:p>
        </p:txBody>
      </p:sp>
      <p:sp>
        <p:nvSpPr>
          <p:cNvPr id="982" name="Google Shape;982;ha90ac7004f693ea_0_156"/>
          <p:cNvSpPr/>
          <p:nvPr/>
        </p:nvSpPr>
        <p:spPr>
          <a:xfrm>
            <a:off x="0" y="0"/>
            <a:ext cx="85740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ha90ac7004f693ea_0_156"/>
          <p:cNvSpPr/>
          <p:nvPr/>
        </p:nvSpPr>
        <p:spPr>
          <a:xfrm>
            <a:off x="114300" y="3476625"/>
            <a:ext cx="628800" cy="295290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ha90ac7004f693ea_0_156"/>
          <p:cNvSpPr/>
          <p:nvPr/>
        </p:nvSpPr>
        <p:spPr>
          <a:xfrm>
            <a:off x="171450" y="35909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985" name="Google Shape;985;ha90ac7004f693ea_0_156"/>
          <p:cNvSpPr/>
          <p:nvPr/>
        </p:nvSpPr>
        <p:spPr>
          <a:xfrm>
            <a:off x="171450" y="40576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986" name="Google Shape;986;ha90ac7004f693ea_0_156"/>
          <p:cNvSpPr/>
          <p:nvPr/>
        </p:nvSpPr>
        <p:spPr>
          <a:xfrm>
            <a:off x="171450" y="452437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987" name="Google Shape;987;ha90ac7004f693ea_0_156"/>
          <p:cNvSpPr/>
          <p:nvPr/>
        </p:nvSpPr>
        <p:spPr>
          <a:xfrm>
            <a:off x="171450" y="499110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988" name="Google Shape;988;ha90ac7004f693ea_0_156"/>
          <p:cNvSpPr/>
          <p:nvPr/>
        </p:nvSpPr>
        <p:spPr>
          <a:xfrm>
            <a:off x="171450" y="5457825"/>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989" name="Google Shape;989;ha90ac7004f693ea_0_156"/>
          <p:cNvSpPr/>
          <p:nvPr/>
        </p:nvSpPr>
        <p:spPr>
          <a:xfrm>
            <a:off x="114300" y="5886450"/>
            <a:ext cx="628800" cy="40020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ha90ac7004f693ea_0_156"/>
          <p:cNvSpPr/>
          <p:nvPr/>
        </p:nvSpPr>
        <p:spPr>
          <a:xfrm>
            <a:off x="171450" y="5924550"/>
            <a:ext cx="5145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06</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h51ca6e53a632996d_0_178"/>
          <p:cNvSpPr/>
          <p:nvPr/>
        </p:nvSpPr>
        <p:spPr>
          <a:xfrm>
            <a:off x="241650" y="2726700"/>
            <a:ext cx="11708700" cy="1404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4800">
                <a:solidFill>
                  <a:srgbClr val="0B2A47"/>
                </a:solidFill>
              </a:rPr>
              <a:t>Cảm ơn thầy và các bạn đã theo dõi</a:t>
            </a:r>
            <a:endParaRPr sz="4800"/>
          </a:p>
        </p:txBody>
      </p:sp>
      <p:sp>
        <p:nvSpPr>
          <p:cNvPr id="997" name="Google Shape;997;h51ca6e53a632996d_0_178"/>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23</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002" name="Shape 1002"/>
        <p:cNvGrpSpPr/>
        <p:nvPr/>
      </p:nvGrpSpPr>
      <p:grpSpPr>
        <a:xfrm>
          <a:off x="0" y="0"/>
          <a:ext cx="0" cy="0"/>
          <a:chOff x="0" y="0"/>
          <a:chExt cx="0" cy="0"/>
        </a:xfrm>
      </p:grpSpPr>
      <p:sp>
        <p:nvSpPr>
          <p:cNvPr id="1003" name="Google Shape;1003;p19"/>
          <p:cNvSpPr/>
          <p:nvPr/>
        </p:nvSpPr>
        <p:spPr>
          <a:xfrm>
            <a:off x="0" y="0"/>
            <a:ext cx="12192000" cy="66675"/>
          </a:xfrm>
          <a:prstGeom prst="rect">
            <a:avLst/>
          </a:prstGeom>
          <a:solidFill>
            <a:srgbClr val="0B2A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9"/>
          <p:cNvSpPr/>
          <p:nvPr/>
        </p:nvSpPr>
        <p:spPr>
          <a:xfrm>
            <a:off x="0" y="66675"/>
            <a:ext cx="12192000" cy="47625"/>
          </a:xfrm>
          <a:prstGeom prst="rect">
            <a:avLst/>
          </a:prstGeom>
          <a:solidFill>
            <a:srgbClr val="1F6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9"/>
          <p:cNvSpPr/>
          <p:nvPr/>
        </p:nvSpPr>
        <p:spPr>
          <a:xfrm>
            <a:off x="0" y="0"/>
            <a:ext cx="857250" cy="6858000"/>
          </a:xfrm>
          <a:prstGeom prst="rect">
            <a:avLst/>
          </a:prstGeom>
          <a:solidFill>
            <a:srgbClr val="06B3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06" name="Google Shape;1006;p19"/>
          <p:cNvPicPr preferRelativeResize="0"/>
          <p:nvPr/>
        </p:nvPicPr>
        <p:blipFill rotWithShape="1">
          <a:blip r:embed="rId3">
            <a:alphaModFix/>
          </a:blip>
          <a:srcRect b="0" l="0" r="0" t="0"/>
          <a:stretch/>
        </p:blipFill>
        <p:spPr>
          <a:xfrm>
            <a:off x="133350" y="142875"/>
            <a:ext cx="581025" cy="514350"/>
          </a:xfrm>
          <a:prstGeom prst="rect">
            <a:avLst/>
          </a:prstGeom>
          <a:noFill/>
          <a:ln>
            <a:noFill/>
          </a:ln>
        </p:spPr>
      </p:pic>
      <p:sp>
        <p:nvSpPr>
          <p:cNvPr id="1007" name="Google Shape;1007;p19"/>
          <p:cNvSpPr/>
          <p:nvPr/>
        </p:nvSpPr>
        <p:spPr>
          <a:xfrm>
            <a:off x="409575" y="952500"/>
            <a:ext cx="19050" cy="59055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9"/>
          <p:cNvSpPr/>
          <p:nvPr/>
        </p:nvSpPr>
        <p:spPr>
          <a:xfrm>
            <a:off x="66675" y="1962150"/>
            <a:ext cx="714375" cy="2476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VNUHCM - UIT</a:t>
            </a:r>
            <a:endParaRPr/>
          </a:p>
        </p:txBody>
      </p:sp>
      <p:sp>
        <p:nvSpPr>
          <p:cNvPr id="1009" name="Google Shape;1009;p19"/>
          <p:cNvSpPr/>
          <p:nvPr/>
        </p:nvSpPr>
        <p:spPr>
          <a:xfrm>
            <a:off x="114300" y="3476625"/>
            <a:ext cx="628650" cy="2952750"/>
          </a:xfrm>
          <a:prstGeom prst="roundRect">
            <a:avLst>
              <a:gd fmla="val 45455" name="adj"/>
            </a:avLst>
          </a:prstGeom>
          <a:solidFill>
            <a:srgbClr val="A9CD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9"/>
          <p:cNvSpPr/>
          <p:nvPr/>
        </p:nvSpPr>
        <p:spPr>
          <a:xfrm>
            <a:off x="171450" y="35909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01</a:t>
            </a:r>
            <a:endParaRPr/>
          </a:p>
        </p:txBody>
      </p:sp>
      <p:sp>
        <p:nvSpPr>
          <p:cNvPr id="1011" name="Google Shape;1011;p19"/>
          <p:cNvSpPr/>
          <p:nvPr/>
        </p:nvSpPr>
        <p:spPr>
          <a:xfrm>
            <a:off x="171450" y="40576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02</a:t>
            </a:r>
            <a:endParaRPr/>
          </a:p>
        </p:txBody>
      </p:sp>
      <p:sp>
        <p:nvSpPr>
          <p:cNvPr id="1012" name="Google Shape;1012;p19"/>
          <p:cNvSpPr/>
          <p:nvPr/>
        </p:nvSpPr>
        <p:spPr>
          <a:xfrm>
            <a:off x="171450" y="452437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03</a:t>
            </a:r>
            <a:endParaRPr/>
          </a:p>
        </p:txBody>
      </p:sp>
      <p:sp>
        <p:nvSpPr>
          <p:cNvPr id="1013" name="Google Shape;1013;p19"/>
          <p:cNvSpPr/>
          <p:nvPr/>
        </p:nvSpPr>
        <p:spPr>
          <a:xfrm>
            <a:off x="171450" y="499110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04</a:t>
            </a:r>
            <a:endParaRPr/>
          </a:p>
        </p:txBody>
      </p:sp>
      <p:sp>
        <p:nvSpPr>
          <p:cNvPr id="1014" name="Google Shape;1014;p19"/>
          <p:cNvSpPr/>
          <p:nvPr/>
        </p:nvSpPr>
        <p:spPr>
          <a:xfrm>
            <a:off x="171450" y="5457825"/>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FFFFFF"/>
                </a:solidFill>
                <a:latin typeface="Arial"/>
                <a:ea typeface="Arial"/>
                <a:cs typeface="Arial"/>
                <a:sym typeface="Arial"/>
              </a:rPr>
              <a:t>05</a:t>
            </a:r>
            <a:endParaRPr/>
          </a:p>
        </p:txBody>
      </p:sp>
      <p:sp>
        <p:nvSpPr>
          <p:cNvPr id="1015" name="Google Shape;1015;p19"/>
          <p:cNvSpPr/>
          <p:nvPr/>
        </p:nvSpPr>
        <p:spPr>
          <a:xfrm>
            <a:off x="114300" y="5886450"/>
            <a:ext cx="628650" cy="400050"/>
          </a:xfrm>
          <a:prstGeom prst="roundRect">
            <a:avLst>
              <a:gd fmla="val 4761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9"/>
          <p:cNvSpPr/>
          <p:nvPr/>
        </p:nvSpPr>
        <p:spPr>
          <a:xfrm>
            <a:off x="171450" y="5924550"/>
            <a:ext cx="51435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75">
                <a:solidFill>
                  <a:srgbClr val="1478D4"/>
                </a:solidFill>
                <a:latin typeface="Arial"/>
                <a:ea typeface="Arial"/>
                <a:cs typeface="Arial"/>
                <a:sym typeface="Arial"/>
              </a:rPr>
              <a:t>06</a:t>
            </a:r>
            <a:endParaRPr/>
          </a:p>
        </p:txBody>
      </p:sp>
      <p:sp>
        <p:nvSpPr>
          <p:cNvPr id="1017" name="Google Shape;1017;p19"/>
          <p:cNvSpPr/>
          <p:nvPr/>
        </p:nvSpPr>
        <p:spPr>
          <a:xfrm>
            <a:off x="1123950" y="6467475"/>
            <a:ext cx="10648950"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9"/>
          <p:cNvSpPr/>
          <p:nvPr/>
        </p:nvSpPr>
        <p:spPr>
          <a:xfrm>
            <a:off x="1143000" y="6553200"/>
            <a:ext cx="609600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975">
                <a:solidFill>
                  <a:srgbClr val="68727A"/>
                </a:solidFill>
                <a:latin typeface="Arial"/>
                <a:ea typeface="Arial"/>
                <a:cs typeface="Arial"/>
                <a:sym typeface="Arial"/>
              </a:rPr>
              <a:t>ĐHQG-HCM  |  TRƯỜNG ĐẠI HỌC CÔNG NGHỆ THÔNG TIN</a:t>
            </a:r>
            <a:endParaRPr/>
          </a:p>
        </p:txBody>
      </p:sp>
      <p:sp>
        <p:nvSpPr>
          <p:cNvPr id="1019" name="Google Shape;1019;p19"/>
          <p:cNvSpPr/>
          <p:nvPr/>
        </p:nvSpPr>
        <p:spPr>
          <a:xfrm>
            <a:off x="7810500" y="6553200"/>
            <a:ext cx="2857500" cy="1714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75">
                <a:solidFill>
                  <a:srgbClr val="68727A"/>
                </a:solidFill>
                <a:latin typeface="Arial"/>
                <a:ea typeface="Arial"/>
                <a:cs typeface="Arial"/>
                <a:sym typeface="Arial"/>
              </a:rPr>
              <a:t>HỆ HỖ TRỢ QUYẾT ĐỊNH  |  2026</a:t>
            </a:r>
            <a:endParaRPr/>
          </a:p>
        </p:txBody>
      </p:sp>
      <p:sp>
        <p:nvSpPr>
          <p:cNvPr id="1020" name="Google Shape;1020;p19"/>
          <p:cNvSpPr/>
          <p:nvPr/>
        </p:nvSpPr>
        <p:spPr>
          <a:xfrm>
            <a:off x="11096625" y="6553200"/>
            <a:ext cx="571500" cy="1905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rgbClr val="68727A"/>
                </a:solidFill>
              </a:rPr>
              <a:t>25</a:t>
            </a:r>
            <a:endParaRPr/>
          </a:p>
        </p:txBody>
      </p:sp>
      <p:sp>
        <p:nvSpPr>
          <p:cNvPr id="1021" name="Google Shape;1021;p19"/>
          <p:cNvSpPr/>
          <p:nvPr/>
        </p:nvSpPr>
        <p:spPr>
          <a:xfrm>
            <a:off x="1143000" y="276225"/>
            <a:ext cx="9715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550">
                <a:solidFill>
                  <a:srgbClr val="1F603A"/>
                </a:solidFill>
                <a:latin typeface="Arial"/>
                <a:ea typeface="Arial"/>
                <a:cs typeface="Arial"/>
                <a:sym typeface="Arial"/>
              </a:rPr>
              <a:t>Phân công nhiệm vụ trong nhóm</a:t>
            </a:r>
            <a:endParaRPr/>
          </a:p>
        </p:txBody>
      </p:sp>
      <p:sp>
        <p:nvSpPr>
          <p:cNvPr id="1022" name="Google Shape;1022;p19"/>
          <p:cNvSpPr/>
          <p:nvPr/>
        </p:nvSpPr>
        <p:spPr>
          <a:xfrm>
            <a:off x="9620250" y="371475"/>
            <a:ext cx="200025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a:solidFill>
                  <a:srgbClr val="68727A"/>
                </a:solidFill>
                <a:latin typeface="Arial"/>
                <a:ea typeface="Arial"/>
                <a:cs typeface="Arial"/>
                <a:sym typeface="Arial"/>
              </a:rPr>
              <a:t>PHẦN 6</a:t>
            </a:r>
            <a:endParaRPr/>
          </a:p>
        </p:txBody>
      </p:sp>
      <p:sp>
        <p:nvSpPr>
          <p:cNvPr id="1023" name="Google Shape;1023;p19"/>
          <p:cNvSpPr/>
          <p:nvPr/>
        </p:nvSpPr>
        <p:spPr>
          <a:xfrm>
            <a:off x="1143000" y="847725"/>
            <a:ext cx="10620375" cy="14288"/>
          </a:xfrm>
          <a:prstGeom prst="rect">
            <a:avLst/>
          </a:prstGeom>
          <a:solidFill>
            <a:srgbClr val="D9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024" name="Google Shape;1024;p19"/>
          <p:cNvGraphicFramePr/>
          <p:nvPr/>
        </p:nvGraphicFramePr>
        <p:xfrm>
          <a:off x="1185850" y="1109675"/>
          <a:ext cx="3000000" cy="3000000"/>
        </p:xfrm>
        <a:graphic>
          <a:graphicData uri="http://schemas.openxmlformats.org/drawingml/2006/table">
            <a:tbl>
              <a:tblPr>
                <a:noFill/>
                <a:tableStyleId>{2005C6F8-0E9F-4D0F-8A03-0A1289535377}</a:tableStyleId>
              </a:tblPr>
              <a:tblGrid>
                <a:gridCol w="5262575"/>
                <a:gridCol w="5262575"/>
              </a:tblGrid>
              <a:tr h="1066725">
                <a:tc>
                  <a:txBody>
                    <a:bodyPr/>
                    <a:lstStyle/>
                    <a:p>
                      <a:pPr indent="0" lvl="0" marL="0" marR="0" rtl="0" algn="l">
                        <a:spcBef>
                          <a:spcPts val="0"/>
                        </a:spcBef>
                        <a:spcAft>
                          <a:spcPts val="0"/>
                        </a:spcAft>
                        <a:buClr>
                          <a:srgbClr val="FFFFFF"/>
                        </a:buClr>
                        <a:buSzPts val="1575"/>
                        <a:buFont typeface="Arial"/>
                        <a:buNone/>
                      </a:pPr>
                      <a:r>
                        <a:rPr b="1" lang="en-US" sz="3000">
                          <a:solidFill>
                            <a:srgbClr val="FFFFFF"/>
                          </a:solidFill>
                          <a:latin typeface="Arial"/>
                          <a:ea typeface="Arial"/>
                          <a:cs typeface="Arial"/>
                          <a:sym typeface="Arial"/>
                        </a:rPr>
                        <a:t>Thành viên / vai trò</a:t>
                      </a:r>
                      <a:endParaRPr sz="3000"/>
                    </a:p>
                  </a:txBody>
                  <a:tcPr marT="45725" marB="45725" marR="91450" marL="91450">
                    <a:solidFill>
                      <a:srgbClr val="0B2A47"/>
                    </a:solidFill>
                  </a:tcPr>
                </a:tc>
                <a:tc>
                  <a:txBody>
                    <a:bodyPr/>
                    <a:lstStyle/>
                    <a:p>
                      <a:pPr indent="0" lvl="0" marL="0" marR="0" rtl="0" algn="l">
                        <a:spcBef>
                          <a:spcPts val="0"/>
                        </a:spcBef>
                        <a:spcAft>
                          <a:spcPts val="0"/>
                        </a:spcAft>
                        <a:buClr>
                          <a:srgbClr val="FFFFFF"/>
                        </a:buClr>
                        <a:buSzPts val="1575"/>
                        <a:buFont typeface="Arial"/>
                        <a:buNone/>
                      </a:pPr>
                      <a:r>
                        <a:rPr b="1" lang="en-US" sz="3000">
                          <a:solidFill>
                            <a:srgbClr val="FFFFFF"/>
                          </a:solidFill>
                          <a:latin typeface="Arial"/>
                          <a:ea typeface="Arial"/>
                          <a:cs typeface="Arial"/>
                          <a:sym typeface="Arial"/>
                        </a:rPr>
                        <a:t>Nhiệm vụ chính</a:t>
                      </a:r>
                      <a:endParaRPr sz="3000"/>
                    </a:p>
                  </a:txBody>
                  <a:tcPr marT="45725" marB="45725" marR="91450" marL="91450">
                    <a:solidFill>
                      <a:srgbClr val="0B2A47"/>
                    </a:solidFill>
                  </a:tcPr>
                </a:tc>
              </a:tr>
              <a:tr h="1066725">
                <a:tc>
                  <a:txBody>
                    <a:bodyPr/>
                    <a:lstStyle/>
                    <a:p>
                      <a:pPr indent="0" lvl="0" marL="0" rtl="0" algn="l">
                        <a:spcBef>
                          <a:spcPts val="0"/>
                        </a:spcBef>
                        <a:spcAft>
                          <a:spcPts val="0"/>
                        </a:spcAft>
                        <a:buClr>
                          <a:srgbClr val="292929"/>
                        </a:buClr>
                        <a:buSzPts val="1575"/>
                        <a:buFont typeface="Arial"/>
                        <a:buNone/>
                      </a:pPr>
                      <a:r>
                        <a:rPr lang="en-US" sz="3000">
                          <a:solidFill>
                            <a:srgbClr val="292929"/>
                          </a:solidFill>
                        </a:rPr>
                        <a:t>Nguyễn Phan Thảo Nguyên</a:t>
                      </a:r>
                      <a:endParaRPr sz="3000">
                        <a:solidFill>
                          <a:srgbClr val="292929"/>
                        </a:solidFill>
                      </a:endParaRPr>
                    </a:p>
                    <a:p>
                      <a:pPr indent="0" lvl="0" marL="0" rtl="0" algn="l">
                        <a:spcBef>
                          <a:spcPts val="0"/>
                        </a:spcBef>
                        <a:spcAft>
                          <a:spcPts val="0"/>
                        </a:spcAft>
                        <a:buClr>
                          <a:srgbClr val="292929"/>
                        </a:buClr>
                        <a:buSzPts val="1575"/>
                        <a:buFont typeface="Arial"/>
                        <a:buNone/>
                      </a:pPr>
                      <a:r>
                        <a:rPr lang="en-US" sz="3000">
                          <a:solidFill>
                            <a:srgbClr val="292929"/>
                          </a:solidFill>
                        </a:rPr>
                        <a:t>26848147</a:t>
                      </a:r>
                      <a:endParaRPr sz="3000">
                        <a:solidFill>
                          <a:srgbClr val="292929"/>
                        </a:solidFill>
                      </a:endParaRPr>
                    </a:p>
                    <a:p>
                      <a:pPr indent="0" lvl="0" marL="0" marR="0" rtl="0" algn="l">
                        <a:spcBef>
                          <a:spcPts val="0"/>
                        </a:spcBef>
                        <a:spcAft>
                          <a:spcPts val="0"/>
                        </a:spcAft>
                        <a:buClr>
                          <a:srgbClr val="292929"/>
                        </a:buClr>
                        <a:buSzPts val="1575"/>
                        <a:buFont typeface="Arial"/>
                        <a:buNone/>
                      </a:pPr>
                      <a:r>
                        <a:t/>
                      </a:r>
                      <a:endParaRPr sz="3000"/>
                    </a:p>
                  </a:txBody>
                  <a:tcPr marT="45725" marB="45725" marR="91450" marL="91450"/>
                </a:tc>
                <a:tc>
                  <a:txBody>
                    <a:bodyPr/>
                    <a:lstStyle/>
                    <a:p>
                      <a:pPr indent="-419100" lvl="0" marL="457200" marR="0" rtl="0" algn="l">
                        <a:spcBef>
                          <a:spcPts val="0"/>
                        </a:spcBef>
                        <a:spcAft>
                          <a:spcPts val="0"/>
                        </a:spcAft>
                        <a:buSzPts val="3000"/>
                        <a:buChar char="●"/>
                      </a:pPr>
                      <a:r>
                        <a:rPr lang="en-US" sz="3000"/>
                        <a:t>Giới thiệu</a:t>
                      </a:r>
                      <a:endParaRPr sz="3000"/>
                    </a:p>
                    <a:p>
                      <a:pPr indent="-419100" lvl="0" marL="457200" marR="0" rtl="0" algn="l">
                        <a:spcBef>
                          <a:spcPts val="0"/>
                        </a:spcBef>
                        <a:spcAft>
                          <a:spcPts val="0"/>
                        </a:spcAft>
                        <a:buSzPts val="3000"/>
                        <a:buChar char="●"/>
                      </a:pPr>
                      <a:r>
                        <a:rPr lang="en-US" sz="3000"/>
                        <a:t>Đặt vấn đề</a:t>
                      </a:r>
                      <a:endParaRPr sz="3000"/>
                    </a:p>
                    <a:p>
                      <a:pPr indent="-419100" lvl="0" marL="457200" marR="0" rtl="0" algn="l">
                        <a:spcBef>
                          <a:spcPts val="0"/>
                        </a:spcBef>
                        <a:spcAft>
                          <a:spcPts val="0"/>
                        </a:spcAft>
                        <a:buSzPts val="3000"/>
                        <a:buChar char="●"/>
                      </a:pPr>
                      <a:r>
                        <a:rPr lang="en-US" sz="3000"/>
                        <a:t>Phương pháp đề xuất</a:t>
                      </a:r>
                      <a:endParaRPr sz="3000"/>
                    </a:p>
                  </a:txBody>
                  <a:tcPr marT="45725" marB="45725" marR="91450" marL="91450"/>
                </a:tc>
              </a:tr>
              <a:tr h="1066725">
                <a:tc>
                  <a:txBody>
                    <a:bodyPr/>
                    <a:lstStyle/>
                    <a:p>
                      <a:pPr indent="0" lvl="0" marL="0" rtl="0" algn="l">
                        <a:spcBef>
                          <a:spcPts val="0"/>
                        </a:spcBef>
                        <a:spcAft>
                          <a:spcPts val="0"/>
                        </a:spcAft>
                        <a:buClr>
                          <a:srgbClr val="292929"/>
                        </a:buClr>
                        <a:buSzPts val="1575"/>
                        <a:buFont typeface="Arial"/>
                        <a:buNone/>
                      </a:pPr>
                      <a:r>
                        <a:rPr lang="en-US" sz="3000">
                          <a:solidFill>
                            <a:srgbClr val="292929"/>
                          </a:solidFill>
                        </a:rPr>
                        <a:t>Võ Anh Kiệt</a:t>
                      </a:r>
                      <a:endParaRPr sz="3000">
                        <a:solidFill>
                          <a:srgbClr val="292929"/>
                        </a:solidFill>
                      </a:endParaRPr>
                    </a:p>
                    <a:p>
                      <a:pPr indent="0" lvl="0" marL="0" rtl="0" algn="l">
                        <a:spcBef>
                          <a:spcPts val="0"/>
                        </a:spcBef>
                        <a:spcAft>
                          <a:spcPts val="0"/>
                        </a:spcAft>
                        <a:buClr>
                          <a:srgbClr val="292929"/>
                        </a:buClr>
                        <a:buSzPts val="1575"/>
                        <a:buFont typeface="Arial"/>
                        <a:buNone/>
                      </a:pPr>
                      <a:r>
                        <a:rPr lang="en-US" sz="3000">
                          <a:solidFill>
                            <a:srgbClr val="292929"/>
                          </a:solidFill>
                        </a:rPr>
                        <a:t>26848109</a:t>
                      </a:r>
                      <a:endParaRPr sz="3000">
                        <a:solidFill>
                          <a:srgbClr val="292929"/>
                        </a:solidFill>
                      </a:endParaRPr>
                    </a:p>
                    <a:p>
                      <a:pPr indent="0" lvl="0" marL="0" marR="0" rtl="0" algn="l">
                        <a:spcBef>
                          <a:spcPts val="0"/>
                        </a:spcBef>
                        <a:spcAft>
                          <a:spcPts val="0"/>
                        </a:spcAft>
                        <a:buClr>
                          <a:srgbClr val="292929"/>
                        </a:buClr>
                        <a:buSzPts val="1575"/>
                        <a:buFont typeface="Arial"/>
                        <a:buNone/>
                      </a:pPr>
                      <a:r>
                        <a:t/>
                      </a:r>
                      <a:endParaRPr sz="3000"/>
                    </a:p>
                  </a:txBody>
                  <a:tcPr marT="45725" marB="45725" marR="91450" marL="91450">
                    <a:solidFill>
                      <a:srgbClr val="FBFCFD"/>
                    </a:solidFill>
                  </a:tcPr>
                </a:tc>
                <a:tc>
                  <a:txBody>
                    <a:bodyPr/>
                    <a:lstStyle/>
                    <a:p>
                      <a:pPr indent="-419100" lvl="0" marL="457200" marR="0" rtl="0" algn="l">
                        <a:spcBef>
                          <a:spcPts val="0"/>
                        </a:spcBef>
                        <a:spcAft>
                          <a:spcPts val="0"/>
                        </a:spcAft>
                        <a:buSzPts val="3000"/>
                        <a:buChar char="●"/>
                      </a:pPr>
                      <a:r>
                        <a:rPr lang="en-US" sz="3000"/>
                        <a:t>Thực nghiệm &amp; Kết quả</a:t>
                      </a:r>
                      <a:endParaRPr sz="3000"/>
                    </a:p>
                    <a:p>
                      <a:pPr indent="-419100" lvl="0" marL="457200" marR="0" rtl="0" algn="l">
                        <a:spcBef>
                          <a:spcPts val="0"/>
                        </a:spcBef>
                        <a:spcAft>
                          <a:spcPts val="0"/>
                        </a:spcAft>
                        <a:buSzPts val="3000"/>
                        <a:buChar char="●"/>
                      </a:pPr>
                      <a:r>
                        <a:rPr lang="en-US" sz="3000"/>
                        <a:t>Đánh giá &amp; Kết luận</a:t>
                      </a:r>
                      <a:endParaRPr sz="3000"/>
                    </a:p>
                    <a:p>
                      <a:pPr indent="-419100" lvl="0" marL="457200" marR="0" rtl="0" algn="l">
                        <a:spcBef>
                          <a:spcPts val="0"/>
                        </a:spcBef>
                        <a:spcAft>
                          <a:spcPts val="0"/>
                        </a:spcAft>
                        <a:buSzPts val="3000"/>
                        <a:buChar char="●"/>
                      </a:pPr>
                      <a:r>
                        <a:rPr lang="en-US" sz="3000"/>
                        <a:t>Mở rộng &amp; Ứng dụng</a:t>
                      </a:r>
                      <a:endParaRPr sz="3000"/>
                    </a:p>
                  </a:txBody>
                  <a:tcPr marT="45725" marB="45725" marR="91450" marL="91450">
                    <a:solidFill>
                      <a:srgbClr val="FBFCFD"/>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